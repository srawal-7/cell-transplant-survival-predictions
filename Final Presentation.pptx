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Bree Serif"/>
      <p:regular r:id="rId23"/>
    </p:embeddedFont>
    <p:embeddedFont>
      <p:font typeface="Ultra"/>
      <p:regular r:id="rId24"/>
    </p:embeddedFont>
    <p:embeddedFont>
      <p:font typeface="Barlow Condensed Black"/>
      <p:bold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7" roundtripDataSignature="AMtx7mg8vUl0nJKVd/9Uh7NPcyRZNmS4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Ultra-regular.fntdata"/><Relationship Id="rId23" Type="http://schemas.openxmlformats.org/officeDocument/2006/relationships/font" Target="fonts/BreeSerif-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BarlowCondensedBlack-boldItalic.fntdata"/><Relationship Id="rId25" Type="http://schemas.openxmlformats.org/officeDocument/2006/relationships/font" Target="fonts/BarlowCondensedBlack-bold.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br>
              <a:rPr lang="en"/>
            </a:br>
            <a:br>
              <a:rPr lang="en"/>
            </a:br>
            <a:r>
              <a:rPr lang="en">
                <a:solidFill>
                  <a:schemeClr val="dk1"/>
                </a:solidFill>
              </a:rPr>
              <a:t>For each pair, if the patient with a higher predicted risk actually experiences the event sooner than the one with a lower predicted risk, it’s considered a </a:t>
            </a:r>
            <a:r>
              <a:rPr b="1" lang="en">
                <a:solidFill>
                  <a:schemeClr val="dk1"/>
                </a:solidFill>
              </a:rPr>
              <a:t>concordant pair</a:t>
            </a:r>
            <a:r>
              <a:rPr lang="en">
                <a:solidFill>
                  <a:schemeClr val="dk1"/>
                </a:solidFill>
              </a:rPr>
              <a:t>.</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If the opposite happens, it’s a </a:t>
            </a:r>
            <a:r>
              <a:rPr b="1" lang="en">
                <a:solidFill>
                  <a:schemeClr val="dk1"/>
                </a:solidFill>
              </a:rPr>
              <a:t>discordant pair</a:t>
            </a:r>
            <a:r>
              <a:rPr lang="en">
                <a:solidFill>
                  <a:schemeClr val="dk1"/>
                </a:solidFill>
              </a:rPr>
              <a:t>.</a:t>
            </a:r>
            <a:endParaRPr>
              <a:solidFill>
                <a:schemeClr val="dk1"/>
              </a:solidFill>
            </a:endParaRPr>
          </a:p>
          <a:p>
            <a:pPr indent="0" lvl="0" marL="0" rtl="0" algn="l">
              <a:lnSpc>
                <a:spcPct val="100000"/>
              </a:lnSpc>
              <a:spcBef>
                <a:spcPts val="0"/>
              </a:spcBef>
              <a:spcAft>
                <a:spcPts val="0"/>
              </a:spcAft>
              <a:buSzPts val="1100"/>
              <a:buNone/>
            </a:pPr>
            <a:br>
              <a:rPr lang="en"/>
            </a:br>
            <a:r>
              <a:rPr lang="en">
                <a:solidFill>
                  <a:schemeClr val="dk1"/>
                </a:solidFill>
              </a:rPr>
              <a:t>The C-index is then computed as the ratio of concordant pairs to the total number of comparable pairs</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Example: patient has a higher predicted risk score, they should experience an event sooner than a patient with a lower risk score for the model to be considered accurate.</a:t>
            </a:r>
            <a:endParaRPr>
              <a:solidFill>
                <a:schemeClr val="dk1"/>
              </a:solidFill>
            </a:endParaRPr>
          </a:p>
        </p:txBody>
      </p:sp>
      <p:sp>
        <p:nvSpPr>
          <p:cNvPr id="118" name="Google Shape;11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Data is a  synthetically generated dataset that used the data generator from synthcity, trained on a large cohort of real CIBMTR data.</a:t>
            </a:r>
            <a:endParaRPr/>
          </a:p>
        </p:txBody>
      </p:sp>
      <p:sp>
        <p:nvSpPr>
          <p:cNvPr id="151" name="Google Shape;15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EFS time represents the duration a patient survives without experiencing major complications or relapse following HCT</a:t>
            </a:r>
            <a:br>
              <a:rPr lang="en"/>
            </a:br>
            <a:br>
              <a:rPr lang="en"/>
            </a:br>
            <a:r>
              <a:rPr lang="en"/>
              <a:t>This skewness highlights a critical window for post-transplant care and monitoring, suggesting that early interventions might be key to improving outcome</a:t>
            </a:r>
            <a:br>
              <a:rPr lang="en"/>
            </a:br>
            <a:br>
              <a:rPr lang="en"/>
            </a:br>
            <a:r>
              <a:rPr lang="en">
                <a:solidFill>
                  <a:schemeClr val="dk1"/>
                </a:solidFill>
              </a:rPr>
              <a:t>The steep drop in EFS times for many patients suggests that factors such as comorbidities, donor-recipient compatibility, and treatment protocols might play a significant role during this high-risk period. </a:t>
            </a:r>
            <a:br>
              <a:rPr lang="en">
                <a:solidFill>
                  <a:schemeClr val="dk1"/>
                </a:solidFill>
              </a:rPr>
            </a:br>
            <a:br>
              <a:rPr lang="en">
                <a:solidFill>
                  <a:schemeClr val="dk1"/>
                </a:solidFill>
              </a:rPr>
            </a:br>
            <a:r>
              <a:rPr lang="en">
                <a:solidFill>
                  <a:schemeClr val="dk1"/>
                </a:solidFill>
              </a:rPr>
              <a:t>The skewed nature of the data also posed challenges for our modeling process, particularly for techniques that assume normality(like linear and logistic regression/ pca). To address this, we considered transformations and non-parametric models better suited for skewed data.</a:t>
            </a:r>
            <a:endParaRPr/>
          </a:p>
        </p:txBody>
      </p:sp>
      <p:sp>
        <p:nvSpPr>
          <p:cNvPr id="190" name="Google Shape;19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"This pairplot helps us look at the relationship between three key factors: Event-Free Survival (EFS) time, comorbidity scores, and HLA matching. The goal is to find patterns that explain why some patients do better after a transplant than others."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One important thing we found is that patients who had more pre-existing health issues tend to have shorter EFS times. This means that those with higher comorbidity scores were more likely to experience complications after the transplant.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"We also see that better HLA matching, which shows how well a donor’s immune system matches the recipient, is linked to longer EFS times. This reinforces the importance of finding the right donor to transplant to reduce the risks."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"But not all relationships were simple. Some factors didn’t show a clear pattern, which meant traditional models might not capture these interactions well. Because of this, we tested more advanced machine learning models, like XGBoost and DeepSurv, to improve predictions."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"Overall, this pairplot helped us pick out the most important features and guided us in choosing the right models to make better survival predictions."</a:t>
            </a:r>
            <a:endParaRPr b="1">
              <a:solidFill>
                <a:schemeClr val="dk1"/>
              </a:solidFill>
            </a:endParaRPr>
          </a:p>
          <a:p>
            <a:pPr indent="0" lvl="0" marL="0" rtl="0" algn="l">
              <a:lnSpc>
                <a:spcPct val="100000"/>
              </a:lnSpc>
              <a:spcBef>
                <a:spcPts val="1200"/>
              </a:spcBef>
              <a:spcAft>
                <a:spcPts val="0"/>
              </a:spcAft>
              <a:buSzPts val="1100"/>
              <a:buNone/>
            </a:pPr>
            <a:r>
              <a:t/>
            </a:r>
            <a:endParaRPr b="1">
              <a:solidFill>
                <a:schemeClr val="dk1"/>
              </a:solidFill>
            </a:endParaRPr>
          </a:p>
        </p:txBody>
      </p:sp>
      <p:sp>
        <p:nvSpPr>
          <p:cNvPr id="207" name="Google Shape;20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Next, we have this heatmap, which helps us understand how different factors are related to Event-Free Survival (EFS). The colors represent the strength of these relationships—red means a stronger positive connection, while blue indicates a weaker or negative one."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"One key pattern we noticed is the link between conditioning intensity and age. Conditioning intensity refers to the level of chemotherapy or radiation a patient receives before transplant, and it seems that older patients might be given different treatment plans."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"Another important finding is that better HLA matching is associated with better survival outcomes. Since HLA determines how well the donor’s immune system matches the recipient, this reinforces why finding the right donor is so critical."</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"Also, we found an interesting and unexpected relationship between comorbidity scores and graft type. This could suggest that certain types of transplants are used more often for patients with more health issues, which would be worth exploring further."</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"Overall, this heatmap was a key part of our analysis, helping us figure out which factors are most important for predicting survival. It also played a big role in guiding our model selection and improving our predictions.</a:t>
            </a:r>
            <a:endParaRPr b="1">
              <a:solidFill>
                <a:schemeClr val="dk1"/>
              </a:solidFill>
            </a:endParaRPr>
          </a:p>
          <a:p>
            <a:pPr indent="0" lvl="0" marL="0" rtl="0" algn="l">
              <a:lnSpc>
                <a:spcPct val="100000"/>
              </a:lnSpc>
              <a:spcBef>
                <a:spcPts val="1200"/>
              </a:spcBef>
              <a:spcAft>
                <a:spcPts val="0"/>
              </a:spcAft>
              <a:buSzPts val="1100"/>
              <a:buNone/>
            </a:pPr>
            <a:r>
              <a:t/>
            </a:r>
            <a:endParaRPr b="1">
              <a:solidFill>
                <a:schemeClr val="dk1"/>
              </a:solidFill>
            </a:endParaRPr>
          </a:p>
        </p:txBody>
      </p:sp>
      <p:sp>
        <p:nvSpPr>
          <p:cNvPr id="225" name="Google Shape;22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a:solidFill>
                  <a:schemeClr val="dk1"/>
                </a:solidFill>
              </a:rPr>
              <a:t>Now, looking at this Kaplan-Meier survival curve, we can see how long patients stay free of complications after a transplant, based on whether the donor and recipient are the same sex or different."</a:t>
            </a:r>
            <a:endParaRPr b="1">
              <a:solidFill>
                <a:schemeClr val="dk1"/>
              </a:solidFill>
            </a:endParaRPr>
          </a:p>
          <a:p>
            <a:pPr indent="0" lvl="0" marL="0" rtl="0" algn="l">
              <a:lnSpc>
                <a:spcPct val="100000"/>
              </a:lnSpc>
              <a:spcBef>
                <a:spcPts val="0"/>
              </a:spcBef>
              <a:spcAft>
                <a:spcPts val="0"/>
              </a:spcAft>
              <a:buSzPts val="1100"/>
              <a:buNone/>
            </a:pPr>
            <a:r>
              <a:t/>
            </a:r>
            <a:endParaRPr b="1">
              <a:solidFill>
                <a:schemeClr val="dk1"/>
              </a:solidFill>
            </a:endParaRPr>
          </a:p>
          <a:p>
            <a:pPr indent="0" lvl="0" marL="0" rtl="0" algn="l">
              <a:lnSpc>
                <a:spcPct val="100000"/>
              </a:lnSpc>
              <a:spcBef>
                <a:spcPts val="0"/>
              </a:spcBef>
              <a:spcAft>
                <a:spcPts val="0"/>
              </a:spcAft>
              <a:buSzPts val="1100"/>
              <a:buNone/>
            </a:pPr>
            <a:r>
              <a:rPr b="1" lang="en">
                <a:solidFill>
                  <a:schemeClr val="dk1"/>
                </a:solidFill>
              </a:rPr>
              <a:t>"From the graph, we observe that Male-to-Male (M-M) transplants have the best long-term survival, followed by Female-to-Female (F-F). On the other hand, opposite-sex transplants—Male-to-Female (M-F) and Female-to-Male (F-M)—show a steeper drop, meaning these patients experience complications sooner."</a:t>
            </a:r>
            <a:endParaRPr b="1">
              <a:solidFill>
                <a:schemeClr val="dk1"/>
              </a:solidFill>
            </a:endParaRPr>
          </a:p>
          <a:p>
            <a:pPr indent="0" lvl="0" marL="0" rtl="0" algn="l">
              <a:lnSpc>
                <a:spcPct val="100000"/>
              </a:lnSpc>
              <a:spcBef>
                <a:spcPts val="0"/>
              </a:spcBef>
              <a:spcAft>
                <a:spcPts val="0"/>
              </a:spcAft>
              <a:buSzPts val="1100"/>
              <a:buNone/>
            </a:pPr>
            <a:r>
              <a:t/>
            </a:r>
            <a:endParaRPr b="1">
              <a:solidFill>
                <a:schemeClr val="dk1"/>
              </a:solidFill>
            </a:endParaRPr>
          </a:p>
          <a:p>
            <a:pPr indent="0" lvl="0" marL="0" rtl="0" algn="l">
              <a:lnSpc>
                <a:spcPct val="100000"/>
              </a:lnSpc>
              <a:spcBef>
                <a:spcPts val="0"/>
              </a:spcBef>
              <a:spcAft>
                <a:spcPts val="0"/>
              </a:spcAft>
              <a:buSzPts val="1100"/>
              <a:buNone/>
            </a:pPr>
            <a:r>
              <a:rPr b="1" lang="en">
                <a:solidFill>
                  <a:schemeClr val="dk1"/>
                </a:solidFill>
              </a:rPr>
              <a:t>"This pattern suggests that same-sex transplants may lead to better survival outcomes over time. Understanding this could help doctors make more informed decisions when selecting the best donor for a patient."</a:t>
            </a:r>
            <a:endParaRPr b="1">
              <a:solidFill>
                <a:schemeClr val="dk1"/>
              </a:solidFill>
            </a:endParaRPr>
          </a:p>
          <a:p>
            <a:pPr indent="0" lvl="0" marL="0" rtl="0" algn="l">
              <a:lnSpc>
                <a:spcPct val="100000"/>
              </a:lnSpc>
              <a:spcBef>
                <a:spcPts val="0"/>
              </a:spcBef>
              <a:spcAft>
                <a:spcPts val="0"/>
              </a:spcAft>
              <a:buSzPts val="1100"/>
              <a:buNone/>
            </a:pPr>
            <a:r>
              <a:t/>
            </a:r>
            <a:endParaRPr b="1">
              <a:solidFill>
                <a:schemeClr val="dk1"/>
              </a:solidFill>
            </a:endParaRPr>
          </a:p>
          <a:p>
            <a:pPr indent="0" lvl="0" marL="0" rtl="0" algn="l">
              <a:lnSpc>
                <a:spcPct val="100000"/>
              </a:lnSpc>
              <a:spcBef>
                <a:spcPts val="0"/>
              </a:spcBef>
              <a:spcAft>
                <a:spcPts val="0"/>
              </a:spcAft>
              <a:buSzPts val="1100"/>
              <a:buNone/>
            </a:pPr>
            <a:r>
              <a:rPr b="1" lang="en">
                <a:solidFill>
                  <a:schemeClr val="dk1"/>
                </a:solidFill>
              </a:rPr>
              <a:t>"Overall, this analysis gives us valuable insights into how sex-matching might influence recovery, without requiring deep medical expertise. It highlights an important factor that could be considered in improving transplant success.</a:t>
            </a:r>
            <a:endParaRPr b="1">
              <a:solidFill>
                <a:schemeClr val="dk1"/>
              </a:solidFill>
            </a:endParaRPr>
          </a:p>
        </p:txBody>
      </p:sp>
      <p:sp>
        <p:nvSpPr>
          <p:cNvPr id="242" name="Google Shape;24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Next, we have this table, which shows how Event-Free Survival (EFS) rates and average survival times differ across racial groups. This helps us understand whether some groups tend to have better or worse outcomes after a transplant."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"Looking at the data, we can see that White patients have the highest EFS rate at 62.55%, while patients from multiple racial backgrounds have the lowest at 46.58%. The average time before complications also varies between groups, showing that survival times aren’t the same for everyone."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"This suggests that different factors, such as access to medical care, donor availability, or other health conditions, may influence these outcomes."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"By identifying these patterns, we can work toward improving transplant success for all patients, making treatments more effective and equitable."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"in this table, 0 means the patient experienced a complication or relapse, while 1 means they remained event-free after the transplant.</a:t>
            </a:r>
            <a:endParaRPr b="1">
              <a:solidFill>
                <a:schemeClr val="dk1"/>
              </a:solidFill>
            </a:endParaRPr>
          </a:p>
          <a:p>
            <a:pPr indent="0" lvl="0" marL="0" rtl="0" algn="l">
              <a:lnSpc>
                <a:spcPct val="100000"/>
              </a:lnSpc>
              <a:spcBef>
                <a:spcPts val="1200"/>
              </a:spcBef>
              <a:spcAft>
                <a:spcPts val="0"/>
              </a:spcAft>
              <a:buSzPts val="1100"/>
              <a:buNone/>
            </a:pPr>
            <a:r>
              <a:t/>
            </a:r>
            <a:endParaRPr b="1">
              <a:solidFill>
                <a:schemeClr val="dk1"/>
              </a:solidFill>
            </a:endParaRPr>
          </a:p>
        </p:txBody>
      </p:sp>
      <p:sp>
        <p:nvSpPr>
          <p:cNvPr id="259" name="Google Shape;25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Who will this analysis be the most helpful for? In order to answer that question we divided our stakeholder int 5 subcategories with the top three categories being Healthcare Providers, Patients &amp; Patient Advocacy Groups and Academic Institutions. Healthcare providers can use this data to make informed clinical decisions.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My aunt is a doctor and I asked her about her opinions on the most important features - to which she replied that it just depends on the patient. One group of variables may be perfect for some and not be useful at all for the others. So we really think that this can help healthcare providers tailor treatments to individual patients and improve their care based on probable survival outcomes. Similarly, this can help patients better understand their treatment options and why they are being treated so.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For academic institutions, this will be  great case study because achieving high accuracy is really important but at the same time really hard to achieve with so many interrelated variables.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Lastly, we believe that this analysis can be used by medical researchers and bioinformaticians and analysts to further develop the model with a subject matter expert and analyze how it also addresses health equity in terms of fairness and bias in predictive models.</a:t>
            </a:r>
            <a:endParaRPr/>
          </a:p>
          <a:p>
            <a:pPr indent="0" lvl="0" marL="0" rtl="0" algn="l">
              <a:lnSpc>
                <a:spcPct val="100000"/>
              </a:lnSpc>
              <a:spcBef>
                <a:spcPts val="0"/>
              </a:spcBef>
              <a:spcAft>
                <a:spcPts val="0"/>
              </a:spcAft>
              <a:buSzPts val="1100"/>
              <a:buNone/>
            </a:pPr>
            <a:r>
              <a:t/>
            </a:r>
            <a:endParaRPr/>
          </a:p>
        </p:txBody>
      </p:sp>
      <p:sp>
        <p:nvSpPr>
          <p:cNvPr id="279" name="Google Shape;27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For our analytical approach, we started by preprocessing and cleaning our dataset followed by experimenting with model training and tuning. </a:t>
            </a:r>
            <a:endParaRPr/>
          </a:p>
          <a:p>
            <a:pPr indent="0" lvl="0" marL="0" rtl="0" algn="l">
              <a:lnSpc>
                <a:spcPct val="100000"/>
              </a:lnSpc>
              <a:spcBef>
                <a:spcPts val="0"/>
              </a:spcBef>
              <a:spcAft>
                <a:spcPts val="0"/>
              </a:spcAft>
              <a:buSzPts val="1100"/>
              <a:buNone/>
            </a:pPr>
            <a:r>
              <a:rPr lang="en"/>
              <a:t>We spend much of our time on feature engineering to make sure our data is reliable with over 28 thousand rows of data and were able to achieve similar results from three different machine learning models. After which we diverted our focus on getting a higher concordance index to make better predictions.</a:t>
            </a:r>
            <a:endParaRPr/>
          </a:p>
        </p:txBody>
      </p:sp>
      <p:sp>
        <p:nvSpPr>
          <p:cNvPr id="294" name="Google Shape;29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We initially had a total of 60 features with 35 categorical and 25 numerical fields. </a:t>
            </a:r>
            <a:endParaRPr/>
          </a:p>
          <a:p>
            <a:pPr indent="0" lvl="0" marL="0" rtl="0" algn="l">
              <a:lnSpc>
                <a:spcPct val="100000"/>
              </a:lnSpc>
              <a:spcBef>
                <a:spcPts val="0"/>
              </a:spcBef>
              <a:spcAft>
                <a:spcPts val="0"/>
              </a:spcAft>
              <a:buSzPts val="1100"/>
              <a:buNone/>
            </a:pPr>
            <a:br>
              <a:rPr lang="en"/>
            </a:br>
            <a:r>
              <a:rPr lang="en"/>
              <a:t>In this example, we handled the nulls in and added them in a separate unknown category. These null values aren’t evenly distributed across efs and ranked them as -1. We did the same across all ordinal values. We used a predefined mapping strategy to convert our simpler categorical data into numerical data while handling missing values as -1 as well. We also used one hot encoding to provide binary (0-1) values for categorical features which had high cardinality (over 5 different values). We standardized our numerical data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After conducting one hot encoding and ordinal encoding our total features were 132 and because we did not have an SME, we decided to include all features into our models and backtrack them to find the most important features.</a:t>
            </a:r>
            <a:endParaRPr/>
          </a:p>
        </p:txBody>
      </p:sp>
      <p:sp>
        <p:nvSpPr>
          <p:cNvPr id="325" name="Google Shape;32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three models we focused on were CoxPH, XGBoost and DeepSurv. All three models are popularly used within the medical fields to predict patient outcomes. </a:t>
            </a:r>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We were able to achieve a concordance index of 67% which means that our model was 67% accurating in predicting patient survival time post cell transplant procedures and also provided the top 30 features.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We started with the simplest modelling technique which is the CoxPH model and finetuning it with a L1 value set to 0.01, this resulted in 66% accuracy, so we went one step ahead and tried a more robust XGBoost model which is known to handle datasets where feature importance is not known earlier. This gave us a 67% accuracy as well as top features with their importance as a %.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 do want to mention that the competition is now closed and I believe the winner was able to achieve 70% accuracy so we believe that there is a lot of room for improvement but being able to achieve 67% was a good start. </a:t>
            </a:r>
            <a:r>
              <a:rPr lang="en">
                <a:solidFill>
                  <a:schemeClr val="dk1"/>
                </a:solidFill>
              </a:rPr>
              <a:t>We finally tried the DeepSurv model to utilize some deep learning insights to see if we can further improve our accuracy score.</a:t>
            </a:r>
            <a:endParaRPr/>
          </a:p>
          <a:p>
            <a:pPr indent="0" lvl="0" marL="0" rtl="0" algn="l">
              <a:lnSpc>
                <a:spcPct val="100000"/>
              </a:lnSpc>
              <a:spcBef>
                <a:spcPts val="0"/>
              </a:spcBef>
              <a:spcAft>
                <a:spcPts val="0"/>
              </a:spcAft>
              <a:buSzPts val="1100"/>
              <a:buNone/>
            </a:pPr>
            <a:r>
              <a:t/>
            </a:r>
            <a:endParaRPr/>
          </a:p>
        </p:txBody>
      </p:sp>
      <p:sp>
        <p:nvSpPr>
          <p:cNvPr id="344" name="Google Shape;34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2" name="Google Shape;36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1" name="Google Shape;38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9" name="Google Shape;39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1" name="Google Shape;41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3" name="Google Shape;13;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4" name="Google Shape;14;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7" name="Google Shape;17;p21"/>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lnSpc>
                <a:spcPct val="100000"/>
              </a:lnSpc>
              <a:spcBef>
                <a:spcPts val="300"/>
              </a:spcBef>
              <a:spcAft>
                <a:spcPts val="0"/>
              </a:spcAft>
              <a:buClr>
                <a:srgbClr val="888888"/>
              </a:buClr>
              <a:buSzPts val="1600"/>
              <a:buNone/>
              <a:defRPr>
                <a:solidFill>
                  <a:srgbClr val="888888"/>
                </a:solidFill>
              </a:defRPr>
            </a:lvl1pPr>
            <a:lvl2pPr lvl="1" algn="ctr">
              <a:lnSpc>
                <a:spcPct val="100000"/>
              </a:lnSpc>
              <a:spcBef>
                <a:spcPts val="300"/>
              </a:spcBef>
              <a:spcAft>
                <a:spcPts val="0"/>
              </a:spcAft>
              <a:buClr>
                <a:srgbClr val="888888"/>
              </a:buClr>
              <a:buSzPts val="1400"/>
              <a:buNone/>
              <a:defRPr>
                <a:solidFill>
                  <a:srgbClr val="888888"/>
                </a:solidFill>
              </a:defRPr>
            </a:lvl2pPr>
            <a:lvl3pPr lvl="2" algn="ctr">
              <a:lnSpc>
                <a:spcPct val="100000"/>
              </a:lnSpc>
              <a:spcBef>
                <a:spcPts val="200"/>
              </a:spcBef>
              <a:spcAft>
                <a:spcPts val="0"/>
              </a:spcAft>
              <a:buClr>
                <a:srgbClr val="888888"/>
              </a:buClr>
              <a:buSzPts val="1200"/>
              <a:buNone/>
              <a:defRPr>
                <a:solidFill>
                  <a:srgbClr val="888888"/>
                </a:solidFill>
              </a:defRPr>
            </a:lvl3pPr>
            <a:lvl4pPr lvl="3" algn="ctr">
              <a:lnSpc>
                <a:spcPct val="100000"/>
              </a:lnSpc>
              <a:spcBef>
                <a:spcPts val="200"/>
              </a:spcBef>
              <a:spcAft>
                <a:spcPts val="0"/>
              </a:spcAft>
              <a:buClr>
                <a:srgbClr val="888888"/>
              </a:buClr>
              <a:buSzPts val="1000"/>
              <a:buNone/>
              <a:defRPr>
                <a:solidFill>
                  <a:srgbClr val="888888"/>
                </a:solidFill>
              </a:defRPr>
            </a:lvl4pPr>
            <a:lvl5pPr lvl="4" algn="ctr">
              <a:lnSpc>
                <a:spcPct val="100000"/>
              </a:lnSpc>
              <a:spcBef>
                <a:spcPts val="200"/>
              </a:spcBef>
              <a:spcAft>
                <a:spcPts val="0"/>
              </a:spcAft>
              <a:buClr>
                <a:srgbClr val="888888"/>
              </a:buClr>
              <a:buSzPts val="1000"/>
              <a:buNone/>
              <a:defRPr>
                <a:solidFill>
                  <a:srgbClr val="888888"/>
                </a:solidFill>
              </a:defRPr>
            </a:lvl5pPr>
            <a:lvl6pPr lvl="5" algn="ctr">
              <a:lnSpc>
                <a:spcPct val="100000"/>
              </a:lnSpc>
              <a:spcBef>
                <a:spcPts val="200"/>
              </a:spcBef>
              <a:spcAft>
                <a:spcPts val="0"/>
              </a:spcAft>
              <a:buClr>
                <a:srgbClr val="888888"/>
              </a:buClr>
              <a:buSzPts val="1000"/>
              <a:buNone/>
              <a:defRPr>
                <a:solidFill>
                  <a:srgbClr val="888888"/>
                </a:solidFill>
              </a:defRPr>
            </a:lvl6pPr>
            <a:lvl7pPr lvl="6" algn="ctr">
              <a:lnSpc>
                <a:spcPct val="100000"/>
              </a:lnSpc>
              <a:spcBef>
                <a:spcPts val="200"/>
              </a:spcBef>
              <a:spcAft>
                <a:spcPts val="0"/>
              </a:spcAft>
              <a:buClr>
                <a:srgbClr val="888888"/>
              </a:buClr>
              <a:buSzPts val="1000"/>
              <a:buNone/>
              <a:defRPr>
                <a:solidFill>
                  <a:srgbClr val="888888"/>
                </a:solidFill>
              </a:defRPr>
            </a:lvl7pPr>
            <a:lvl8pPr lvl="7" algn="ctr">
              <a:lnSpc>
                <a:spcPct val="100000"/>
              </a:lnSpc>
              <a:spcBef>
                <a:spcPts val="200"/>
              </a:spcBef>
              <a:spcAft>
                <a:spcPts val="0"/>
              </a:spcAft>
              <a:buClr>
                <a:srgbClr val="888888"/>
              </a:buClr>
              <a:buSzPts val="1000"/>
              <a:buNone/>
              <a:defRPr>
                <a:solidFill>
                  <a:srgbClr val="888888"/>
                </a:solidFill>
              </a:defRPr>
            </a:lvl8pPr>
            <a:lvl9pPr lvl="8" algn="ctr">
              <a:lnSpc>
                <a:spcPct val="100000"/>
              </a:lnSpc>
              <a:spcBef>
                <a:spcPts val="200"/>
              </a:spcBef>
              <a:spcAft>
                <a:spcPts val="0"/>
              </a:spcAft>
              <a:buClr>
                <a:srgbClr val="888888"/>
              </a:buClr>
              <a:buSzPts val="1000"/>
              <a:buNone/>
              <a:defRPr>
                <a:solidFill>
                  <a:srgbClr val="888888"/>
                </a:solidFill>
              </a:defRPr>
            </a:lvl9pPr>
          </a:lstStyle>
          <a:p/>
        </p:txBody>
      </p:sp>
      <p:sp>
        <p:nvSpPr>
          <p:cNvPr id="18" name="Google Shape;18;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9" name="Google Shape;19;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0" name="Google Shape;20;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3" name="Google Shape;23;p22"/>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24" name="Google Shape;24;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5" name="Google Shape;25;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6" name="Google Shape;26;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3"/>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lnSpc>
                <a:spcPct val="100000"/>
              </a:lnSpc>
              <a:spcBef>
                <a:spcPts val="0"/>
              </a:spcBef>
              <a:spcAft>
                <a:spcPts val="0"/>
              </a:spcAft>
              <a:buClr>
                <a:schemeClr val="dk1"/>
              </a:buClr>
              <a:buSzPts val="2000"/>
              <a:buFont typeface="Calibri"/>
              <a:buNone/>
              <a:defRPr b="1" sz="2000" cap="none"/>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9" name="Google Shape;29;p23"/>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rgbClr val="888888"/>
              </a:buClr>
              <a:buSzPts val="1000"/>
              <a:buNone/>
              <a:defRPr sz="1000">
                <a:solidFill>
                  <a:srgbClr val="888888"/>
                </a:solidFill>
              </a:defRPr>
            </a:lvl1pPr>
            <a:lvl2pPr indent="-228600" lvl="1" marL="914400" algn="l">
              <a:lnSpc>
                <a:spcPct val="100000"/>
              </a:lnSpc>
              <a:spcBef>
                <a:spcPts val="200"/>
              </a:spcBef>
              <a:spcAft>
                <a:spcPts val="0"/>
              </a:spcAft>
              <a:buClr>
                <a:srgbClr val="888888"/>
              </a:buClr>
              <a:buSzPts val="900"/>
              <a:buNone/>
              <a:defRPr sz="900">
                <a:solidFill>
                  <a:srgbClr val="888888"/>
                </a:solidFill>
              </a:defRPr>
            </a:lvl2pPr>
            <a:lvl3pPr indent="-228600" lvl="2" marL="1371600" algn="l">
              <a:lnSpc>
                <a:spcPct val="100000"/>
              </a:lnSpc>
              <a:spcBef>
                <a:spcPts val="200"/>
              </a:spcBef>
              <a:spcAft>
                <a:spcPts val="0"/>
              </a:spcAft>
              <a:buClr>
                <a:srgbClr val="888888"/>
              </a:buClr>
              <a:buSzPts val="800"/>
              <a:buNone/>
              <a:defRPr sz="800">
                <a:solidFill>
                  <a:srgbClr val="888888"/>
                </a:solidFill>
              </a:defRPr>
            </a:lvl3pPr>
            <a:lvl4pPr indent="-228600" lvl="3" marL="1828800" algn="l">
              <a:lnSpc>
                <a:spcPct val="100000"/>
              </a:lnSpc>
              <a:spcBef>
                <a:spcPts val="100"/>
              </a:spcBef>
              <a:spcAft>
                <a:spcPts val="0"/>
              </a:spcAft>
              <a:buClr>
                <a:srgbClr val="888888"/>
              </a:buClr>
              <a:buSzPts val="700"/>
              <a:buNone/>
              <a:defRPr sz="700">
                <a:solidFill>
                  <a:srgbClr val="888888"/>
                </a:solidFill>
              </a:defRPr>
            </a:lvl4pPr>
            <a:lvl5pPr indent="-228600" lvl="4" marL="2286000" algn="l">
              <a:lnSpc>
                <a:spcPct val="100000"/>
              </a:lnSpc>
              <a:spcBef>
                <a:spcPts val="100"/>
              </a:spcBef>
              <a:spcAft>
                <a:spcPts val="0"/>
              </a:spcAft>
              <a:buClr>
                <a:srgbClr val="888888"/>
              </a:buClr>
              <a:buSzPts val="700"/>
              <a:buNone/>
              <a:defRPr sz="700">
                <a:solidFill>
                  <a:srgbClr val="888888"/>
                </a:solidFill>
              </a:defRPr>
            </a:lvl5pPr>
            <a:lvl6pPr indent="-228600" lvl="5" marL="2743200" algn="l">
              <a:lnSpc>
                <a:spcPct val="100000"/>
              </a:lnSpc>
              <a:spcBef>
                <a:spcPts val="100"/>
              </a:spcBef>
              <a:spcAft>
                <a:spcPts val="0"/>
              </a:spcAft>
              <a:buClr>
                <a:srgbClr val="888888"/>
              </a:buClr>
              <a:buSzPts val="700"/>
              <a:buNone/>
              <a:defRPr sz="700">
                <a:solidFill>
                  <a:srgbClr val="888888"/>
                </a:solidFill>
              </a:defRPr>
            </a:lvl6pPr>
            <a:lvl7pPr indent="-228600" lvl="6" marL="3200400" algn="l">
              <a:lnSpc>
                <a:spcPct val="100000"/>
              </a:lnSpc>
              <a:spcBef>
                <a:spcPts val="100"/>
              </a:spcBef>
              <a:spcAft>
                <a:spcPts val="0"/>
              </a:spcAft>
              <a:buClr>
                <a:srgbClr val="888888"/>
              </a:buClr>
              <a:buSzPts val="700"/>
              <a:buNone/>
              <a:defRPr sz="700">
                <a:solidFill>
                  <a:srgbClr val="888888"/>
                </a:solidFill>
              </a:defRPr>
            </a:lvl7pPr>
            <a:lvl8pPr indent="-228600" lvl="7" marL="3657600" algn="l">
              <a:lnSpc>
                <a:spcPct val="100000"/>
              </a:lnSpc>
              <a:spcBef>
                <a:spcPts val="100"/>
              </a:spcBef>
              <a:spcAft>
                <a:spcPts val="0"/>
              </a:spcAft>
              <a:buClr>
                <a:srgbClr val="888888"/>
              </a:buClr>
              <a:buSzPts val="700"/>
              <a:buNone/>
              <a:defRPr sz="700">
                <a:solidFill>
                  <a:srgbClr val="888888"/>
                </a:solidFill>
              </a:defRPr>
            </a:lvl8pPr>
            <a:lvl9pPr indent="-228600" lvl="8" marL="4114800" algn="l">
              <a:lnSpc>
                <a:spcPct val="100000"/>
              </a:lnSpc>
              <a:spcBef>
                <a:spcPts val="100"/>
              </a:spcBef>
              <a:spcAft>
                <a:spcPts val="0"/>
              </a:spcAft>
              <a:buClr>
                <a:srgbClr val="888888"/>
              </a:buClr>
              <a:buSzPts val="700"/>
              <a:buNone/>
              <a:defRPr sz="700">
                <a:solidFill>
                  <a:srgbClr val="888888"/>
                </a:solidFill>
              </a:defRPr>
            </a:lvl9pPr>
          </a:lstStyle>
          <a:p/>
        </p:txBody>
      </p:sp>
      <p:sp>
        <p:nvSpPr>
          <p:cNvPr id="30" name="Google Shape;30;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1" name="Google Shape;31;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2" name="Google Shape;32;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5" name="Google Shape;35;p24"/>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lnSpc>
                <a:spcPct val="100000"/>
              </a:lnSpc>
              <a:spcBef>
                <a:spcPts val="300"/>
              </a:spcBef>
              <a:spcAft>
                <a:spcPts val="0"/>
              </a:spcAft>
              <a:buClr>
                <a:schemeClr val="dk1"/>
              </a:buClr>
              <a:buSzPts val="1400"/>
              <a:buChar char="•"/>
              <a:defRPr sz="1400"/>
            </a:lvl1pPr>
            <a:lvl2pPr indent="-304800" lvl="1" marL="914400" algn="l">
              <a:lnSpc>
                <a:spcPct val="100000"/>
              </a:lnSpc>
              <a:spcBef>
                <a:spcPts val="200"/>
              </a:spcBef>
              <a:spcAft>
                <a:spcPts val="0"/>
              </a:spcAft>
              <a:buClr>
                <a:schemeClr val="dk1"/>
              </a:buClr>
              <a:buSzPts val="1200"/>
              <a:buChar char="–"/>
              <a:defRPr sz="1200"/>
            </a:lvl2pPr>
            <a:lvl3pPr indent="-292100" lvl="2" marL="1371600" algn="l">
              <a:lnSpc>
                <a:spcPct val="100000"/>
              </a:lnSpc>
              <a:spcBef>
                <a:spcPts val="200"/>
              </a:spcBef>
              <a:spcAft>
                <a:spcPts val="0"/>
              </a:spcAft>
              <a:buClr>
                <a:schemeClr val="dk1"/>
              </a:buClr>
              <a:buSzPts val="1000"/>
              <a:buChar char="•"/>
              <a:defRPr sz="10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200"/>
              </a:spcBef>
              <a:spcAft>
                <a:spcPts val="0"/>
              </a:spcAft>
              <a:buClr>
                <a:schemeClr val="dk1"/>
              </a:buClr>
              <a:buSzPts val="900"/>
              <a:buChar char="»"/>
              <a:defRPr sz="900"/>
            </a:lvl5pPr>
            <a:lvl6pPr indent="-285750" lvl="5" marL="2743200" algn="l">
              <a:lnSpc>
                <a:spcPct val="100000"/>
              </a:lnSpc>
              <a:spcBef>
                <a:spcPts val="200"/>
              </a:spcBef>
              <a:spcAft>
                <a:spcPts val="0"/>
              </a:spcAft>
              <a:buClr>
                <a:schemeClr val="dk1"/>
              </a:buClr>
              <a:buSzPts val="900"/>
              <a:buChar char="•"/>
              <a:defRPr sz="900"/>
            </a:lvl6pPr>
            <a:lvl7pPr indent="-285750" lvl="6" marL="3200400" algn="l">
              <a:lnSpc>
                <a:spcPct val="100000"/>
              </a:lnSpc>
              <a:spcBef>
                <a:spcPts val="200"/>
              </a:spcBef>
              <a:spcAft>
                <a:spcPts val="0"/>
              </a:spcAft>
              <a:buClr>
                <a:schemeClr val="dk1"/>
              </a:buClr>
              <a:buSzPts val="900"/>
              <a:buChar char="•"/>
              <a:defRPr sz="900"/>
            </a:lvl7pPr>
            <a:lvl8pPr indent="-285750" lvl="7" marL="3657600" algn="l">
              <a:lnSpc>
                <a:spcPct val="100000"/>
              </a:lnSpc>
              <a:spcBef>
                <a:spcPts val="200"/>
              </a:spcBef>
              <a:spcAft>
                <a:spcPts val="0"/>
              </a:spcAft>
              <a:buClr>
                <a:schemeClr val="dk1"/>
              </a:buClr>
              <a:buSzPts val="900"/>
              <a:buChar char="•"/>
              <a:defRPr sz="900"/>
            </a:lvl8pPr>
            <a:lvl9pPr indent="-285750" lvl="8" marL="4114800" algn="l">
              <a:lnSpc>
                <a:spcPct val="100000"/>
              </a:lnSpc>
              <a:spcBef>
                <a:spcPts val="200"/>
              </a:spcBef>
              <a:spcAft>
                <a:spcPts val="0"/>
              </a:spcAft>
              <a:buClr>
                <a:schemeClr val="dk1"/>
              </a:buClr>
              <a:buSzPts val="900"/>
              <a:buChar char="•"/>
              <a:defRPr sz="900"/>
            </a:lvl9pPr>
          </a:lstStyle>
          <a:p/>
        </p:txBody>
      </p:sp>
      <p:sp>
        <p:nvSpPr>
          <p:cNvPr id="36" name="Google Shape;36;p24"/>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lnSpc>
                <a:spcPct val="100000"/>
              </a:lnSpc>
              <a:spcBef>
                <a:spcPts val="300"/>
              </a:spcBef>
              <a:spcAft>
                <a:spcPts val="0"/>
              </a:spcAft>
              <a:buClr>
                <a:schemeClr val="dk1"/>
              </a:buClr>
              <a:buSzPts val="1400"/>
              <a:buChar char="•"/>
              <a:defRPr sz="1400"/>
            </a:lvl1pPr>
            <a:lvl2pPr indent="-304800" lvl="1" marL="914400" algn="l">
              <a:lnSpc>
                <a:spcPct val="100000"/>
              </a:lnSpc>
              <a:spcBef>
                <a:spcPts val="200"/>
              </a:spcBef>
              <a:spcAft>
                <a:spcPts val="0"/>
              </a:spcAft>
              <a:buClr>
                <a:schemeClr val="dk1"/>
              </a:buClr>
              <a:buSzPts val="1200"/>
              <a:buChar char="–"/>
              <a:defRPr sz="1200"/>
            </a:lvl2pPr>
            <a:lvl3pPr indent="-292100" lvl="2" marL="1371600" algn="l">
              <a:lnSpc>
                <a:spcPct val="100000"/>
              </a:lnSpc>
              <a:spcBef>
                <a:spcPts val="200"/>
              </a:spcBef>
              <a:spcAft>
                <a:spcPts val="0"/>
              </a:spcAft>
              <a:buClr>
                <a:schemeClr val="dk1"/>
              </a:buClr>
              <a:buSzPts val="1000"/>
              <a:buChar char="•"/>
              <a:defRPr sz="10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200"/>
              </a:spcBef>
              <a:spcAft>
                <a:spcPts val="0"/>
              </a:spcAft>
              <a:buClr>
                <a:schemeClr val="dk1"/>
              </a:buClr>
              <a:buSzPts val="900"/>
              <a:buChar char="»"/>
              <a:defRPr sz="900"/>
            </a:lvl5pPr>
            <a:lvl6pPr indent="-285750" lvl="5" marL="2743200" algn="l">
              <a:lnSpc>
                <a:spcPct val="100000"/>
              </a:lnSpc>
              <a:spcBef>
                <a:spcPts val="200"/>
              </a:spcBef>
              <a:spcAft>
                <a:spcPts val="0"/>
              </a:spcAft>
              <a:buClr>
                <a:schemeClr val="dk1"/>
              </a:buClr>
              <a:buSzPts val="900"/>
              <a:buChar char="•"/>
              <a:defRPr sz="900"/>
            </a:lvl6pPr>
            <a:lvl7pPr indent="-285750" lvl="6" marL="3200400" algn="l">
              <a:lnSpc>
                <a:spcPct val="100000"/>
              </a:lnSpc>
              <a:spcBef>
                <a:spcPts val="200"/>
              </a:spcBef>
              <a:spcAft>
                <a:spcPts val="0"/>
              </a:spcAft>
              <a:buClr>
                <a:schemeClr val="dk1"/>
              </a:buClr>
              <a:buSzPts val="900"/>
              <a:buChar char="•"/>
              <a:defRPr sz="900"/>
            </a:lvl7pPr>
            <a:lvl8pPr indent="-285750" lvl="7" marL="3657600" algn="l">
              <a:lnSpc>
                <a:spcPct val="100000"/>
              </a:lnSpc>
              <a:spcBef>
                <a:spcPts val="200"/>
              </a:spcBef>
              <a:spcAft>
                <a:spcPts val="0"/>
              </a:spcAft>
              <a:buClr>
                <a:schemeClr val="dk1"/>
              </a:buClr>
              <a:buSzPts val="900"/>
              <a:buChar char="•"/>
              <a:defRPr sz="900"/>
            </a:lvl8pPr>
            <a:lvl9pPr indent="-285750" lvl="8" marL="4114800" algn="l">
              <a:lnSpc>
                <a:spcPct val="100000"/>
              </a:lnSpc>
              <a:spcBef>
                <a:spcPts val="200"/>
              </a:spcBef>
              <a:spcAft>
                <a:spcPts val="0"/>
              </a:spcAft>
              <a:buClr>
                <a:schemeClr val="dk1"/>
              </a:buClr>
              <a:buSzPts val="900"/>
              <a:buChar char="•"/>
              <a:defRPr sz="900"/>
            </a:lvl9pPr>
          </a:lstStyle>
          <a:p/>
        </p:txBody>
      </p:sp>
      <p:sp>
        <p:nvSpPr>
          <p:cNvPr id="37" name="Google Shape;37;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8" name="Google Shape;38;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9" name="Google Shape;39;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2200"/>
              <a:buFont typeface="Calibri"/>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42" name="Google Shape;42;p25"/>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chemeClr val="dk1"/>
              </a:buClr>
              <a:buSzPts val="1200"/>
              <a:buNone/>
              <a:defRPr b="1" sz="1200"/>
            </a:lvl1pPr>
            <a:lvl2pPr indent="-228600" lvl="1" marL="914400" algn="l">
              <a:lnSpc>
                <a:spcPct val="100000"/>
              </a:lnSpc>
              <a:spcBef>
                <a:spcPts val="200"/>
              </a:spcBef>
              <a:spcAft>
                <a:spcPts val="0"/>
              </a:spcAft>
              <a:buClr>
                <a:schemeClr val="dk1"/>
              </a:buClr>
              <a:buSzPts val="1000"/>
              <a:buNone/>
              <a:defRPr b="1" sz="1000"/>
            </a:lvl2pPr>
            <a:lvl3pPr indent="-228600" lvl="2" marL="1371600" algn="l">
              <a:lnSpc>
                <a:spcPct val="100000"/>
              </a:lnSpc>
              <a:spcBef>
                <a:spcPts val="200"/>
              </a:spcBef>
              <a:spcAft>
                <a:spcPts val="0"/>
              </a:spcAft>
              <a:buClr>
                <a:schemeClr val="dk1"/>
              </a:buClr>
              <a:buSzPts val="900"/>
              <a:buNone/>
              <a:defRPr b="1" sz="900"/>
            </a:lvl3pPr>
            <a:lvl4pPr indent="-228600" lvl="3" marL="1828800" algn="l">
              <a:lnSpc>
                <a:spcPct val="100000"/>
              </a:lnSpc>
              <a:spcBef>
                <a:spcPts val="200"/>
              </a:spcBef>
              <a:spcAft>
                <a:spcPts val="0"/>
              </a:spcAft>
              <a:buClr>
                <a:schemeClr val="dk1"/>
              </a:buClr>
              <a:buSzPts val="800"/>
              <a:buNone/>
              <a:defRPr b="1" sz="800"/>
            </a:lvl4pPr>
            <a:lvl5pPr indent="-228600" lvl="4" marL="2286000" algn="l">
              <a:lnSpc>
                <a:spcPct val="100000"/>
              </a:lnSpc>
              <a:spcBef>
                <a:spcPts val="200"/>
              </a:spcBef>
              <a:spcAft>
                <a:spcPts val="0"/>
              </a:spcAft>
              <a:buClr>
                <a:schemeClr val="dk1"/>
              </a:buClr>
              <a:buSzPts val="800"/>
              <a:buNone/>
              <a:defRPr b="1" sz="800"/>
            </a:lvl5pPr>
            <a:lvl6pPr indent="-228600" lvl="5" marL="2743200" algn="l">
              <a:lnSpc>
                <a:spcPct val="100000"/>
              </a:lnSpc>
              <a:spcBef>
                <a:spcPts val="200"/>
              </a:spcBef>
              <a:spcAft>
                <a:spcPts val="0"/>
              </a:spcAft>
              <a:buClr>
                <a:schemeClr val="dk1"/>
              </a:buClr>
              <a:buSzPts val="800"/>
              <a:buNone/>
              <a:defRPr b="1" sz="800"/>
            </a:lvl6pPr>
            <a:lvl7pPr indent="-228600" lvl="6" marL="3200400" algn="l">
              <a:lnSpc>
                <a:spcPct val="100000"/>
              </a:lnSpc>
              <a:spcBef>
                <a:spcPts val="200"/>
              </a:spcBef>
              <a:spcAft>
                <a:spcPts val="0"/>
              </a:spcAft>
              <a:buClr>
                <a:schemeClr val="dk1"/>
              </a:buClr>
              <a:buSzPts val="800"/>
              <a:buNone/>
              <a:defRPr b="1" sz="800"/>
            </a:lvl7pPr>
            <a:lvl8pPr indent="-228600" lvl="7" marL="3657600" algn="l">
              <a:lnSpc>
                <a:spcPct val="100000"/>
              </a:lnSpc>
              <a:spcBef>
                <a:spcPts val="200"/>
              </a:spcBef>
              <a:spcAft>
                <a:spcPts val="0"/>
              </a:spcAft>
              <a:buClr>
                <a:schemeClr val="dk1"/>
              </a:buClr>
              <a:buSzPts val="800"/>
              <a:buNone/>
              <a:defRPr b="1" sz="800"/>
            </a:lvl8pPr>
            <a:lvl9pPr indent="-228600" lvl="8" marL="4114800" algn="l">
              <a:lnSpc>
                <a:spcPct val="100000"/>
              </a:lnSpc>
              <a:spcBef>
                <a:spcPts val="200"/>
              </a:spcBef>
              <a:spcAft>
                <a:spcPts val="0"/>
              </a:spcAft>
              <a:buClr>
                <a:schemeClr val="dk1"/>
              </a:buClr>
              <a:buSzPts val="800"/>
              <a:buNone/>
              <a:defRPr b="1" sz="800"/>
            </a:lvl9pPr>
          </a:lstStyle>
          <a:p/>
        </p:txBody>
      </p:sp>
      <p:sp>
        <p:nvSpPr>
          <p:cNvPr id="43" name="Google Shape;43;p25"/>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sz="1200"/>
            </a:lvl1pPr>
            <a:lvl2pPr indent="-292100" lvl="1" marL="914400" algn="l">
              <a:lnSpc>
                <a:spcPct val="100000"/>
              </a:lnSpc>
              <a:spcBef>
                <a:spcPts val="200"/>
              </a:spcBef>
              <a:spcAft>
                <a:spcPts val="0"/>
              </a:spcAft>
              <a:buClr>
                <a:schemeClr val="dk1"/>
              </a:buClr>
              <a:buSzPts val="1000"/>
              <a:buChar char="–"/>
              <a:defRPr sz="1000"/>
            </a:lvl2pPr>
            <a:lvl3pPr indent="-285750" lvl="2" marL="1371600" algn="l">
              <a:lnSpc>
                <a:spcPct val="100000"/>
              </a:lnSpc>
              <a:spcBef>
                <a:spcPts val="200"/>
              </a:spcBef>
              <a:spcAft>
                <a:spcPts val="0"/>
              </a:spcAft>
              <a:buClr>
                <a:schemeClr val="dk1"/>
              </a:buClr>
              <a:buSzPts val="900"/>
              <a:buChar char="•"/>
              <a:defRPr sz="9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200"/>
              </a:spcBef>
              <a:spcAft>
                <a:spcPts val="0"/>
              </a:spcAft>
              <a:buClr>
                <a:schemeClr val="dk1"/>
              </a:buClr>
              <a:buSzPts val="800"/>
              <a:buChar char="»"/>
              <a:defRPr sz="800"/>
            </a:lvl5pPr>
            <a:lvl6pPr indent="-279400" lvl="5" marL="2743200" algn="l">
              <a:lnSpc>
                <a:spcPct val="100000"/>
              </a:lnSpc>
              <a:spcBef>
                <a:spcPts val="200"/>
              </a:spcBef>
              <a:spcAft>
                <a:spcPts val="0"/>
              </a:spcAft>
              <a:buClr>
                <a:schemeClr val="dk1"/>
              </a:buClr>
              <a:buSzPts val="800"/>
              <a:buChar char="•"/>
              <a:defRPr sz="800"/>
            </a:lvl6pPr>
            <a:lvl7pPr indent="-279400" lvl="6" marL="3200400" algn="l">
              <a:lnSpc>
                <a:spcPct val="100000"/>
              </a:lnSpc>
              <a:spcBef>
                <a:spcPts val="200"/>
              </a:spcBef>
              <a:spcAft>
                <a:spcPts val="0"/>
              </a:spcAft>
              <a:buClr>
                <a:schemeClr val="dk1"/>
              </a:buClr>
              <a:buSzPts val="800"/>
              <a:buChar char="•"/>
              <a:defRPr sz="800"/>
            </a:lvl7pPr>
            <a:lvl8pPr indent="-279400" lvl="7" marL="3657600" algn="l">
              <a:lnSpc>
                <a:spcPct val="100000"/>
              </a:lnSpc>
              <a:spcBef>
                <a:spcPts val="200"/>
              </a:spcBef>
              <a:spcAft>
                <a:spcPts val="0"/>
              </a:spcAft>
              <a:buClr>
                <a:schemeClr val="dk1"/>
              </a:buClr>
              <a:buSzPts val="800"/>
              <a:buChar char="•"/>
              <a:defRPr sz="800"/>
            </a:lvl8pPr>
            <a:lvl9pPr indent="-279400" lvl="8" marL="4114800" algn="l">
              <a:lnSpc>
                <a:spcPct val="100000"/>
              </a:lnSpc>
              <a:spcBef>
                <a:spcPts val="200"/>
              </a:spcBef>
              <a:spcAft>
                <a:spcPts val="0"/>
              </a:spcAft>
              <a:buClr>
                <a:schemeClr val="dk1"/>
              </a:buClr>
              <a:buSzPts val="800"/>
              <a:buChar char="•"/>
              <a:defRPr sz="800"/>
            </a:lvl9pPr>
          </a:lstStyle>
          <a:p/>
        </p:txBody>
      </p:sp>
      <p:sp>
        <p:nvSpPr>
          <p:cNvPr id="44" name="Google Shape;44;p25"/>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chemeClr val="dk1"/>
              </a:buClr>
              <a:buSzPts val="1200"/>
              <a:buNone/>
              <a:defRPr b="1" sz="1200"/>
            </a:lvl1pPr>
            <a:lvl2pPr indent="-228600" lvl="1" marL="914400" algn="l">
              <a:lnSpc>
                <a:spcPct val="100000"/>
              </a:lnSpc>
              <a:spcBef>
                <a:spcPts val="200"/>
              </a:spcBef>
              <a:spcAft>
                <a:spcPts val="0"/>
              </a:spcAft>
              <a:buClr>
                <a:schemeClr val="dk1"/>
              </a:buClr>
              <a:buSzPts val="1000"/>
              <a:buNone/>
              <a:defRPr b="1" sz="1000"/>
            </a:lvl2pPr>
            <a:lvl3pPr indent="-228600" lvl="2" marL="1371600" algn="l">
              <a:lnSpc>
                <a:spcPct val="100000"/>
              </a:lnSpc>
              <a:spcBef>
                <a:spcPts val="200"/>
              </a:spcBef>
              <a:spcAft>
                <a:spcPts val="0"/>
              </a:spcAft>
              <a:buClr>
                <a:schemeClr val="dk1"/>
              </a:buClr>
              <a:buSzPts val="900"/>
              <a:buNone/>
              <a:defRPr b="1" sz="900"/>
            </a:lvl3pPr>
            <a:lvl4pPr indent="-228600" lvl="3" marL="1828800" algn="l">
              <a:lnSpc>
                <a:spcPct val="100000"/>
              </a:lnSpc>
              <a:spcBef>
                <a:spcPts val="200"/>
              </a:spcBef>
              <a:spcAft>
                <a:spcPts val="0"/>
              </a:spcAft>
              <a:buClr>
                <a:schemeClr val="dk1"/>
              </a:buClr>
              <a:buSzPts val="800"/>
              <a:buNone/>
              <a:defRPr b="1" sz="800"/>
            </a:lvl4pPr>
            <a:lvl5pPr indent="-228600" lvl="4" marL="2286000" algn="l">
              <a:lnSpc>
                <a:spcPct val="100000"/>
              </a:lnSpc>
              <a:spcBef>
                <a:spcPts val="200"/>
              </a:spcBef>
              <a:spcAft>
                <a:spcPts val="0"/>
              </a:spcAft>
              <a:buClr>
                <a:schemeClr val="dk1"/>
              </a:buClr>
              <a:buSzPts val="800"/>
              <a:buNone/>
              <a:defRPr b="1" sz="800"/>
            </a:lvl5pPr>
            <a:lvl6pPr indent="-228600" lvl="5" marL="2743200" algn="l">
              <a:lnSpc>
                <a:spcPct val="100000"/>
              </a:lnSpc>
              <a:spcBef>
                <a:spcPts val="200"/>
              </a:spcBef>
              <a:spcAft>
                <a:spcPts val="0"/>
              </a:spcAft>
              <a:buClr>
                <a:schemeClr val="dk1"/>
              </a:buClr>
              <a:buSzPts val="800"/>
              <a:buNone/>
              <a:defRPr b="1" sz="800"/>
            </a:lvl6pPr>
            <a:lvl7pPr indent="-228600" lvl="6" marL="3200400" algn="l">
              <a:lnSpc>
                <a:spcPct val="100000"/>
              </a:lnSpc>
              <a:spcBef>
                <a:spcPts val="200"/>
              </a:spcBef>
              <a:spcAft>
                <a:spcPts val="0"/>
              </a:spcAft>
              <a:buClr>
                <a:schemeClr val="dk1"/>
              </a:buClr>
              <a:buSzPts val="800"/>
              <a:buNone/>
              <a:defRPr b="1" sz="800"/>
            </a:lvl7pPr>
            <a:lvl8pPr indent="-228600" lvl="7" marL="3657600" algn="l">
              <a:lnSpc>
                <a:spcPct val="100000"/>
              </a:lnSpc>
              <a:spcBef>
                <a:spcPts val="200"/>
              </a:spcBef>
              <a:spcAft>
                <a:spcPts val="0"/>
              </a:spcAft>
              <a:buClr>
                <a:schemeClr val="dk1"/>
              </a:buClr>
              <a:buSzPts val="800"/>
              <a:buNone/>
              <a:defRPr b="1" sz="800"/>
            </a:lvl8pPr>
            <a:lvl9pPr indent="-228600" lvl="8" marL="4114800" algn="l">
              <a:lnSpc>
                <a:spcPct val="100000"/>
              </a:lnSpc>
              <a:spcBef>
                <a:spcPts val="200"/>
              </a:spcBef>
              <a:spcAft>
                <a:spcPts val="0"/>
              </a:spcAft>
              <a:buClr>
                <a:schemeClr val="dk1"/>
              </a:buClr>
              <a:buSzPts val="800"/>
              <a:buNone/>
              <a:defRPr b="1" sz="800"/>
            </a:lvl9pPr>
          </a:lstStyle>
          <a:p/>
        </p:txBody>
      </p:sp>
      <p:sp>
        <p:nvSpPr>
          <p:cNvPr id="45" name="Google Shape;45;p25"/>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sz="1200"/>
            </a:lvl1pPr>
            <a:lvl2pPr indent="-292100" lvl="1" marL="914400" algn="l">
              <a:lnSpc>
                <a:spcPct val="100000"/>
              </a:lnSpc>
              <a:spcBef>
                <a:spcPts val="200"/>
              </a:spcBef>
              <a:spcAft>
                <a:spcPts val="0"/>
              </a:spcAft>
              <a:buClr>
                <a:schemeClr val="dk1"/>
              </a:buClr>
              <a:buSzPts val="1000"/>
              <a:buChar char="–"/>
              <a:defRPr sz="1000"/>
            </a:lvl2pPr>
            <a:lvl3pPr indent="-285750" lvl="2" marL="1371600" algn="l">
              <a:lnSpc>
                <a:spcPct val="100000"/>
              </a:lnSpc>
              <a:spcBef>
                <a:spcPts val="200"/>
              </a:spcBef>
              <a:spcAft>
                <a:spcPts val="0"/>
              </a:spcAft>
              <a:buClr>
                <a:schemeClr val="dk1"/>
              </a:buClr>
              <a:buSzPts val="900"/>
              <a:buChar char="•"/>
              <a:defRPr sz="9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200"/>
              </a:spcBef>
              <a:spcAft>
                <a:spcPts val="0"/>
              </a:spcAft>
              <a:buClr>
                <a:schemeClr val="dk1"/>
              </a:buClr>
              <a:buSzPts val="800"/>
              <a:buChar char="»"/>
              <a:defRPr sz="800"/>
            </a:lvl5pPr>
            <a:lvl6pPr indent="-279400" lvl="5" marL="2743200" algn="l">
              <a:lnSpc>
                <a:spcPct val="100000"/>
              </a:lnSpc>
              <a:spcBef>
                <a:spcPts val="200"/>
              </a:spcBef>
              <a:spcAft>
                <a:spcPts val="0"/>
              </a:spcAft>
              <a:buClr>
                <a:schemeClr val="dk1"/>
              </a:buClr>
              <a:buSzPts val="800"/>
              <a:buChar char="•"/>
              <a:defRPr sz="800"/>
            </a:lvl6pPr>
            <a:lvl7pPr indent="-279400" lvl="6" marL="3200400" algn="l">
              <a:lnSpc>
                <a:spcPct val="100000"/>
              </a:lnSpc>
              <a:spcBef>
                <a:spcPts val="200"/>
              </a:spcBef>
              <a:spcAft>
                <a:spcPts val="0"/>
              </a:spcAft>
              <a:buClr>
                <a:schemeClr val="dk1"/>
              </a:buClr>
              <a:buSzPts val="800"/>
              <a:buChar char="•"/>
              <a:defRPr sz="800"/>
            </a:lvl7pPr>
            <a:lvl8pPr indent="-279400" lvl="7" marL="3657600" algn="l">
              <a:lnSpc>
                <a:spcPct val="100000"/>
              </a:lnSpc>
              <a:spcBef>
                <a:spcPts val="200"/>
              </a:spcBef>
              <a:spcAft>
                <a:spcPts val="0"/>
              </a:spcAft>
              <a:buClr>
                <a:schemeClr val="dk1"/>
              </a:buClr>
              <a:buSzPts val="800"/>
              <a:buChar char="•"/>
              <a:defRPr sz="800"/>
            </a:lvl8pPr>
            <a:lvl9pPr indent="-279400" lvl="8" marL="4114800" algn="l">
              <a:lnSpc>
                <a:spcPct val="100000"/>
              </a:lnSpc>
              <a:spcBef>
                <a:spcPts val="200"/>
              </a:spcBef>
              <a:spcAft>
                <a:spcPts val="0"/>
              </a:spcAft>
              <a:buClr>
                <a:schemeClr val="dk1"/>
              </a:buClr>
              <a:buSzPts val="800"/>
              <a:buChar char="•"/>
              <a:defRPr sz="800"/>
            </a:lvl9pPr>
          </a:lstStyle>
          <a:p/>
        </p:txBody>
      </p:sp>
      <p:sp>
        <p:nvSpPr>
          <p:cNvPr id="46" name="Google Shape;46;p2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47" name="Google Shape;47;p2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48" name="Google Shape;48;p2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1" name="Google Shape;51;p2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2" name="Google Shape;52;p2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3" name="Google Shape;53;p2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7"/>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lnSpc>
                <a:spcPct val="100000"/>
              </a:lnSpc>
              <a:spcBef>
                <a:spcPts val="0"/>
              </a:spcBef>
              <a:spcAft>
                <a:spcPts val="0"/>
              </a:spcAft>
              <a:buClr>
                <a:schemeClr val="dk1"/>
              </a:buClr>
              <a:buSzPts val="1000"/>
              <a:buFont typeface="Calibri"/>
              <a:buNone/>
              <a:defRPr b="1" sz="10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6" name="Google Shape;56;p27"/>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lnSpc>
                <a:spcPct val="100000"/>
              </a:lnSpc>
              <a:spcBef>
                <a:spcPts val="300"/>
              </a:spcBef>
              <a:spcAft>
                <a:spcPts val="0"/>
              </a:spcAft>
              <a:buClr>
                <a:schemeClr val="dk1"/>
              </a:buClr>
              <a:buSzPts val="1600"/>
              <a:buChar char="•"/>
              <a:defRPr sz="1600"/>
            </a:lvl1pPr>
            <a:lvl2pPr indent="-317500" lvl="1" marL="914400" algn="l">
              <a:lnSpc>
                <a:spcPct val="100000"/>
              </a:lnSpc>
              <a:spcBef>
                <a:spcPts val="300"/>
              </a:spcBef>
              <a:spcAft>
                <a:spcPts val="0"/>
              </a:spcAft>
              <a:buClr>
                <a:schemeClr val="dk1"/>
              </a:buClr>
              <a:buSzPts val="1400"/>
              <a:buChar char="–"/>
              <a:defRPr sz="1400"/>
            </a:lvl2pPr>
            <a:lvl3pPr indent="-304800" lvl="2" marL="1371600" algn="l">
              <a:lnSpc>
                <a:spcPct val="100000"/>
              </a:lnSpc>
              <a:spcBef>
                <a:spcPts val="200"/>
              </a:spcBef>
              <a:spcAft>
                <a:spcPts val="0"/>
              </a:spcAft>
              <a:buClr>
                <a:schemeClr val="dk1"/>
              </a:buClr>
              <a:buSzPts val="1200"/>
              <a:buChar char="•"/>
              <a:defRPr sz="1200"/>
            </a:lvl3pPr>
            <a:lvl4pPr indent="-292100" lvl="3" marL="1828800" algn="l">
              <a:lnSpc>
                <a:spcPct val="100000"/>
              </a:lnSpc>
              <a:spcBef>
                <a:spcPts val="200"/>
              </a:spcBef>
              <a:spcAft>
                <a:spcPts val="0"/>
              </a:spcAft>
              <a:buClr>
                <a:schemeClr val="dk1"/>
              </a:buClr>
              <a:buSzPts val="1000"/>
              <a:buChar char="–"/>
              <a:defRPr sz="1000"/>
            </a:lvl4pPr>
            <a:lvl5pPr indent="-292100" lvl="4" marL="2286000" algn="l">
              <a:lnSpc>
                <a:spcPct val="100000"/>
              </a:lnSpc>
              <a:spcBef>
                <a:spcPts val="200"/>
              </a:spcBef>
              <a:spcAft>
                <a:spcPts val="0"/>
              </a:spcAft>
              <a:buClr>
                <a:schemeClr val="dk1"/>
              </a:buClr>
              <a:buSzPts val="1000"/>
              <a:buChar char="»"/>
              <a:defRPr sz="1000"/>
            </a:lvl5pPr>
            <a:lvl6pPr indent="-292100" lvl="5" marL="2743200" algn="l">
              <a:lnSpc>
                <a:spcPct val="100000"/>
              </a:lnSpc>
              <a:spcBef>
                <a:spcPts val="200"/>
              </a:spcBef>
              <a:spcAft>
                <a:spcPts val="0"/>
              </a:spcAft>
              <a:buClr>
                <a:schemeClr val="dk1"/>
              </a:buClr>
              <a:buSzPts val="1000"/>
              <a:buChar char="•"/>
              <a:defRPr sz="1000"/>
            </a:lvl6pPr>
            <a:lvl7pPr indent="-292100" lvl="6" marL="3200400" algn="l">
              <a:lnSpc>
                <a:spcPct val="100000"/>
              </a:lnSpc>
              <a:spcBef>
                <a:spcPts val="200"/>
              </a:spcBef>
              <a:spcAft>
                <a:spcPts val="0"/>
              </a:spcAft>
              <a:buClr>
                <a:schemeClr val="dk1"/>
              </a:buClr>
              <a:buSzPts val="1000"/>
              <a:buChar char="•"/>
              <a:defRPr sz="1000"/>
            </a:lvl7pPr>
            <a:lvl8pPr indent="-292100" lvl="7" marL="3657600" algn="l">
              <a:lnSpc>
                <a:spcPct val="100000"/>
              </a:lnSpc>
              <a:spcBef>
                <a:spcPts val="200"/>
              </a:spcBef>
              <a:spcAft>
                <a:spcPts val="0"/>
              </a:spcAft>
              <a:buClr>
                <a:schemeClr val="dk1"/>
              </a:buClr>
              <a:buSzPts val="1000"/>
              <a:buChar char="•"/>
              <a:defRPr sz="1000"/>
            </a:lvl8pPr>
            <a:lvl9pPr indent="-292100" lvl="8" marL="4114800" algn="l">
              <a:lnSpc>
                <a:spcPct val="100000"/>
              </a:lnSpc>
              <a:spcBef>
                <a:spcPts val="200"/>
              </a:spcBef>
              <a:spcAft>
                <a:spcPts val="0"/>
              </a:spcAft>
              <a:buClr>
                <a:schemeClr val="dk1"/>
              </a:buClr>
              <a:buSzPts val="1000"/>
              <a:buChar char="•"/>
              <a:defRPr sz="1000"/>
            </a:lvl9pPr>
          </a:lstStyle>
          <a:p/>
        </p:txBody>
      </p:sp>
      <p:sp>
        <p:nvSpPr>
          <p:cNvPr id="57" name="Google Shape;57;p27"/>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700"/>
              <a:buNone/>
              <a:defRPr sz="700"/>
            </a:lvl1pPr>
            <a:lvl2pPr indent="-228600" lvl="1" marL="914400" algn="l">
              <a:lnSpc>
                <a:spcPct val="100000"/>
              </a:lnSpc>
              <a:spcBef>
                <a:spcPts val="100"/>
              </a:spcBef>
              <a:spcAft>
                <a:spcPts val="0"/>
              </a:spcAft>
              <a:buClr>
                <a:schemeClr val="dk1"/>
              </a:buClr>
              <a:buSzPts val="600"/>
              <a:buNone/>
              <a:defRPr sz="600"/>
            </a:lvl2pPr>
            <a:lvl3pPr indent="-228600" lvl="2" marL="1371600" algn="l">
              <a:lnSpc>
                <a:spcPct val="100000"/>
              </a:lnSpc>
              <a:spcBef>
                <a:spcPts val="100"/>
              </a:spcBef>
              <a:spcAft>
                <a:spcPts val="0"/>
              </a:spcAft>
              <a:buClr>
                <a:schemeClr val="dk1"/>
              </a:buClr>
              <a:buSzPts val="500"/>
              <a:buNone/>
              <a:defRPr sz="500"/>
            </a:lvl3pPr>
            <a:lvl4pPr indent="-228600" lvl="3" marL="1828800" algn="l">
              <a:lnSpc>
                <a:spcPct val="100000"/>
              </a:lnSpc>
              <a:spcBef>
                <a:spcPts val="100"/>
              </a:spcBef>
              <a:spcAft>
                <a:spcPts val="0"/>
              </a:spcAft>
              <a:buClr>
                <a:schemeClr val="dk1"/>
              </a:buClr>
              <a:buSzPts val="500"/>
              <a:buNone/>
              <a:defRPr sz="500"/>
            </a:lvl4pPr>
            <a:lvl5pPr indent="-228600" lvl="4" marL="2286000" algn="l">
              <a:lnSpc>
                <a:spcPct val="100000"/>
              </a:lnSpc>
              <a:spcBef>
                <a:spcPts val="100"/>
              </a:spcBef>
              <a:spcAft>
                <a:spcPts val="0"/>
              </a:spcAft>
              <a:buClr>
                <a:schemeClr val="dk1"/>
              </a:buClr>
              <a:buSzPts val="500"/>
              <a:buNone/>
              <a:defRPr sz="500"/>
            </a:lvl5pPr>
            <a:lvl6pPr indent="-228600" lvl="5" marL="2743200" algn="l">
              <a:lnSpc>
                <a:spcPct val="100000"/>
              </a:lnSpc>
              <a:spcBef>
                <a:spcPts val="100"/>
              </a:spcBef>
              <a:spcAft>
                <a:spcPts val="0"/>
              </a:spcAft>
              <a:buClr>
                <a:schemeClr val="dk1"/>
              </a:buClr>
              <a:buSzPts val="500"/>
              <a:buNone/>
              <a:defRPr sz="500"/>
            </a:lvl6pPr>
            <a:lvl7pPr indent="-228600" lvl="6" marL="3200400" algn="l">
              <a:lnSpc>
                <a:spcPct val="100000"/>
              </a:lnSpc>
              <a:spcBef>
                <a:spcPts val="100"/>
              </a:spcBef>
              <a:spcAft>
                <a:spcPts val="0"/>
              </a:spcAft>
              <a:buClr>
                <a:schemeClr val="dk1"/>
              </a:buClr>
              <a:buSzPts val="500"/>
              <a:buNone/>
              <a:defRPr sz="500"/>
            </a:lvl7pPr>
            <a:lvl8pPr indent="-228600" lvl="7" marL="3657600" algn="l">
              <a:lnSpc>
                <a:spcPct val="100000"/>
              </a:lnSpc>
              <a:spcBef>
                <a:spcPts val="100"/>
              </a:spcBef>
              <a:spcAft>
                <a:spcPts val="0"/>
              </a:spcAft>
              <a:buClr>
                <a:schemeClr val="dk1"/>
              </a:buClr>
              <a:buSzPts val="500"/>
              <a:buNone/>
              <a:defRPr sz="500"/>
            </a:lvl8pPr>
            <a:lvl9pPr indent="-228600" lvl="8" marL="4114800" algn="l">
              <a:lnSpc>
                <a:spcPct val="100000"/>
              </a:lnSpc>
              <a:spcBef>
                <a:spcPts val="100"/>
              </a:spcBef>
              <a:spcAft>
                <a:spcPts val="0"/>
              </a:spcAft>
              <a:buClr>
                <a:schemeClr val="dk1"/>
              </a:buClr>
              <a:buSzPts val="500"/>
              <a:buNone/>
              <a:defRPr sz="500"/>
            </a:lvl9pPr>
          </a:lstStyle>
          <a:p/>
        </p:txBody>
      </p:sp>
      <p:sp>
        <p:nvSpPr>
          <p:cNvPr id="58" name="Google Shape;58;p2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9" name="Google Shape;59;p2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0" name="Google Shape;60;p2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8"/>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lnSpc>
                <a:spcPct val="100000"/>
              </a:lnSpc>
              <a:spcBef>
                <a:spcPts val="0"/>
              </a:spcBef>
              <a:spcAft>
                <a:spcPts val="0"/>
              </a:spcAft>
              <a:buClr>
                <a:schemeClr val="dk1"/>
              </a:buClr>
              <a:buSzPts val="1000"/>
              <a:buFont typeface="Calibri"/>
              <a:buNone/>
              <a:defRPr b="1" sz="10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3" name="Google Shape;63;p28"/>
          <p:cNvSpPr/>
          <p:nvPr>
            <p:ph idx="2" type="pic"/>
          </p:nvPr>
        </p:nvSpPr>
        <p:spPr>
          <a:xfrm>
            <a:off x="896144" y="306388"/>
            <a:ext cx="2743200" cy="2057400"/>
          </a:xfrm>
          <a:prstGeom prst="rect">
            <a:avLst/>
          </a:prstGeom>
          <a:noFill/>
          <a:ln>
            <a:noFill/>
          </a:ln>
        </p:spPr>
      </p:sp>
      <p:sp>
        <p:nvSpPr>
          <p:cNvPr id="64" name="Google Shape;64;p28"/>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700"/>
              <a:buNone/>
              <a:defRPr sz="700"/>
            </a:lvl1pPr>
            <a:lvl2pPr indent="-228600" lvl="1" marL="914400" algn="l">
              <a:lnSpc>
                <a:spcPct val="100000"/>
              </a:lnSpc>
              <a:spcBef>
                <a:spcPts val="100"/>
              </a:spcBef>
              <a:spcAft>
                <a:spcPts val="0"/>
              </a:spcAft>
              <a:buClr>
                <a:schemeClr val="dk1"/>
              </a:buClr>
              <a:buSzPts val="600"/>
              <a:buNone/>
              <a:defRPr sz="600"/>
            </a:lvl2pPr>
            <a:lvl3pPr indent="-228600" lvl="2" marL="1371600" algn="l">
              <a:lnSpc>
                <a:spcPct val="100000"/>
              </a:lnSpc>
              <a:spcBef>
                <a:spcPts val="100"/>
              </a:spcBef>
              <a:spcAft>
                <a:spcPts val="0"/>
              </a:spcAft>
              <a:buClr>
                <a:schemeClr val="dk1"/>
              </a:buClr>
              <a:buSzPts val="500"/>
              <a:buNone/>
              <a:defRPr sz="500"/>
            </a:lvl3pPr>
            <a:lvl4pPr indent="-228600" lvl="3" marL="1828800" algn="l">
              <a:lnSpc>
                <a:spcPct val="100000"/>
              </a:lnSpc>
              <a:spcBef>
                <a:spcPts val="100"/>
              </a:spcBef>
              <a:spcAft>
                <a:spcPts val="0"/>
              </a:spcAft>
              <a:buClr>
                <a:schemeClr val="dk1"/>
              </a:buClr>
              <a:buSzPts val="500"/>
              <a:buNone/>
              <a:defRPr sz="500"/>
            </a:lvl4pPr>
            <a:lvl5pPr indent="-228600" lvl="4" marL="2286000" algn="l">
              <a:lnSpc>
                <a:spcPct val="100000"/>
              </a:lnSpc>
              <a:spcBef>
                <a:spcPts val="100"/>
              </a:spcBef>
              <a:spcAft>
                <a:spcPts val="0"/>
              </a:spcAft>
              <a:buClr>
                <a:schemeClr val="dk1"/>
              </a:buClr>
              <a:buSzPts val="500"/>
              <a:buNone/>
              <a:defRPr sz="500"/>
            </a:lvl5pPr>
            <a:lvl6pPr indent="-228600" lvl="5" marL="2743200" algn="l">
              <a:lnSpc>
                <a:spcPct val="100000"/>
              </a:lnSpc>
              <a:spcBef>
                <a:spcPts val="100"/>
              </a:spcBef>
              <a:spcAft>
                <a:spcPts val="0"/>
              </a:spcAft>
              <a:buClr>
                <a:schemeClr val="dk1"/>
              </a:buClr>
              <a:buSzPts val="500"/>
              <a:buNone/>
              <a:defRPr sz="500"/>
            </a:lvl6pPr>
            <a:lvl7pPr indent="-228600" lvl="6" marL="3200400" algn="l">
              <a:lnSpc>
                <a:spcPct val="100000"/>
              </a:lnSpc>
              <a:spcBef>
                <a:spcPts val="100"/>
              </a:spcBef>
              <a:spcAft>
                <a:spcPts val="0"/>
              </a:spcAft>
              <a:buClr>
                <a:schemeClr val="dk1"/>
              </a:buClr>
              <a:buSzPts val="500"/>
              <a:buNone/>
              <a:defRPr sz="500"/>
            </a:lvl7pPr>
            <a:lvl8pPr indent="-228600" lvl="7" marL="3657600" algn="l">
              <a:lnSpc>
                <a:spcPct val="100000"/>
              </a:lnSpc>
              <a:spcBef>
                <a:spcPts val="100"/>
              </a:spcBef>
              <a:spcAft>
                <a:spcPts val="0"/>
              </a:spcAft>
              <a:buClr>
                <a:schemeClr val="dk1"/>
              </a:buClr>
              <a:buSzPts val="500"/>
              <a:buNone/>
              <a:defRPr sz="500"/>
            </a:lvl8pPr>
            <a:lvl9pPr indent="-228600" lvl="8" marL="4114800" algn="l">
              <a:lnSpc>
                <a:spcPct val="100000"/>
              </a:lnSpc>
              <a:spcBef>
                <a:spcPts val="100"/>
              </a:spcBef>
              <a:spcAft>
                <a:spcPts val="0"/>
              </a:spcAft>
              <a:buClr>
                <a:schemeClr val="dk1"/>
              </a:buClr>
              <a:buSzPts val="500"/>
              <a:buNone/>
              <a:defRPr sz="500"/>
            </a:lvl9pPr>
          </a:lstStyle>
          <a:p/>
        </p:txBody>
      </p:sp>
      <p:sp>
        <p:nvSpPr>
          <p:cNvPr id="65" name="Google Shape;65;p2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6" name="Google Shape;66;p2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7" name="Google Shape;67;p2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0" name="Google Shape;70;p29"/>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71" name="Google Shape;71;p2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2" name="Google Shape;72;p2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3" name="Google Shape;73;p2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0"/>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6" name="Google Shape;76;p30"/>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77" name="Google Shape;77;p3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8" name="Google Shape;78;p3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9" name="Google Shape;79;p3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lnSpc>
                <a:spcPct val="100000"/>
              </a:lnSpc>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9pPr>
          </a:lstStyle>
          <a:p/>
        </p:txBody>
      </p:sp>
      <p:sp>
        <p:nvSpPr>
          <p:cNvPr id="7" name="Google Shape;7;p19"/>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lnSpc>
                <a:spcPct val="100000"/>
              </a:lnSpc>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lnSpc>
                <a:spcPct val="100000"/>
              </a:lnSpc>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8" name="Google Shape;8;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lnSpc>
                <a:spcPct val="100000"/>
              </a:lnSpc>
              <a:spcBef>
                <a:spcPts val="0"/>
              </a:spcBef>
              <a:spcAft>
                <a:spcPts val="0"/>
              </a:spcAft>
              <a:buClr>
                <a:srgbClr val="000000"/>
              </a:buClr>
              <a:buSzPts val="700"/>
              <a:buFont typeface="Arial"/>
              <a:buNone/>
              <a:defRPr b="0" i="0" sz="6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9" name="Google Shape;9;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lnSpc>
                <a:spcPct val="100000"/>
              </a:lnSpc>
              <a:spcBef>
                <a:spcPts val="0"/>
              </a:spcBef>
              <a:spcAft>
                <a:spcPts val="0"/>
              </a:spcAft>
              <a:buClr>
                <a:srgbClr val="000000"/>
              </a:buClr>
              <a:buSzPts val="700"/>
              <a:buFont typeface="Arial"/>
              <a:buNone/>
              <a:defRPr b="0" i="0" sz="6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10" name="Google Shape;10;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6.jpg"/><Relationship Id="rId5" Type="http://schemas.openxmlformats.org/officeDocument/2006/relationships/image" Target="../media/image12.png"/><Relationship Id="rId6" Type="http://schemas.openxmlformats.org/officeDocument/2006/relationships/image" Target="../media/image4.png"/><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5.png"/><Relationship Id="rId6" Type="http://schemas.openxmlformats.org/officeDocument/2006/relationships/image" Target="../media/image1.jpg"/><Relationship Id="rId7"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2.png"/><Relationship Id="rId7" Type="http://schemas.openxmlformats.org/officeDocument/2006/relationships/image" Target="../media/image1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13.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9.png"/><Relationship Id="rId5" Type="http://schemas.openxmlformats.org/officeDocument/2006/relationships/image" Target="../media/image12.png"/><Relationship Id="rId6"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22.png"/><Relationship Id="rId6"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9.png"/><Relationship Id="rId5" Type="http://schemas.openxmlformats.org/officeDocument/2006/relationships/image" Target="../media/image12.png"/><Relationship Id="rId6" Type="http://schemas.openxmlformats.org/officeDocument/2006/relationships/image" Target="../media/image3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14.png"/><Relationship Id="rId6"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16.png"/><Relationship Id="rId6"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1.png"/><Relationship Id="rId4" Type="http://schemas.openxmlformats.org/officeDocument/2006/relationships/image" Target="../media/image29.png"/><Relationship Id="rId5" Type="http://schemas.openxmlformats.org/officeDocument/2006/relationships/image" Target="../media/image12.png"/><Relationship Id="rId6" Type="http://schemas.openxmlformats.org/officeDocument/2006/relationships/image" Target="../media/image2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7.png"/><Relationship Id="rId4" Type="http://schemas.openxmlformats.org/officeDocument/2006/relationships/image" Target="../media/image9.png"/><Relationship Id="rId5" Type="http://schemas.openxmlformats.org/officeDocument/2006/relationships/image" Target="../media/image5.png"/><Relationship Id="rId6" Type="http://schemas.openxmlformats.org/officeDocument/2006/relationships/image" Target="../media/image38.png"/><Relationship Id="rId7"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9.png"/><Relationship Id="rId5" Type="http://schemas.openxmlformats.org/officeDocument/2006/relationships/image" Target="../media/image12.png"/><Relationship Id="rId6" Type="http://schemas.openxmlformats.org/officeDocument/2006/relationships/image" Target="../media/image28.png"/><Relationship Id="rId7" Type="http://schemas.openxmlformats.org/officeDocument/2006/relationships/image" Target="../media/image3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14.png"/><Relationship Id="rId6" Type="http://schemas.openxmlformats.org/officeDocument/2006/relationships/image" Target="../media/image3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9.png"/><Relationship Id="rId5" Type="http://schemas.openxmlformats.org/officeDocument/2006/relationships/image" Target="../media/image12.png"/><Relationship Id="rId6" Type="http://schemas.openxmlformats.org/officeDocument/2006/relationships/image" Target="../media/image23.png"/><Relationship Id="rId7" Type="http://schemas.openxmlformats.org/officeDocument/2006/relationships/image" Target="../media/image30.png"/><Relationship Id="rId8" Type="http://schemas.openxmlformats.org/officeDocument/2006/relationships/hyperlink" Target="https://www.kaggle.com/competitions/equity-post-HCT-survival-predictions/discussion/56655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5.png"/><Relationship Id="rId6" Type="http://schemas.openxmlformats.org/officeDocument/2006/relationships/image" Target="../media/image14.png"/><Relationship Id="rId7" Type="http://schemas.openxmlformats.org/officeDocument/2006/relationships/image" Target="../media/image3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6.png"/><Relationship Id="rId4" Type="http://schemas.openxmlformats.org/officeDocument/2006/relationships/image" Target="../media/image9.png"/><Relationship Id="rId5"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6.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8414192" y="1181929"/>
            <a:ext cx="1272216" cy="1272217"/>
          </a:xfrm>
          <a:custGeom>
            <a:rect b="b" l="l" r="r" t="t"/>
            <a:pathLst>
              <a:path extrusionOk="0" h="2544433" w="2544433">
                <a:moveTo>
                  <a:pt x="0" y="0"/>
                </a:moveTo>
                <a:lnTo>
                  <a:pt x="2544433" y="0"/>
                </a:lnTo>
                <a:lnTo>
                  <a:pt x="2544433" y="2544433"/>
                </a:lnTo>
                <a:lnTo>
                  <a:pt x="0" y="2544433"/>
                </a:lnTo>
                <a:lnTo>
                  <a:pt x="0" y="0"/>
                </a:lnTo>
                <a:close/>
              </a:path>
            </a:pathLst>
          </a:custGeom>
          <a:blipFill rotWithShape="1">
            <a:blip r:embed="rId3">
              <a:alphaModFix/>
            </a:blip>
            <a:stretch>
              <a:fillRect b="0" l="0" r="0" t="0"/>
            </a:stretch>
          </a:blipFill>
          <a:ln>
            <a:noFill/>
          </a:ln>
        </p:spPr>
      </p:sp>
      <p:sp>
        <p:nvSpPr>
          <p:cNvPr id="85" name="Google Shape;85;p1"/>
          <p:cNvSpPr/>
          <p:nvPr/>
        </p:nvSpPr>
        <p:spPr>
          <a:xfrm>
            <a:off x="5144225" y="1757986"/>
            <a:ext cx="5728085" cy="3078626"/>
          </a:xfrm>
          <a:custGeom>
            <a:rect b="b" l="l" r="r" t="t"/>
            <a:pathLst>
              <a:path extrusionOk="0" h="2887980" w="5373370">
                <a:moveTo>
                  <a:pt x="5373370" y="621030"/>
                </a:moveTo>
                <a:cubicBezTo>
                  <a:pt x="5373370" y="963930"/>
                  <a:pt x="5095240" y="1242060"/>
                  <a:pt x="4752340" y="1242060"/>
                </a:cubicBezTo>
                <a:lnTo>
                  <a:pt x="3628390" y="1242060"/>
                </a:lnTo>
                <a:cubicBezTo>
                  <a:pt x="3602990" y="1242060"/>
                  <a:pt x="3582670" y="1263650"/>
                  <a:pt x="3582670" y="1289050"/>
                </a:cubicBezTo>
                <a:cubicBezTo>
                  <a:pt x="3582670" y="1380490"/>
                  <a:pt x="3562350" y="1466850"/>
                  <a:pt x="3528060" y="1545590"/>
                </a:cubicBezTo>
                <a:cubicBezTo>
                  <a:pt x="3506470" y="1592580"/>
                  <a:pt x="3540760" y="1645920"/>
                  <a:pt x="3592830" y="1645920"/>
                </a:cubicBezTo>
                <a:cubicBezTo>
                  <a:pt x="3935730" y="1645920"/>
                  <a:pt x="4213860" y="1924050"/>
                  <a:pt x="4213860" y="2266950"/>
                </a:cubicBezTo>
                <a:cubicBezTo>
                  <a:pt x="4213860" y="2609850"/>
                  <a:pt x="3935730" y="2887980"/>
                  <a:pt x="3592830" y="2887980"/>
                </a:cubicBezTo>
                <a:lnTo>
                  <a:pt x="1252220" y="2887980"/>
                </a:lnTo>
                <a:cubicBezTo>
                  <a:pt x="909320" y="2887980"/>
                  <a:pt x="631190" y="2609850"/>
                  <a:pt x="631190" y="2266950"/>
                </a:cubicBezTo>
                <a:cubicBezTo>
                  <a:pt x="631190" y="2175510"/>
                  <a:pt x="651510" y="2089150"/>
                  <a:pt x="685800" y="2010410"/>
                </a:cubicBezTo>
                <a:cubicBezTo>
                  <a:pt x="707390" y="1963420"/>
                  <a:pt x="673100" y="1910080"/>
                  <a:pt x="621030" y="1910080"/>
                </a:cubicBezTo>
                <a:cubicBezTo>
                  <a:pt x="278130" y="1910080"/>
                  <a:pt x="0" y="1631950"/>
                  <a:pt x="0" y="1289050"/>
                </a:cubicBezTo>
                <a:cubicBezTo>
                  <a:pt x="0" y="946150"/>
                  <a:pt x="278130" y="668020"/>
                  <a:pt x="621030" y="668020"/>
                </a:cubicBezTo>
                <a:lnTo>
                  <a:pt x="1744980" y="668020"/>
                </a:lnTo>
                <a:cubicBezTo>
                  <a:pt x="1770380" y="668020"/>
                  <a:pt x="1790700" y="647700"/>
                  <a:pt x="1790700" y="622300"/>
                </a:cubicBezTo>
                <a:lnTo>
                  <a:pt x="1790700" y="621030"/>
                </a:lnTo>
                <a:cubicBezTo>
                  <a:pt x="1790700" y="278130"/>
                  <a:pt x="2068830" y="0"/>
                  <a:pt x="2411730" y="0"/>
                </a:cubicBezTo>
                <a:lnTo>
                  <a:pt x="4751070" y="0"/>
                </a:lnTo>
                <a:cubicBezTo>
                  <a:pt x="5095240" y="0"/>
                  <a:pt x="5373370" y="278130"/>
                  <a:pt x="5373370" y="621030"/>
                </a:cubicBezTo>
                <a:close/>
              </a:path>
            </a:pathLst>
          </a:custGeom>
          <a:blipFill rotWithShape="1">
            <a:blip r:embed="rId4">
              <a:alphaModFix amt="76000"/>
            </a:blip>
            <a:stretch>
              <a:fillRect b="0" l="-70861" r="0" t="0"/>
            </a:stretch>
          </a:blip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6" name="Google Shape;86;p1"/>
          <p:cNvGrpSpPr/>
          <p:nvPr/>
        </p:nvGrpSpPr>
        <p:grpSpPr>
          <a:xfrm>
            <a:off x="-568260" y="1563560"/>
            <a:ext cx="1297185" cy="2384536"/>
            <a:chOff x="0" y="-47625"/>
            <a:chExt cx="683291" cy="1256052"/>
          </a:xfrm>
        </p:grpSpPr>
        <p:sp>
          <p:nvSpPr>
            <p:cNvPr id="87" name="Google Shape;87;p1"/>
            <p:cNvSpPr/>
            <p:nvPr/>
          </p:nvSpPr>
          <p:spPr>
            <a:xfrm>
              <a:off x="0" y="0"/>
              <a:ext cx="683291" cy="1208427"/>
            </a:xfrm>
            <a:custGeom>
              <a:rect b="b" l="l" r="r" t="t"/>
              <a:pathLst>
                <a:path extrusionOk="0" h="1208427" w="683291">
                  <a:moveTo>
                    <a:pt x="152190" y="0"/>
                  </a:moveTo>
                  <a:lnTo>
                    <a:pt x="531100" y="0"/>
                  </a:lnTo>
                  <a:cubicBezTo>
                    <a:pt x="571464" y="0"/>
                    <a:pt x="610174" y="16034"/>
                    <a:pt x="638715" y="44576"/>
                  </a:cubicBezTo>
                  <a:cubicBezTo>
                    <a:pt x="667256" y="73117"/>
                    <a:pt x="683291" y="111827"/>
                    <a:pt x="683291" y="152190"/>
                  </a:cubicBezTo>
                  <a:lnTo>
                    <a:pt x="683291" y="1056237"/>
                  </a:lnTo>
                  <a:cubicBezTo>
                    <a:pt x="683291" y="1096600"/>
                    <a:pt x="667256" y="1135310"/>
                    <a:pt x="638715" y="1163852"/>
                  </a:cubicBezTo>
                  <a:cubicBezTo>
                    <a:pt x="610174" y="1192393"/>
                    <a:pt x="571464" y="1208427"/>
                    <a:pt x="531100" y="1208427"/>
                  </a:cubicBezTo>
                  <a:lnTo>
                    <a:pt x="152190" y="1208427"/>
                  </a:lnTo>
                  <a:cubicBezTo>
                    <a:pt x="111827" y="1208427"/>
                    <a:pt x="73117" y="1192393"/>
                    <a:pt x="44576" y="1163852"/>
                  </a:cubicBezTo>
                  <a:cubicBezTo>
                    <a:pt x="16034" y="1135310"/>
                    <a:pt x="0" y="1096600"/>
                    <a:pt x="0" y="1056237"/>
                  </a:cubicBezTo>
                  <a:lnTo>
                    <a:pt x="0" y="152190"/>
                  </a:lnTo>
                  <a:cubicBezTo>
                    <a:pt x="0" y="111827"/>
                    <a:pt x="16034" y="73117"/>
                    <a:pt x="44576" y="44576"/>
                  </a:cubicBezTo>
                  <a:cubicBezTo>
                    <a:pt x="73117" y="16034"/>
                    <a:pt x="111827" y="0"/>
                    <a:pt x="152190" y="0"/>
                  </a:cubicBezTo>
                  <a:close/>
                </a:path>
              </a:pathLst>
            </a:custGeom>
            <a:solidFill>
              <a:srgbClr val="5188CC">
                <a:alpha val="63529"/>
              </a:srgbClr>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
            <p:cNvSpPr txBox="1"/>
            <p:nvPr/>
          </p:nvSpPr>
          <p:spPr>
            <a:xfrm>
              <a:off x="0" y="-47625"/>
              <a:ext cx="683291" cy="1256052"/>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89" name="Google Shape;89;p1"/>
          <p:cNvSpPr/>
          <p:nvPr/>
        </p:nvSpPr>
        <p:spPr>
          <a:xfrm>
            <a:off x="514350" y="-1261156"/>
            <a:ext cx="2057400" cy="20574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sp>
        <p:nvSpPr>
          <p:cNvPr id="90" name="Google Shape;90;p1"/>
          <p:cNvSpPr/>
          <p:nvPr/>
        </p:nvSpPr>
        <p:spPr>
          <a:xfrm>
            <a:off x="5890852" y="1245423"/>
            <a:ext cx="512564" cy="512564"/>
          </a:xfrm>
          <a:custGeom>
            <a:rect b="b" l="l" r="r" t="t"/>
            <a:pathLst>
              <a:path extrusionOk="0" h="1025128" w="1025128">
                <a:moveTo>
                  <a:pt x="0" y="0"/>
                </a:moveTo>
                <a:lnTo>
                  <a:pt x="1025127" y="0"/>
                </a:lnTo>
                <a:lnTo>
                  <a:pt x="1025127" y="1025127"/>
                </a:lnTo>
                <a:lnTo>
                  <a:pt x="0" y="1025127"/>
                </a:lnTo>
                <a:lnTo>
                  <a:pt x="0" y="0"/>
                </a:lnTo>
                <a:close/>
              </a:path>
            </a:pathLst>
          </a:custGeom>
          <a:blipFill rotWithShape="1">
            <a:blip r:embed="rId5">
              <a:alphaModFix/>
            </a:blip>
            <a:stretch>
              <a:fillRect b="0" l="0" r="0" t="0"/>
            </a:stretch>
          </a:blipFill>
          <a:ln>
            <a:noFill/>
          </a:ln>
        </p:spPr>
      </p:sp>
      <p:sp>
        <p:nvSpPr>
          <p:cNvPr id="91" name="Google Shape;91;p1"/>
          <p:cNvSpPr/>
          <p:nvPr/>
        </p:nvSpPr>
        <p:spPr>
          <a:xfrm>
            <a:off x="3921903" y="4124309"/>
            <a:ext cx="2057400" cy="20574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sp>
        <p:nvSpPr>
          <p:cNvPr id="92" name="Google Shape;92;p1"/>
          <p:cNvSpPr/>
          <p:nvPr/>
        </p:nvSpPr>
        <p:spPr>
          <a:xfrm>
            <a:off x="7304159" y="-176170"/>
            <a:ext cx="580415" cy="406291"/>
          </a:xfrm>
          <a:custGeom>
            <a:rect b="b" l="l" r="r" t="t"/>
            <a:pathLst>
              <a:path extrusionOk="0" h="812581" w="1160831">
                <a:moveTo>
                  <a:pt x="0" y="0"/>
                </a:moveTo>
                <a:lnTo>
                  <a:pt x="1160831" y="0"/>
                </a:lnTo>
                <a:lnTo>
                  <a:pt x="1160831" y="812582"/>
                </a:lnTo>
                <a:lnTo>
                  <a:pt x="0" y="812582"/>
                </a:lnTo>
                <a:lnTo>
                  <a:pt x="0" y="0"/>
                </a:lnTo>
                <a:close/>
              </a:path>
            </a:pathLst>
          </a:custGeom>
          <a:blipFill rotWithShape="1">
            <a:blip r:embed="rId6">
              <a:alphaModFix/>
            </a:blip>
            <a:stretch>
              <a:fillRect b="0" l="0" r="0" t="0"/>
            </a:stretch>
          </a:blipFill>
          <a:ln>
            <a:noFill/>
          </a:ln>
        </p:spPr>
      </p:sp>
      <p:sp>
        <p:nvSpPr>
          <p:cNvPr id="93" name="Google Shape;93;p1"/>
          <p:cNvSpPr/>
          <p:nvPr/>
        </p:nvSpPr>
        <p:spPr>
          <a:xfrm>
            <a:off x="2940913" y="4924047"/>
            <a:ext cx="1419994" cy="438907"/>
          </a:xfrm>
          <a:custGeom>
            <a:rect b="b" l="l" r="r" t="t"/>
            <a:pathLst>
              <a:path extrusionOk="0" h="877815" w="2839989">
                <a:moveTo>
                  <a:pt x="0" y="0"/>
                </a:moveTo>
                <a:lnTo>
                  <a:pt x="2839989" y="0"/>
                </a:lnTo>
                <a:lnTo>
                  <a:pt x="2839989" y="877814"/>
                </a:lnTo>
                <a:lnTo>
                  <a:pt x="0" y="877814"/>
                </a:lnTo>
                <a:lnTo>
                  <a:pt x="0" y="0"/>
                </a:lnTo>
                <a:close/>
              </a:path>
            </a:pathLst>
          </a:custGeom>
          <a:blipFill rotWithShape="1">
            <a:blip r:embed="rId7">
              <a:alphaModFix amt="52999"/>
            </a:blip>
            <a:stretch>
              <a:fillRect b="0" l="0" r="0" t="0"/>
            </a:stretch>
          </a:blipFill>
          <a:ln>
            <a:noFill/>
          </a:ln>
        </p:spPr>
      </p:sp>
      <p:sp>
        <p:nvSpPr>
          <p:cNvPr id="94" name="Google Shape;94;p1"/>
          <p:cNvSpPr txBox="1"/>
          <p:nvPr/>
        </p:nvSpPr>
        <p:spPr>
          <a:xfrm>
            <a:off x="953716" y="1453538"/>
            <a:ext cx="6239400" cy="1805700"/>
          </a:xfrm>
          <a:prstGeom prst="rect">
            <a:avLst/>
          </a:prstGeom>
          <a:noFill/>
          <a:ln>
            <a:noFill/>
          </a:ln>
        </p:spPr>
        <p:txBody>
          <a:bodyPr anchorCtr="0" anchor="t" bIns="0" lIns="0" spcFirstLastPara="1" rIns="0" wrap="square" tIns="0">
            <a:spAutoFit/>
          </a:bodyPr>
          <a:lstStyle/>
          <a:p>
            <a:pPr indent="0" lvl="0" marL="0" marR="0" rtl="0" algn="l">
              <a:lnSpc>
                <a:spcPct val="103007"/>
              </a:lnSpc>
              <a:spcBef>
                <a:spcPts val="0"/>
              </a:spcBef>
              <a:spcAft>
                <a:spcPts val="0"/>
              </a:spcAft>
              <a:buClr>
                <a:srgbClr val="000000"/>
              </a:buClr>
              <a:buSzPts val="4100"/>
              <a:buFont typeface="Arial"/>
              <a:buNone/>
            </a:pPr>
            <a:r>
              <a:rPr b="1" i="0" lang="en" sz="4100" u="none" cap="none" strike="noStrike">
                <a:solidFill>
                  <a:srgbClr val="0E2F5F"/>
                </a:solidFill>
                <a:latin typeface="Barlow Condensed Black"/>
                <a:ea typeface="Barlow Condensed Black"/>
                <a:cs typeface="Barlow Condensed Black"/>
                <a:sym typeface="Barlow Condensed Black"/>
              </a:rPr>
              <a:t>POST-HCT SURGERY SURVIVAL: </a:t>
            </a:r>
            <a:endParaRPr b="0" i="0" sz="500" u="none" cap="none" strike="noStrike">
              <a:solidFill>
                <a:srgbClr val="000000"/>
              </a:solidFill>
              <a:latin typeface="Arial"/>
              <a:ea typeface="Arial"/>
              <a:cs typeface="Arial"/>
              <a:sym typeface="Arial"/>
            </a:endParaRPr>
          </a:p>
          <a:p>
            <a:pPr indent="0" lvl="0" marL="0" marR="0" rtl="0" algn="just">
              <a:lnSpc>
                <a:spcPct val="103003"/>
              </a:lnSpc>
              <a:spcBef>
                <a:spcPts val="0"/>
              </a:spcBef>
              <a:spcAft>
                <a:spcPts val="0"/>
              </a:spcAft>
              <a:buClr>
                <a:srgbClr val="000000"/>
              </a:buClr>
              <a:buSzPts val="3600"/>
              <a:buFont typeface="Arial"/>
              <a:buNone/>
            </a:pPr>
            <a:r>
              <a:rPr b="1" i="0" lang="en" sz="3600" u="none" cap="none" strike="noStrike">
                <a:solidFill>
                  <a:srgbClr val="0E2F5F"/>
                </a:solidFill>
                <a:latin typeface="Barlow Condensed Black"/>
                <a:ea typeface="Barlow Condensed Black"/>
                <a:cs typeface="Barlow Condensed Black"/>
                <a:sym typeface="Barlow Condensed Black"/>
              </a:rPr>
              <a:t>Analysis and Prediction</a:t>
            </a:r>
            <a:endParaRPr b="0" i="0" sz="500" u="none" cap="none" strike="noStrike">
              <a:solidFill>
                <a:srgbClr val="000000"/>
              </a:solidFill>
              <a:latin typeface="Arial"/>
              <a:ea typeface="Arial"/>
              <a:cs typeface="Arial"/>
              <a:sym typeface="Arial"/>
            </a:endParaRPr>
          </a:p>
          <a:p>
            <a:pPr indent="0" lvl="0" marL="0" marR="0" rtl="0" algn="just">
              <a:lnSpc>
                <a:spcPct val="171944"/>
              </a:lnSpc>
              <a:spcBef>
                <a:spcPts val="0"/>
              </a:spcBef>
              <a:spcAft>
                <a:spcPts val="0"/>
              </a:spcAft>
              <a:buClr>
                <a:srgbClr val="000000"/>
              </a:buClr>
              <a:buSzPts val="3800"/>
              <a:buFont typeface="Arial"/>
              <a:buNone/>
            </a:pPr>
            <a:r>
              <a:t/>
            </a:r>
            <a:endParaRPr b="1" i="0" sz="3800" u="none" cap="none" strike="noStrike">
              <a:solidFill>
                <a:srgbClr val="0E2F5F"/>
              </a:solidFill>
              <a:latin typeface="Barlow Condensed Black"/>
              <a:ea typeface="Barlow Condensed Black"/>
              <a:cs typeface="Barlow Condensed Black"/>
              <a:sym typeface="Barlow Condensed Black"/>
            </a:endParaRPr>
          </a:p>
        </p:txBody>
      </p:sp>
      <p:sp>
        <p:nvSpPr>
          <p:cNvPr id="95" name="Google Shape;95;p1"/>
          <p:cNvSpPr txBox="1"/>
          <p:nvPr/>
        </p:nvSpPr>
        <p:spPr>
          <a:xfrm>
            <a:off x="1179542" y="3277860"/>
            <a:ext cx="3657600" cy="261600"/>
          </a:xfrm>
          <a:prstGeom prst="rect">
            <a:avLst/>
          </a:prstGeom>
          <a:noFill/>
          <a:ln>
            <a:noFill/>
          </a:ln>
        </p:spPr>
        <p:txBody>
          <a:bodyPr anchorCtr="0" anchor="t" bIns="0" lIns="0" spcFirstLastPara="1" rIns="0" wrap="square" tIns="0">
            <a:spAutoFit/>
          </a:bodyPr>
          <a:lstStyle/>
          <a:p>
            <a:pPr indent="0" lvl="0" marL="0" marR="0" rtl="0" algn="l">
              <a:lnSpc>
                <a:spcPct val="131000"/>
              </a:lnSpc>
              <a:spcBef>
                <a:spcPts val="0"/>
              </a:spcBef>
              <a:spcAft>
                <a:spcPts val="0"/>
              </a:spcAft>
              <a:buClr>
                <a:srgbClr val="000000"/>
              </a:buClr>
              <a:buSzPts val="1700"/>
              <a:buFont typeface="Arial"/>
              <a:buNone/>
            </a:pPr>
            <a:r>
              <a:rPr b="1" i="0" lang="en" sz="1700" u="none" cap="none" strike="noStrike">
                <a:solidFill>
                  <a:srgbClr val="021828"/>
                </a:solidFill>
                <a:latin typeface="Arial"/>
                <a:ea typeface="Arial"/>
                <a:cs typeface="Arial"/>
                <a:sym typeface="Arial"/>
              </a:rPr>
              <a:t>Group 521</a:t>
            </a:r>
            <a:endParaRPr b="0" i="0" sz="400" u="none" cap="none" strike="noStrike">
              <a:solidFill>
                <a:srgbClr val="000000"/>
              </a:solidFill>
              <a:latin typeface="Arial"/>
              <a:ea typeface="Arial"/>
              <a:cs typeface="Arial"/>
              <a:sym typeface="Arial"/>
            </a:endParaRPr>
          </a:p>
        </p:txBody>
      </p:sp>
      <p:sp>
        <p:nvSpPr>
          <p:cNvPr id="96" name="Google Shape;96;p1"/>
          <p:cNvSpPr txBox="1"/>
          <p:nvPr/>
        </p:nvSpPr>
        <p:spPr>
          <a:xfrm>
            <a:off x="1479399" y="3691425"/>
            <a:ext cx="1692000" cy="1354500"/>
          </a:xfrm>
          <a:prstGeom prst="rect">
            <a:avLst/>
          </a:prstGeom>
          <a:noFill/>
          <a:ln>
            <a:noFill/>
          </a:ln>
        </p:spPr>
        <p:txBody>
          <a:bodyPr anchorCtr="0" anchor="t" bIns="0" lIns="0" spcFirstLastPara="1" rIns="0" wrap="square" tIns="0">
            <a:spAutoFit/>
          </a:bodyPr>
          <a:lstStyle/>
          <a:p>
            <a:pPr indent="0" lvl="0" marL="0" marR="0" rtl="0" algn="l">
              <a:lnSpc>
                <a:spcPct val="140009"/>
              </a:lnSpc>
              <a:spcBef>
                <a:spcPts val="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 Behafarin Emam</a:t>
            </a:r>
            <a:endParaRPr b="0" i="0" sz="700" u="none" cap="none" strike="noStrike">
              <a:solidFill>
                <a:srgbClr val="000000"/>
              </a:solidFill>
              <a:latin typeface="Arial"/>
              <a:ea typeface="Arial"/>
              <a:cs typeface="Arial"/>
              <a:sym typeface="Arial"/>
            </a:endParaRPr>
          </a:p>
          <a:p>
            <a:pPr indent="0" lvl="0" marL="0" marR="0" rtl="0" algn="l">
              <a:lnSpc>
                <a:spcPct val="140009"/>
              </a:lnSpc>
              <a:spcBef>
                <a:spcPts val="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 - Likhita Nallapati</a:t>
            </a:r>
            <a:endParaRPr b="0" i="0" sz="700" u="none" cap="none" strike="noStrike">
              <a:solidFill>
                <a:srgbClr val="000000"/>
              </a:solidFill>
              <a:latin typeface="Arial"/>
              <a:ea typeface="Arial"/>
              <a:cs typeface="Arial"/>
              <a:sym typeface="Arial"/>
            </a:endParaRPr>
          </a:p>
          <a:p>
            <a:pPr indent="0" lvl="0" marL="0" marR="0" rtl="0" algn="l">
              <a:lnSpc>
                <a:spcPct val="140009"/>
              </a:lnSpc>
              <a:spcBef>
                <a:spcPts val="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 - Shriya Rawal</a:t>
            </a:r>
            <a:endParaRPr b="0" i="0" sz="700" u="none" cap="none" strike="noStrike">
              <a:solidFill>
                <a:srgbClr val="000000"/>
              </a:solidFill>
              <a:latin typeface="Arial"/>
              <a:ea typeface="Arial"/>
              <a:cs typeface="Arial"/>
              <a:sym typeface="Arial"/>
            </a:endParaRPr>
          </a:p>
          <a:p>
            <a:pPr indent="0" lvl="0" marL="0" marR="0" rtl="0" algn="l">
              <a:lnSpc>
                <a:spcPct val="140009"/>
              </a:lnSpc>
              <a:spcBef>
                <a:spcPts val="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 - Ameen Aghazadeh</a:t>
            </a:r>
            <a:endParaRPr b="0" i="0" sz="700" u="none" cap="none" strike="noStrike">
              <a:solidFill>
                <a:srgbClr val="000000"/>
              </a:solidFill>
              <a:latin typeface="Arial"/>
              <a:ea typeface="Arial"/>
              <a:cs typeface="Arial"/>
              <a:sym typeface="Arial"/>
            </a:endParaRPr>
          </a:p>
          <a:p>
            <a:pPr indent="0" lvl="0" marL="0" marR="0" rtl="0" algn="l">
              <a:lnSpc>
                <a:spcPct val="140009"/>
              </a:lnSpc>
              <a:spcBef>
                <a:spcPts val="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 </a:t>
            </a:r>
            <a:endParaRPr b="0" i="0" sz="700" u="none" cap="none" strike="noStrike">
              <a:solidFill>
                <a:srgbClr val="000000"/>
              </a:solidFill>
              <a:latin typeface="Arial"/>
              <a:ea typeface="Arial"/>
              <a:cs typeface="Arial"/>
              <a:sym typeface="Arial"/>
            </a:endParaRPr>
          </a:p>
          <a:p>
            <a:pPr indent="0" lvl="0" marL="0" marR="0" rtl="0" algn="ctr">
              <a:lnSpc>
                <a:spcPct val="133518"/>
              </a:lnSpc>
              <a:spcBef>
                <a:spcPts val="0"/>
              </a:spcBef>
              <a:spcAft>
                <a:spcPts val="0"/>
              </a:spcAft>
              <a:buClr>
                <a:srgbClr val="000000"/>
              </a:buClr>
              <a:buSzPts val="1100"/>
              <a:buFont typeface="Arial"/>
              <a:buNone/>
            </a:pPr>
            <a:r>
              <a:t/>
            </a:r>
            <a:endParaRPr b="1" i="0" sz="11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grpSp>
        <p:nvGrpSpPr>
          <p:cNvPr id="101" name="Google Shape;101;p2"/>
          <p:cNvGrpSpPr/>
          <p:nvPr/>
        </p:nvGrpSpPr>
        <p:grpSpPr>
          <a:xfrm>
            <a:off x="514400" y="2006875"/>
            <a:ext cx="2884838" cy="3184184"/>
            <a:chOff x="0" y="-47625"/>
            <a:chExt cx="1488104" cy="1600173"/>
          </a:xfrm>
        </p:grpSpPr>
        <p:sp>
          <p:nvSpPr>
            <p:cNvPr id="102" name="Google Shape;102;p2"/>
            <p:cNvSpPr/>
            <p:nvPr/>
          </p:nvSpPr>
          <p:spPr>
            <a:xfrm>
              <a:off x="0" y="0"/>
              <a:ext cx="1488104" cy="1552548"/>
            </a:xfrm>
            <a:custGeom>
              <a:rect b="b" l="l" r="r" t="t"/>
              <a:pathLst>
                <a:path extrusionOk="0" h="1552548" w="1488104">
                  <a:moveTo>
                    <a:pt x="0" y="0"/>
                  </a:moveTo>
                  <a:lnTo>
                    <a:pt x="1488104" y="0"/>
                  </a:lnTo>
                  <a:lnTo>
                    <a:pt x="1488104" y="1552548"/>
                  </a:lnTo>
                  <a:lnTo>
                    <a:pt x="0" y="1552548"/>
                  </a:lnTo>
                  <a:close/>
                </a:path>
              </a:pathLst>
            </a:custGeom>
            <a:solidFill>
              <a:srgbClr val="E1EDFC"/>
            </a:solidFill>
            <a:ln>
              <a:noFill/>
            </a:ln>
          </p:spPr>
        </p:sp>
        <p:sp>
          <p:nvSpPr>
            <p:cNvPr id="103" name="Google Shape;103;p2"/>
            <p:cNvSpPr txBox="1"/>
            <p:nvPr/>
          </p:nvSpPr>
          <p:spPr>
            <a:xfrm>
              <a:off x="0" y="-47625"/>
              <a:ext cx="1488104" cy="1600173"/>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04" name="Google Shape;104;p2"/>
          <p:cNvSpPr/>
          <p:nvPr/>
        </p:nvSpPr>
        <p:spPr>
          <a:xfrm>
            <a:off x="6551539" y="4702245"/>
            <a:ext cx="1381960" cy="441256"/>
          </a:xfrm>
          <a:custGeom>
            <a:rect b="b" l="l" r="r" t="t"/>
            <a:pathLst>
              <a:path extrusionOk="0" h="882511" w="2763919">
                <a:moveTo>
                  <a:pt x="0" y="0"/>
                </a:moveTo>
                <a:lnTo>
                  <a:pt x="2763919" y="0"/>
                </a:lnTo>
                <a:lnTo>
                  <a:pt x="2763919" y="882511"/>
                </a:lnTo>
                <a:lnTo>
                  <a:pt x="0" y="882511"/>
                </a:lnTo>
                <a:lnTo>
                  <a:pt x="0" y="0"/>
                </a:lnTo>
                <a:close/>
              </a:path>
            </a:pathLst>
          </a:custGeom>
          <a:blipFill rotWithShape="1">
            <a:blip r:embed="rId3">
              <a:alphaModFix/>
            </a:blip>
            <a:stretch>
              <a:fillRect b="0" l="0" r="0" t="0"/>
            </a:stretch>
          </a:blipFill>
          <a:ln>
            <a:noFill/>
          </a:ln>
        </p:spPr>
      </p:sp>
      <p:sp>
        <p:nvSpPr>
          <p:cNvPr id="105" name="Google Shape;105;p2"/>
          <p:cNvSpPr/>
          <p:nvPr/>
        </p:nvSpPr>
        <p:spPr>
          <a:xfrm>
            <a:off x="7367014" y="3366514"/>
            <a:ext cx="2525272" cy="2525272"/>
          </a:xfrm>
          <a:custGeom>
            <a:rect b="b" l="l" r="r" t="t"/>
            <a:pathLst>
              <a:path extrusionOk="0" h="5050544" w="5050544">
                <a:moveTo>
                  <a:pt x="0" y="0"/>
                </a:moveTo>
                <a:lnTo>
                  <a:pt x="5050544" y="0"/>
                </a:lnTo>
                <a:lnTo>
                  <a:pt x="5050544" y="5050544"/>
                </a:lnTo>
                <a:lnTo>
                  <a:pt x="0" y="5050544"/>
                </a:lnTo>
                <a:lnTo>
                  <a:pt x="0" y="0"/>
                </a:lnTo>
                <a:close/>
              </a:path>
            </a:pathLst>
          </a:custGeom>
          <a:blipFill rotWithShape="1">
            <a:blip r:embed="rId4">
              <a:alphaModFix/>
            </a:blip>
            <a:stretch>
              <a:fillRect b="0" l="0" r="0" t="0"/>
            </a:stretch>
          </a:blipFill>
          <a:ln>
            <a:noFill/>
          </a:ln>
        </p:spPr>
      </p:sp>
      <p:sp>
        <p:nvSpPr>
          <p:cNvPr id="106" name="Google Shape;106;p2"/>
          <p:cNvSpPr/>
          <p:nvPr/>
        </p:nvSpPr>
        <p:spPr>
          <a:xfrm>
            <a:off x="8242442" y="1293631"/>
            <a:ext cx="512564" cy="512564"/>
          </a:xfrm>
          <a:custGeom>
            <a:rect b="b" l="l" r="r" t="t"/>
            <a:pathLst>
              <a:path extrusionOk="0" h="1025128" w="1025128">
                <a:moveTo>
                  <a:pt x="0" y="0"/>
                </a:moveTo>
                <a:lnTo>
                  <a:pt x="1025128" y="0"/>
                </a:lnTo>
                <a:lnTo>
                  <a:pt x="1025128" y="1025128"/>
                </a:lnTo>
                <a:lnTo>
                  <a:pt x="0" y="1025128"/>
                </a:lnTo>
                <a:lnTo>
                  <a:pt x="0" y="0"/>
                </a:lnTo>
                <a:close/>
              </a:path>
            </a:pathLst>
          </a:custGeom>
          <a:blipFill rotWithShape="1">
            <a:blip r:embed="rId4">
              <a:alphaModFix/>
            </a:blip>
            <a:stretch>
              <a:fillRect b="0" l="0" r="0" t="0"/>
            </a:stretch>
          </a:blipFill>
          <a:ln>
            <a:noFill/>
          </a:ln>
        </p:spPr>
      </p:sp>
      <p:sp>
        <p:nvSpPr>
          <p:cNvPr id="107" name="Google Shape;107;p2"/>
          <p:cNvSpPr/>
          <p:nvPr/>
        </p:nvSpPr>
        <p:spPr>
          <a:xfrm>
            <a:off x="7631624" y="1438815"/>
            <a:ext cx="741744" cy="229267"/>
          </a:xfrm>
          <a:custGeom>
            <a:rect b="b" l="l" r="r" t="t"/>
            <a:pathLst>
              <a:path extrusionOk="0" h="458533" w="1483489">
                <a:moveTo>
                  <a:pt x="0" y="0"/>
                </a:moveTo>
                <a:lnTo>
                  <a:pt x="1483489" y="0"/>
                </a:lnTo>
                <a:lnTo>
                  <a:pt x="1483489" y="458533"/>
                </a:lnTo>
                <a:lnTo>
                  <a:pt x="0" y="458533"/>
                </a:lnTo>
                <a:lnTo>
                  <a:pt x="0" y="0"/>
                </a:lnTo>
                <a:close/>
              </a:path>
            </a:pathLst>
          </a:custGeom>
          <a:blipFill rotWithShape="1">
            <a:blip r:embed="rId5">
              <a:alphaModFix/>
            </a:blip>
            <a:stretch>
              <a:fillRect b="0" l="0" r="0" t="0"/>
            </a:stretch>
          </a:blipFill>
          <a:ln>
            <a:noFill/>
          </a:ln>
        </p:spPr>
      </p:sp>
      <p:sp>
        <p:nvSpPr>
          <p:cNvPr id="108" name="Google Shape;108;p2"/>
          <p:cNvSpPr/>
          <p:nvPr/>
        </p:nvSpPr>
        <p:spPr>
          <a:xfrm>
            <a:off x="429650" y="1147625"/>
            <a:ext cx="3034727" cy="1362099"/>
          </a:xfrm>
          <a:custGeom>
            <a:rect b="b" l="l" r="r" t="t"/>
            <a:pathLst>
              <a:path extrusionOk="0" h="2724197" w="5646004">
                <a:moveTo>
                  <a:pt x="0" y="0"/>
                </a:moveTo>
                <a:lnTo>
                  <a:pt x="5646004" y="0"/>
                </a:lnTo>
                <a:lnTo>
                  <a:pt x="5646004" y="2724197"/>
                </a:lnTo>
                <a:lnTo>
                  <a:pt x="0" y="2724197"/>
                </a:lnTo>
                <a:lnTo>
                  <a:pt x="0" y="0"/>
                </a:lnTo>
                <a:close/>
              </a:path>
            </a:pathLst>
          </a:custGeom>
          <a:blipFill rotWithShape="1">
            <a:blip r:embed="rId6">
              <a:alphaModFix/>
            </a:blip>
            <a:stretch>
              <a:fillRect b="-16143" l="-622" r="-448" t="-33416"/>
            </a:stretch>
          </a:blipFill>
          <a:ln>
            <a:noFill/>
          </a:ln>
        </p:spPr>
      </p:sp>
      <p:grpSp>
        <p:nvGrpSpPr>
          <p:cNvPr id="109" name="Google Shape;109;p2"/>
          <p:cNvGrpSpPr/>
          <p:nvPr/>
        </p:nvGrpSpPr>
        <p:grpSpPr>
          <a:xfrm>
            <a:off x="3264234" y="979752"/>
            <a:ext cx="609025" cy="627758"/>
            <a:chOff x="0" y="0"/>
            <a:chExt cx="788546" cy="812800"/>
          </a:xfrm>
        </p:grpSpPr>
        <p:sp>
          <p:nvSpPr>
            <p:cNvPr id="110" name="Google Shape;110;p2"/>
            <p:cNvSpPr/>
            <p:nvPr/>
          </p:nvSpPr>
          <p:spPr>
            <a:xfrm>
              <a:off x="0" y="0"/>
              <a:ext cx="788546" cy="812800"/>
            </a:xfrm>
            <a:custGeom>
              <a:rect b="b" l="l" r="r" t="t"/>
              <a:pathLst>
                <a:path extrusionOk="0" h="812800" w="788546">
                  <a:moveTo>
                    <a:pt x="394273" y="0"/>
                  </a:moveTo>
                  <a:cubicBezTo>
                    <a:pt x="176522" y="0"/>
                    <a:pt x="0" y="181951"/>
                    <a:pt x="0" y="406400"/>
                  </a:cubicBezTo>
                  <a:cubicBezTo>
                    <a:pt x="0" y="630849"/>
                    <a:pt x="176522" y="812800"/>
                    <a:pt x="394273" y="812800"/>
                  </a:cubicBezTo>
                  <a:cubicBezTo>
                    <a:pt x="612024" y="812800"/>
                    <a:pt x="788546" y="630849"/>
                    <a:pt x="788546" y="406400"/>
                  </a:cubicBezTo>
                  <a:cubicBezTo>
                    <a:pt x="788546" y="181951"/>
                    <a:pt x="612024" y="0"/>
                    <a:pt x="394273" y="0"/>
                  </a:cubicBezTo>
                  <a:close/>
                </a:path>
              </a:pathLst>
            </a:custGeom>
            <a:solidFill>
              <a:srgbClr val="5188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
            <p:cNvSpPr txBox="1"/>
            <p:nvPr/>
          </p:nvSpPr>
          <p:spPr>
            <a:xfrm>
              <a:off x="73926" y="28575"/>
              <a:ext cx="640694"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12" name="Google Shape;112;p2"/>
          <p:cNvSpPr/>
          <p:nvPr/>
        </p:nvSpPr>
        <p:spPr>
          <a:xfrm>
            <a:off x="3471081" y="1147618"/>
            <a:ext cx="195332" cy="292026"/>
          </a:xfrm>
          <a:custGeom>
            <a:rect b="b" l="l" r="r" t="t"/>
            <a:pathLst>
              <a:path extrusionOk="0" h="584053" w="390663">
                <a:moveTo>
                  <a:pt x="0" y="0"/>
                </a:moveTo>
                <a:lnTo>
                  <a:pt x="390662" y="0"/>
                </a:lnTo>
                <a:lnTo>
                  <a:pt x="390662" y="584053"/>
                </a:lnTo>
                <a:lnTo>
                  <a:pt x="0" y="584053"/>
                </a:lnTo>
                <a:lnTo>
                  <a:pt x="0" y="0"/>
                </a:lnTo>
                <a:close/>
              </a:path>
            </a:pathLst>
          </a:custGeom>
          <a:blipFill rotWithShape="1">
            <a:blip r:embed="rId7">
              <a:alphaModFix/>
            </a:blip>
            <a:stretch>
              <a:fillRect b="0" l="0" r="0" t="0"/>
            </a:stretch>
          </a:blipFill>
          <a:ln>
            <a:noFill/>
          </a:ln>
        </p:spPr>
      </p:sp>
      <p:sp>
        <p:nvSpPr>
          <p:cNvPr id="113" name="Google Shape;113;p2"/>
          <p:cNvSpPr txBox="1"/>
          <p:nvPr/>
        </p:nvSpPr>
        <p:spPr>
          <a:xfrm>
            <a:off x="3779175" y="1941025"/>
            <a:ext cx="4856100" cy="1736400"/>
          </a:xfrm>
          <a:prstGeom prst="rect">
            <a:avLst/>
          </a:prstGeom>
          <a:noFill/>
          <a:ln>
            <a:noFill/>
          </a:ln>
        </p:spPr>
        <p:txBody>
          <a:bodyPr anchorCtr="0" anchor="t" bIns="0" lIns="0" spcFirstLastPara="1" rIns="0" wrap="square" tIns="0">
            <a:spAutoFit/>
          </a:bodyPr>
          <a:lstStyle/>
          <a:p>
            <a:pPr indent="-127000" lvl="1" marL="254000" marR="0" rtl="0" algn="just">
              <a:lnSpc>
                <a:spcPct val="140000"/>
              </a:lnSpc>
              <a:spcBef>
                <a:spcPts val="0"/>
              </a:spcBef>
              <a:spcAft>
                <a:spcPts val="0"/>
              </a:spcAft>
              <a:buClr>
                <a:srgbClr val="021828"/>
              </a:buClr>
              <a:buSzPts val="1200"/>
              <a:buFont typeface="Arial"/>
              <a:buChar char="•"/>
            </a:pPr>
            <a:r>
              <a:rPr b="1" i="0" lang="en" sz="1200" u="none" cap="none" strike="noStrike">
                <a:solidFill>
                  <a:srgbClr val="021828"/>
                </a:solidFill>
                <a:latin typeface="Arial"/>
                <a:ea typeface="Arial"/>
                <a:cs typeface="Arial"/>
                <a:sym typeface="Arial"/>
              </a:rPr>
              <a:t>Inspired by  </a:t>
            </a:r>
            <a:r>
              <a:rPr b="1" i="0" lang="en" sz="1200" u="sng" cap="none" strike="noStrike">
                <a:solidFill>
                  <a:srgbClr val="021828"/>
                </a:solidFill>
                <a:latin typeface="Arial"/>
                <a:ea typeface="Arial"/>
                <a:cs typeface="Arial"/>
                <a:sym typeface="Arial"/>
              </a:rPr>
              <a:t>Kaggle Competition</a:t>
            </a:r>
            <a:r>
              <a:rPr b="1" i="0" lang="en" sz="1200" u="none" cap="none" strike="noStrike">
                <a:solidFill>
                  <a:srgbClr val="021828"/>
                </a:solidFill>
                <a:latin typeface="Arial"/>
                <a:ea typeface="Arial"/>
                <a:cs typeface="Arial"/>
                <a:sym typeface="Arial"/>
              </a:rPr>
              <a:t> on Post-Hematopoietic Cell Transplantation (HCT) survival predictions</a:t>
            </a:r>
            <a:endParaRPr b="0" i="0" sz="7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200"/>
              <a:buFont typeface="Arial"/>
              <a:buNone/>
            </a:pPr>
            <a:r>
              <a:t/>
            </a:r>
            <a:endParaRPr b="1" i="0" sz="1200" u="none" cap="none" strike="noStrike">
              <a:solidFill>
                <a:srgbClr val="021828"/>
              </a:solidFill>
              <a:latin typeface="Arial"/>
              <a:ea typeface="Arial"/>
              <a:cs typeface="Arial"/>
              <a:sym typeface="Arial"/>
            </a:endParaRPr>
          </a:p>
          <a:p>
            <a:pPr indent="-127000" lvl="1" marL="254000" marR="0" rtl="0" algn="just">
              <a:lnSpc>
                <a:spcPct val="140000"/>
              </a:lnSpc>
              <a:spcBef>
                <a:spcPts val="0"/>
              </a:spcBef>
              <a:spcAft>
                <a:spcPts val="0"/>
              </a:spcAft>
              <a:buClr>
                <a:srgbClr val="021828"/>
              </a:buClr>
              <a:buSzPts val="1200"/>
              <a:buFont typeface="Arial"/>
              <a:buChar char="•"/>
            </a:pPr>
            <a:r>
              <a:rPr b="1" i="0" lang="en" sz="1200" u="none" cap="none" strike="noStrike">
                <a:solidFill>
                  <a:srgbClr val="021828"/>
                </a:solidFill>
                <a:latin typeface="Arial"/>
                <a:ea typeface="Arial"/>
                <a:cs typeface="Arial"/>
                <a:sym typeface="Arial"/>
              </a:rPr>
              <a:t>Our objective is to identify the factors that most significantly affect survival outcomes post-transplant, which can help tailor treatment plans and improve patient prognosis.</a:t>
            </a:r>
            <a:endParaRPr b="0" i="0" sz="700" u="none" cap="none" strike="noStrike">
              <a:solidFill>
                <a:srgbClr val="000000"/>
              </a:solidFill>
              <a:latin typeface="Arial"/>
              <a:ea typeface="Arial"/>
              <a:cs typeface="Arial"/>
              <a:sym typeface="Arial"/>
            </a:endParaRPr>
          </a:p>
          <a:p>
            <a:pPr indent="0" lvl="0" marL="0" marR="0" rtl="0" algn="just">
              <a:lnSpc>
                <a:spcPct val="128332"/>
              </a:lnSpc>
              <a:spcBef>
                <a:spcPts val="0"/>
              </a:spcBef>
              <a:spcAft>
                <a:spcPts val="0"/>
              </a:spcAft>
              <a:buClr>
                <a:srgbClr val="000000"/>
              </a:buClr>
              <a:buSzPts val="1200"/>
              <a:buFont typeface="Arial"/>
              <a:buNone/>
            </a:pPr>
            <a:r>
              <a:t/>
            </a:r>
            <a:endParaRPr b="1" i="0" sz="1200" u="none" cap="none" strike="noStrike">
              <a:solidFill>
                <a:srgbClr val="021828"/>
              </a:solidFill>
              <a:latin typeface="Arial"/>
              <a:ea typeface="Arial"/>
              <a:cs typeface="Arial"/>
              <a:sym typeface="Arial"/>
            </a:endParaRPr>
          </a:p>
        </p:txBody>
      </p:sp>
      <p:sp>
        <p:nvSpPr>
          <p:cNvPr id="114" name="Google Shape;114;p2"/>
          <p:cNvSpPr txBox="1"/>
          <p:nvPr/>
        </p:nvSpPr>
        <p:spPr>
          <a:xfrm>
            <a:off x="4014881" y="1004745"/>
            <a:ext cx="2452492" cy="548704"/>
          </a:xfrm>
          <a:prstGeom prst="rect">
            <a:avLst/>
          </a:prstGeom>
          <a:noFill/>
          <a:ln>
            <a:noFill/>
          </a:ln>
        </p:spPr>
        <p:txBody>
          <a:bodyPr anchorCtr="0" anchor="t" bIns="0" lIns="0" spcFirstLastPara="1" rIns="0" wrap="square" tIns="0">
            <a:spAutoFit/>
          </a:bodyPr>
          <a:lstStyle/>
          <a:p>
            <a:pPr indent="0" lvl="0" marL="0" marR="0" rtl="0" algn="l">
              <a:lnSpc>
                <a:spcPct val="127004"/>
              </a:lnSpc>
              <a:spcBef>
                <a:spcPts val="0"/>
              </a:spcBef>
              <a:spcAft>
                <a:spcPts val="0"/>
              </a:spcAft>
              <a:buClr>
                <a:srgbClr val="000000"/>
              </a:buClr>
              <a:buSzPts val="3100"/>
              <a:buFont typeface="Arial"/>
              <a:buNone/>
            </a:pPr>
            <a:r>
              <a:rPr b="1" i="0" lang="en" sz="3100" u="none" cap="none" strike="noStrike">
                <a:solidFill>
                  <a:srgbClr val="0E2F5F"/>
                </a:solidFill>
                <a:latin typeface="Arial"/>
                <a:ea typeface="Arial"/>
                <a:cs typeface="Arial"/>
                <a:sym typeface="Arial"/>
              </a:rPr>
              <a:t>Overview</a:t>
            </a:r>
            <a:endParaRPr b="0" i="0" sz="700" u="none" cap="none" strike="noStrike">
              <a:solidFill>
                <a:srgbClr val="000000"/>
              </a:solidFill>
              <a:latin typeface="Arial"/>
              <a:ea typeface="Arial"/>
              <a:cs typeface="Arial"/>
              <a:sym typeface="Arial"/>
            </a:endParaRPr>
          </a:p>
        </p:txBody>
      </p:sp>
      <p:sp>
        <p:nvSpPr>
          <p:cNvPr id="115" name="Google Shape;115;p2"/>
          <p:cNvSpPr txBox="1"/>
          <p:nvPr/>
        </p:nvSpPr>
        <p:spPr>
          <a:xfrm>
            <a:off x="514350" y="2675550"/>
            <a:ext cx="2825100" cy="2181000"/>
          </a:xfrm>
          <a:prstGeom prst="rect">
            <a:avLst/>
          </a:prstGeom>
          <a:noFill/>
          <a:ln>
            <a:noFill/>
          </a:ln>
        </p:spPr>
        <p:txBody>
          <a:bodyPr anchorCtr="0" anchor="t" bIns="0" lIns="0" spcFirstLastPara="1" rIns="0" wrap="square" tIns="0">
            <a:spAutoFit/>
          </a:bodyPr>
          <a:lstStyle/>
          <a:p>
            <a:pPr indent="0" lvl="0" marL="0" marR="0" rtl="0" algn="ctr">
              <a:lnSpc>
                <a:spcPct val="140049"/>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What is Hematopoietic Stem Cell Transplantation ?</a:t>
            </a:r>
            <a:endParaRPr b="1" i="0" sz="1200" u="none" cap="none" strike="noStrike">
              <a:solidFill>
                <a:srgbClr val="000000"/>
              </a:solidFill>
              <a:latin typeface="Arial"/>
              <a:ea typeface="Arial"/>
              <a:cs typeface="Arial"/>
              <a:sym typeface="Arial"/>
            </a:endParaRPr>
          </a:p>
          <a:p>
            <a:pPr indent="-101600" lvl="1" marL="215900" marR="0" rtl="0" algn="l">
              <a:lnSpc>
                <a:spcPct val="140127"/>
              </a:lnSpc>
              <a:spcBef>
                <a:spcPts val="0"/>
              </a:spcBef>
              <a:spcAft>
                <a:spcPts val="0"/>
              </a:spcAft>
              <a:buClr>
                <a:srgbClr val="000000"/>
              </a:buClr>
              <a:buSzPts val="1000"/>
              <a:buFont typeface="Arial"/>
              <a:buChar char="•"/>
            </a:pPr>
            <a:r>
              <a:rPr b="1" i="0" lang="en" sz="1000" u="none" cap="none" strike="noStrike">
                <a:solidFill>
                  <a:srgbClr val="000000"/>
                </a:solidFill>
                <a:latin typeface="Arial"/>
                <a:ea typeface="Arial"/>
                <a:cs typeface="Arial"/>
                <a:sym typeface="Arial"/>
              </a:rPr>
              <a:t>HCT is a medical procedure that replaces damaged or diseased blood-forming cells with healthy ones</a:t>
            </a:r>
            <a:endParaRPr b="0" i="0" sz="700" u="none" cap="none" strike="noStrike">
              <a:solidFill>
                <a:srgbClr val="000000"/>
              </a:solidFill>
              <a:latin typeface="Arial"/>
              <a:ea typeface="Arial"/>
              <a:cs typeface="Arial"/>
              <a:sym typeface="Arial"/>
            </a:endParaRPr>
          </a:p>
          <a:p>
            <a:pPr indent="0" lvl="0" marL="0" marR="0" rtl="0" algn="l">
              <a:lnSpc>
                <a:spcPct val="140058"/>
              </a:lnSpc>
              <a:spcBef>
                <a:spcPts val="0"/>
              </a:spcBef>
              <a:spcAft>
                <a:spcPts val="0"/>
              </a:spcAft>
              <a:buClr>
                <a:srgbClr val="000000"/>
              </a:buClr>
              <a:buSzPts val="1000"/>
              <a:buFont typeface="Arial"/>
              <a:buNone/>
            </a:pPr>
            <a:r>
              <a:t/>
            </a:r>
            <a:endParaRPr b="1" i="0" sz="1000" u="none" cap="none" strike="noStrike">
              <a:solidFill>
                <a:srgbClr val="000000"/>
              </a:solidFill>
              <a:latin typeface="Arial"/>
              <a:ea typeface="Arial"/>
              <a:cs typeface="Arial"/>
              <a:sym typeface="Arial"/>
            </a:endParaRPr>
          </a:p>
          <a:p>
            <a:pPr indent="-101600" lvl="1" marL="215900" marR="0" rtl="0" algn="l">
              <a:lnSpc>
                <a:spcPct val="140127"/>
              </a:lnSpc>
              <a:spcBef>
                <a:spcPts val="0"/>
              </a:spcBef>
              <a:spcAft>
                <a:spcPts val="0"/>
              </a:spcAft>
              <a:buClr>
                <a:srgbClr val="000000"/>
              </a:buClr>
              <a:buSzPts val="1000"/>
              <a:buFont typeface="Arial"/>
              <a:buChar char="•"/>
            </a:pPr>
            <a:r>
              <a:rPr b="1" i="0" lang="en" sz="1000" u="none" cap="none" strike="noStrike">
                <a:solidFill>
                  <a:srgbClr val="000000"/>
                </a:solidFill>
                <a:latin typeface="Arial"/>
                <a:ea typeface="Arial"/>
                <a:cs typeface="Arial"/>
                <a:sym typeface="Arial"/>
              </a:rPr>
              <a:t>This procedure is vital for treating hematological diseases such as leukemia, lymphoma, and certain blood disorders.</a:t>
            </a:r>
            <a:endParaRPr b="0" i="0" sz="700" u="none" cap="none" strike="noStrike">
              <a:solidFill>
                <a:srgbClr val="000000"/>
              </a:solidFill>
              <a:latin typeface="Arial"/>
              <a:ea typeface="Arial"/>
              <a:cs typeface="Arial"/>
              <a:sym typeface="Arial"/>
            </a:endParaRPr>
          </a:p>
          <a:p>
            <a:pPr indent="0" lvl="0" marL="0" marR="0" rtl="0" algn="ctr">
              <a:lnSpc>
                <a:spcPct val="126380"/>
              </a:lnSpc>
              <a:spcBef>
                <a:spcPts val="0"/>
              </a:spcBef>
              <a:spcAft>
                <a:spcPts val="0"/>
              </a:spcAft>
              <a:buClr>
                <a:srgbClr val="000000"/>
              </a:buClr>
              <a:buSzPts val="1000"/>
              <a:buFont typeface="Arial"/>
              <a:buNone/>
            </a:pPr>
            <a:r>
              <a:t/>
            </a:r>
            <a:endParaRPr b="1" i="0" sz="10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grpSp>
        <p:nvGrpSpPr>
          <p:cNvPr id="120" name="Google Shape;120;p3"/>
          <p:cNvGrpSpPr/>
          <p:nvPr/>
        </p:nvGrpSpPr>
        <p:grpSpPr>
          <a:xfrm>
            <a:off x="468342" y="2850433"/>
            <a:ext cx="519137" cy="609110"/>
            <a:chOff x="0" y="-47625"/>
            <a:chExt cx="274792" cy="322417"/>
          </a:xfrm>
        </p:grpSpPr>
        <p:sp>
          <p:nvSpPr>
            <p:cNvPr id="121" name="Google Shape;121;p3"/>
            <p:cNvSpPr/>
            <p:nvPr/>
          </p:nvSpPr>
          <p:spPr>
            <a:xfrm>
              <a:off x="0" y="0"/>
              <a:ext cx="274792" cy="274792"/>
            </a:xfrm>
            <a:custGeom>
              <a:rect b="b" l="l" r="r" t="t"/>
              <a:pathLst>
                <a:path extrusionOk="0" h="274792" w="274792">
                  <a:moveTo>
                    <a:pt x="74566" y="0"/>
                  </a:moveTo>
                  <a:lnTo>
                    <a:pt x="200226" y="0"/>
                  </a:lnTo>
                  <a:cubicBezTo>
                    <a:pt x="220002" y="0"/>
                    <a:pt x="238968" y="7856"/>
                    <a:pt x="252952" y="21840"/>
                  </a:cubicBezTo>
                  <a:cubicBezTo>
                    <a:pt x="266936" y="35824"/>
                    <a:pt x="274792" y="54790"/>
                    <a:pt x="274792" y="74566"/>
                  </a:cubicBezTo>
                  <a:lnTo>
                    <a:pt x="274792" y="200226"/>
                  </a:lnTo>
                  <a:cubicBezTo>
                    <a:pt x="274792" y="220002"/>
                    <a:pt x="266936" y="238968"/>
                    <a:pt x="252952" y="252952"/>
                  </a:cubicBezTo>
                  <a:cubicBezTo>
                    <a:pt x="238968" y="266936"/>
                    <a:pt x="220002" y="274792"/>
                    <a:pt x="200226" y="274792"/>
                  </a:cubicBezTo>
                  <a:lnTo>
                    <a:pt x="74566" y="274792"/>
                  </a:lnTo>
                  <a:cubicBezTo>
                    <a:pt x="54790" y="274792"/>
                    <a:pt x="35824" y="266936"/>
                    <a:pt x="21840" y="252952"/>
                  </a:cubicBezTo>
                  <a:cubicBezTo>
                    <a:pt x="7856" y="238968"/>
                    <a:pt x="0" y="220002"/>
                    <a:pt x="0" y="200226"/>
                  </a:cubicBezTo>
                  <a:lnTo>
                    <a:pt x="0" y="74566"/>
                  </a:lnTo>
                  <a:cubicBezTo>
                    <a:pt x="0" y="54790"/>
                    <a:pt x="7856" y="35824"/>
                    <a:pt x="21840" y="21840"/>
                  </a:cubicBezTo>
                  <a:cubicBezTo>
                    <a:pt x="35824" y="7856"/>
                    <a:pt x="54790" y="0"/>
                    <a:pt x="74566" y="0"/>
                  </a:cubicBezTo>
                  <a:close/>
                </a:path>
              </a:pathLst>
            </a:custGeom>
            <a:solidFill>
              <a:srgbClr val="0E2F5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3"/>
            <p:cNvSpPr txBox="1"/>
            <p:nvPr/>
          </p:nvSpPr>
          <p:spPr>
            <a:xfrm>
              <a:off x="0" y="-47625"/>
              <a:ext cx="274792" cy="322417"/>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23" name="Google Shape;123;p3"/>
          <p:cNvGrpSpPr/>
          <p:nvPr/>
        </p:nvGrpSpPr>
        <p:grpSpPr>
          <a:xfrm>
            <a:off x="468342" y="3464113"/>
            <a:ext cx="519137" cy="609110"/>
            <a:chOff x="0" y="-47625"/>
            <a:chExt cx="274792" cy="322417"/>
          </a:xfrm>
        </p:grpSpPr>
        <p:sp>
          <p:nvSpPr>
            <p:cNvPr id="124" name="Google Shape;124;p3"/>
            <p:cNvSpPr/>
            <p:nvPr/>
          </p:nvSpPr>
          <p:spPr>
            <a:xfrm>
              <a:off x="0" y="0"/>
              <a:ext cx="274792" cy="274792"/>
            </a:xfrm>
            <a:custGeom>
              <a:rect b="b" l="l" r="r" t="t"/>
              <a:pathLst>
                <a:path extrusionOk="0" h="274792" w="274792">
                  <a:moveTo>
                    <a:pt x="74566" y="0"/>
                  </a:moveTo>
                  <a:lnTo>
                    <a:pt x="200226" y="0"/>
                  </a:lnTo>
                  <a:cubicBezTo>
                    <a:pt x="220002" y="0"/>
                    <a:pt x="238968" y="7856"/>
                    <a:pt x="252952" y="21840"/>
                  </a:cubicBezTo>
                  <a:cubicBezTo>
                    <a:pt x="266936" y="35824"/>
                    <a:pt x="274792" y="54790"/>
                    <a:pt x="274792" y="74566"/>
                  </a:cubicBezTo>
                  <a:lnTo>
                    <a:pt x="274792" y="200226"/>
                  </a:lnTo>
                  <a:cubicBezTo>
                    <a:pt x="274792" y="220002"/>
                    <a:pt x="266936" y="238968"/>
                    <a:pt x="252952" y="252952"/>
                  </a:cubicBezTo>
                  <a:cubicBezTo>
                    <a:pt x="238968" y="266936"/>
                    <a:pt x="220002" y="274792"/>
                    <a:pt x="200226" y="274792"/>
                  </a:cubicBezTo>
                  <a:lnTo>
                    <a:pt x="74566" y="274792"/>
                  </a:lnTo>
                  <a:cubicBezTo>
                    <a:pt x="54790" y="274792"/>
                    <a:pt x="35824" y="266936"/>
                    <a:pt x="21840" y="252952"/>
                  </a:cubicBezTo>
                  <a:cubicBezTo>
                    <a:pt x="7856" y="238968"/>
                    <a:pt x="0" y="220002"/>
                    <a:pt x="0" y="200226"/>
                  </a:cubicBezTo>
                  <a:lnTo>
                    <a:pt x="0" y="74566"/>
                  </a:lnTo>
                  <a:cubicBezTo>
                    <a:pt x="0" y="54790"/>
                    <a:pt x="7856" y="35824"/>
                    <a:pt x="21840" y="21840"/>
                  </a:cubicBezTo>
                  <a:cubicBezTo>
                    <a:pt x="35824" y="7856"/>
                    <a:pt x="54790" y="0"/>
                    <a:pt x="74566" y="0"/>
                  </a:cubicBezTo>
                  <a:close/>
                </a:path>
              </a:pathLst>
            </a:custGeom>
            <a:solidFill>
              <a:srgbClr val="0E2F5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
            <p:cNvSpPr txBox="1"/>
            <p:nvPr/>
          </p:nvSpPr>
          <p:spPr>
            <a:xfrm>
              <a:off x="0" y="-47625"/>
              <a:ext cx="274792" cy="322417"/>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26" name="Google Shape;126;p3"/>
          <p:cNvGrpSpPr/>
          <p:nvPr/>
        </p:nvGrpSpPr>
        <p:grpSpPr>
          <a:xfrm>
            <a:off x="468342" y="4077793"/>
            <a:ext cx="519137" cy="609110"/>
            <a:chOff x="0" y="-47625"/>
            <a:chExt cx="274792" cy="322417"/>
          </a:xfrm>
        </p:grpSpPr>
        <p:sp>
          <p:nvSpPr>
            <p:cNvPr id="127" name="Google Shape;127;p3"/>
            <p:cNvSpPr/>
            <p:nvPr/>
          </p:nvSpPr>
          <p:spPr>
            <a:xfrm>
              <a:off x="0" y="0"/>
              <a:ext cx="274792" cy="274792"/>
            </a:xfrm>
            <a:custGeom>
              <a:rect b="b" l="l" r="r" t="t"/>
              <a:pathLst>
                <a:path extrusionOk="0" h="274792" w="274792">
                  <a:moveTo>
                    <a:pt x="74566" y="0"/>
                  </a:moveTo>
                  <a:lnTo>
                    <a:pt x="200226" y="0"/>
                  </a:lnTo>
                  <a:cubicBezTo>
                    <a:pt x="220002" y="0"/>
                    <a:pt x="238968" y="7856"/>
                    <a:pt x="252952" y="21840"/>
                  </a:cubicBezTo>
                  <a:cubicBezTo>
                    <a:pt x="266936" y="35824"/>
                    <a:pt x="274792" y="54790"/>
                    <a:pt x="274792" y="74566"/>
                  </a:cubicBezTo>
                  <a:lnTo>
                    <a:pt x="274792" y="200226"/>
                  </a:lnTo>
                  <a:cubicBezTo>
                    <a:pt x="274792" y="220002"/>
                    <a:pt x="266936" y="238968"/>
                    <a:pt x="252952" y="252952"/>
                  </a:cubicBezTo>
                  <a:cubicBezTo>
                    <a:pt x="238968" y="266936"/>
                    <a:pt x="220002" y="274792"/>
                    <a:pt x="200226" y="274792"/>
                  </a:cubicBezTo>
                  <a:lnTo>
                    <a:pt x="74566" y="274792"/>
                  </a:lnTo>
                  <a:cubicBezTo>
                    <a:pt x="54790" y="274792"/>
                    <a:pt x="35824" y="266936"/>
                    <a:pt x="21840" y="252952"/>
                  </a:cubicBezTo>
                  <a:cubicBezTo>
                    <a:pt x="7856" y="238968"/>
                    <a:pt x="0" y="220002"/>
                    <a:pt x="0" y="200226"/>
                  </a:cubicBezTo>
                  <a:lnTo>
                    <a:pt x="0" y="74566"/>
                  </a:lnTo>
                  <a:cubicBezTo>
                    <a:pt x="0" y="54790"/>
                    <a:pt x="7856" y="35824"/>
                    <a:pt x="21840" y="21840"/>
                  </a:cubicBezTo>
                  <a:cubicBezTo>
                    <a:pt x="35824" y="7856"/>
                    <a:pt x="54790" y="0"/>
                    <a:pt x="74566" y="0"/>
                  </a:cubicBezTo>
                  <a:close/>
                </a:path>
              </a:pathLst>
            </a:custGeom>
            <a:solidFill>
              <a:srgbClr val="0E2F5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
            <p:cNvSpPr txBox="1"/>
            <p:nvPr/>
          </p:nvSpPr>
          <p:spPr>
            <a:xfrm>
              <a:off x="0" y="-47625"/>
              <a:ext cx="274792" cy="322417"/>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29" name="Google Shape;129;p3"/>
          <p:cNvGrpSpPr/>
          <p:nvPr/>
        </p:nvGrpSpPr>
        <p:grpSpPr>
          <a:xfrm>
            <a:off x="7433075" y="1196723"/>
            <a:ext cx="2414898" cy="3993552"/>
            <a:chOff x="0" y="-47625"/>
            <a:chExt cx="1272070" cy="1600173"/>
          </a:xfrm>
        </p:grpSpPr>
        <p:sp>
          <p:nvSpPr>
            <p:cNvPr id="130" name="Google Shape;130;p3"/>
            <p:cNvSpPr/>
            <p:nvPr/>
          </p:nvSpPr>
          <p:spPr>
            <a:xfrm>
              <a:off x="0" y="0"/>
              <a:ext cx="1272070" cy="1552548"/>
            </a:xfrm>
            <a:custGeom>
              <a:rect b="b" l="l" r="r" t="t"/>
              <a:pathLst>
                <a:path extrusionOk="0" h="1552548" w="1272070">
                  <a:moveTo>
                    <a:pt x="94572" y="0"/>
                  </a:moveTo>
                  <a:lnTo>
                    <a:pt x="1177498" y="0"/>
                  </a:lnTo>
                  <a:cubicBezTo>
                    <a:pt x="1229729" y="0"/>
                    <a:pt x="1272070" y="42341"/>
                    <a:pt x="1272070" y="94572"/>
                  </a:cubicBezTo>
                  <a:lnTo>
                    <a:pt x="1272070" y="1457976"/>
                  </a:lnTo>
                  <a:cubicBezTo>
                    <a:pt x="1272070" y="1483058"/>
                    <a:pt x="1262106" y="1507113"/>
                    <a:pt x="1244371" y="1524848"/>
                  </a:cubicBezTo>
                  <a:cubicBezTo>
                    <a:pt x="1226635" y="1542584"/>
                    <a:pt x="1202580" y="1552548"/>
                    <a:pt x="1177498" y="1552548"/>
                  </a:cubicBezTo>
                  <a:lnTo>
                    <a:pt x="94572" y="1552548"/>
                  </a:lnTo>
                  <a:cubicBezTo>
                    <a:pt x="69490" y="1552548"/>
                    <a:pt x="45435" y="1542584"/>
                    <a:pt x="27700" y="1524848"/>
                  </a:cubicBezTo>
                  <a:cubicBezTo>
                    <a:pt x="9964" y="1507113"/>
                    <a:pt x="0" y="1483058"/>
                    <a:pt x="0" y="1457976"/>
                  </a:cubicBezTo>
                  <a:lnTo>
                    <a:pt x="0" y="94572"/>
                  </a:lnTo>
                  <a:cubicBezTo>
                    <a:pt x="0" y="69490"/>
                    <a:pt x="9964" y="45435"/>
                    <a:pt x="27700" y="27700"/>
                  </a:cubicBezTo>
                  <a:cubicBezTo>
                    <a:pt x="45435" y="9964"/>
                    <a:pt x="69490" y="0"/>
                    <a:pt x="94572" y="0"/>
                  </a:cubicBezTo>
                  <a:close/>
                </a:path>
              </a:pathLst>
            </a:custGeom>
            <a:solidFill>
              <a:srgbClr val="E1EDF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
            <p:cNvSpPr txBox="1"/>
            <p:nvPr/>
          </p:nvSpPr>
          <p:spPr>
            <a:xfrm>
              <a:off x="0" y="-47625"/>
              <a:ext cx="1272070" cy="1600173"/>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32" name="Google Shape;132;p3"/>
          <p:cNvSpPr/>
          <p:nvPr/>
        </p:nvSpPr>
        <p:spPr>
          <a:xfrm>
            <a:off x="4302637" y="2850433"/>
            <a:ext cx="4719864" cy="2241577"/>
          </a:xfrm>
          <a:custGeom>
            <a:rect b="b" l="l" r="r" t="t"/>
            <a:pathLst>
              <a:path extrusionOk="0" h="959990" w="2021355">
                <a:moveTo>
                  <a:pt x="13119" y="0"/>
                </a:moveTo>
                <a:lnTo>
                  <a:pt x="2008237" y="0"/>
                </a:lnTo>
                <a:cubicBezTo>
                  <a:pt x="2011716" y="0"/>
                  <a:pt x="2015053" y="1382"/>
                  <a:pt x="2017513" y="3842"/>
                </a:cubicBezTo>
                <a:cubicBezTo>
                  <a:pt x="2019973" y="6303"/>
                  <a:pt x="2021355" y="9639"/>
                  <a:pt x="2021355" y="13119"/>
                </a:cubicBezTo>
                <a:lnTo>
                  <a:pt x="2021355" y="946871"/>
                </a:lnTo>
                <a:cubicBezTo>
                  <a:pt x="2021355" y="950351"/>
                  <a:pt x="2019973" y="953687"/>
                  <a:pt x="2017513" y="956148"/>
                </a:cubicBezTo>
                <a:cubicBezTo>
                  <a:pt x="2015053" y="958608"/>
                  <a:pt x="2011716" y="959990"/>
                  <a:pt x="2008237" y="959990"/>
                </a:cubicBezTo>
                <a:lnTo>
                  <a:pt x="13119" y="959990"/>
                </a:lnTo>
                <a:cubicBezTo>
                  <a:pt x="9639" y="959990"/>
                  <a:pt x="6303" y="958608"/>
                  <a:pt x="3842" y="956148"/>
                </a:cubicBezTo>
                <a:cubicBezTo>
                  <a:pt x="1382" y="953687"/>
                  <a:pt x="0" y="950351"/>
                  <a:pt x="0" y="946871"/>
                </a:cubicBezTo>
                <a:lnTo>
                  <a:pt x="0" y="13119"/>
                </a:lnTo>
                <a:cubicBezTo>
                  <a:pt x="0" y="9639"/>
                  <a:pt x="1382" y="6303"/>
                  <a:pt x="3842" y="3842"/>
                </a:cubicBezTo>
                <a:cubicBezTo>
                  <a:pt x="6303" y="1382"/>
                  <a:pt x="9639" y="0"/>
                  <a:pt x="13119" y="0"/>
                </a:cubicBezTo>
                <a:close/>
              </a:path>
            </a:pathLst>
          </a:custGeom>
          <a:blipFill rotWithShape="1">
            <a:blip r:embed="rId3">
              <a:alphaModFix/>
            </a:blip>
            <a:stretch>
              <a:fillRect b="0" l="-521" r="-519" t="0"/>
            </a:stretch>
          </a:blip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3"/>
          <p:cNvSpPr/>
          <p:nvPr/>
        </p:nvSpPr>
        <p:spPr>
          <a:xfrm>
            <a:off x="7536276" y="1196727"/>
            <a:ext cx="613230" cy="189544"/>
          </a:xfrm>
          <a:custGeom>
            <a:rect b="b" l="l" r="r" t="t"/>
            <a:pathLst>
              <a:path extrusionOk="0" h="379088" w="1226460">
                <a:moveTo>
                  <a:pt x="0" y="0"/>
                </a:moveTo>
                <a:lnTo>
                  <a:pt x="1226459" y="0"/>
                </a:lnTo>
                <a:lnTo>
                  <a:pt x="1226459" y="379087"/>
                </a:lnTo>
                <a:lnTo>
                  <a:pt x="0" y="379087"/>
                </a:lnTo>
                <a:lnTo>
                  <a:pt x="0" y="0"/>
                </a:lnTo>
                <a:close/>
              </a:path>
            </a:pathLst>
          </a:custGeom>
          <a:blipFill rotWithShape="1">
            <a:blip r:embed="rId4">
              <a:alphaModFix/>
            </a:blip>
            <a:stretch>
              <a:fillRect b="0" l="0" r="0" t="0"/>
            </a:stretch>
          </a:blipFill>
          <a:ln>
            <a:noFill/>
          </a:ln>
        </p:spPr>
      </p:sp>
      <p:sp>
        <p:nvSpPr>
          <p:cNvPr id="134" name="Google Shape;134;p3"/>
          <p:cNvSpPr/>
          <p:nvPr/>
        </p:nvSpPr>
        <p:spPr>
          <a:xfrm>
            <a:off x="8149493" y="514350"/>
            <a:ext cx="480157" cy="480158"/>
          </a:xfrm>
          <a:custGeom>
            <a:rect b="b" l="l" r="r" t="t"/>
            <a:pathLst>
              <a:path extrusionOk="0" h="960315" w="960315">
                <a:moveTo>
                  <a:pt x="0" y="0"/>
                </a:moveTo>
                <a:lnTo>
                  <a:pt x="960315" y="0"/>
                </a:lnTo>
                <a:lnTo>
                  <a:pt x="960315" y="960315"/>
                </a:lnTo>
                <a:lnTo>
                  <a:pt x="0" y="960315"/>
                </a:lnTo>
                <a:lnTo>
                  <a:pt x="0" y="0"/>
                </a:lnTo>
                <a:close/>
              </a:path>
            </a:pathLst>
          </a:custGeom>
          <a:blipFill rotWithShape="1">
            <a:blip r:embed="rId5">
              <a:alphaModFix/>
            </a:blip>
            <a:stretch>
              <a:fillRect b="0" l="0" r="0" t="0"/>
            </a:stretch>
          </a:blipFill>
          <a:ln>
            <a:noFill/>
          </a:ln>
        </p:spPr>
      </p:sp>
      <p:grpSp>
        <p:nvGrpSpPr>
          <p:cNvPr id="135" name="Google Shape;135;p3"/>
          <p:cNvGrpSpPr/>
          <p:nvPr/>
        </p:nvGrpSpPr>
        <p:grpSpPr>
          <a:xfrm>
            <a:off x="254170" y="378269"/>
            <a:ext cx="630593" cy="649989"/>
            <a:chOff x="0" y="0"/>
            <a:chExt cx="788546" cy="812800"/>
          </a:xfrm>
        </p:grpSpPr>
        <p:sp>
          <p:nvSpPr>
            <p:cNvPr id="136" name="Google Shape;136;p3"/>
            <p:cNvSpPr/>
            <p:nvPr/>
          </p:nvSpPr>
          <p:spPr>
            <a:xfrm>
              <a:off x="0" y="0"/>
              <a:ext cx="788546" cy="812800"/>
            </a:xfrm>
            <a:custGeom>
              <a:rect b="b" l="l" r="r" t="t"/>
              <a:pathLst>
                <a:path extrusionOk="0" h="812800" w="788546">
                  <a:moveTo>
                    <a:pt x="394273" y="0"/>
                  </a:moveTo>
                  <a:cubicBezTo>
                    <a:pt x="176522" y="0"/>
                    <a:pt x="0" y="181951"/>
                    <a:pt x="0" y="406400"/>
                  </a:cubicBezTo>
                  <a:cubicBezTo>
                    <a:pt x="0" y="630849"/>
                    <a:pt x="176522" y="812800"/>
                    <a:pt x="394273" y="812800"/>
                  </a:cubicBezTo>
                  <a:cubicBezTo>
                    <a:pt x="612024" y="812800"/>
                    <a:pt x="788546" y="630849"/>
                    <a:pt x="788546" y="406400"/>
                  </a:cubicBezTo>
                  <a:cubicBezTo>
                    <a:pt x="788546" y="181951"/>
                    <a:pt x="612024" y="0"/>
                    <a:pt x="394273" y="0"/>
                  </a:cubicBezTo>
                  <a:close/>
                </a:path>
              </a:pathLst>
            </a:custGeom>
            <a:solidFill>
              <a:srgbClr val="5188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3"/>
            <p:cNvSpPr txBox="1"/>
            <p:nvPr/>
          </p:nvSpPr>
          <p:spPr>
            <a:xfrm>
              <a:off x="73926" y="28575"/>
              <a:ext cx="640694"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38" name="Google Shape;138;p3"/>
          <p:cNvSpPr/>
          <p:nvPr/>
        </p:nvSpPr>
        <p:spPr>
          <a:xfrm>
            <a:off x="468342" y="552079"/>
            <a:ext cx="202249" cy="302368"/>
          </a:xfrm>
          <a:custGeom>
            <a:rect b="b" l="l" r="r" t="t"/>
            <a:pathLst>
              <a:path extrusionOk="0" h="604736" w="404497">
                <a:moveTo>
                  <a:pt x="0" y="0"/>
                </a:moveTo>
                <a:lnTo>
                  <a:pt x="404498" y="0"/>
                </a:lnTo>
                <a:lnTo>
                  <a:pt x="404498" y="604736"/>
                </a:lnTo>
                <a:lnTo>
                  <a:pt x="0" y="604736"/>
                </a:lnTo>
                <a:lnTo>
                  <a:pt x="0" y="0"/>
                </a:lnTo>
                <a:close/>
              </a:path>
            </a:pathLst>
          </a:custGeom>
          <a:blipFill rotWithShape="1">
            <a:blip r:embed="rId6">
              <a:alphaModFix/>
            </a:blip>
            <a:stretch>
              <a:fillRect b="0" l="0" r="0" t="0"/>
            </a:stretch>
          </a:blipFill>
          <a:ln>
            <a:noFill/>
          </a:ln>
        </p:spPr>
      </p:sp>
      <p:sp>
        <p:nvSpPr>
          <p:cNvPr id="139" name="Google Shape;139;p3"/>
          <p:cNvSpPr/>
          <p:nvPr/>
        </p:nvSpPr>
        <p:spPr>
          <a:xfrm>
            <a:off x="5667675" y="1459975"/>
            <a:ext cx="2281854" cy="1458890"/>
          </a:xfrm>
          <a:custGeom>
            <a:rect b="b" l="l" r="r" t="t"/>
            <a:pathLst>
              <a:path extrusionOk="0" h="2917780" w="4563708">
                <a:moveTo>
                  <a:pt x="0" y="0"/>
                </a:moveTo>
                <a:lnTo>
                  <a:pt x="4563707" y="0"/>
                </a:lnTo>
                <a:lnTo>
                  <a:pt x="4563707" y="2917781"/>
                </a:lnTo>
                <a:lnTo>
                  <a:pt x="0" y="2917781"/>
                </a:lnTo>
                <a:lnTo>
                  <a:pt x="0" y="0"/>
                </a:lnTo>
                <a:close/>
              </a:path>
            </a:pathLst>
          </a:custGeom>
          <a:blipFill rotWithShape="1">
            <a:blip r:embed="rId7">
              <a:alphaModFix/>
            </a:blip>
            <a:stretch>
              <a:fillRect b="-35046" l="-4714" r="-119269" t="-3696"/>
            </a:stretch>
          </a:blipFill>
          <a:ln>
            <a:noFill/>
          </a:ln>
        </p:spPr>
      </p:sp>
      <p:sp>
        <p:nvSpPr>
          <p:cNvPr id="140" name="Google Shape;140;p3"/>
          <p:cNvSpPr txBox="1"/>
          <p:nvPr/>
        </p:nvSpPr>
        <p:spPr>
          <a:xfrm>
            <a:off x="1036025" y="447675"/>
            <a:ext cx="6094500" cy="354000"/>
          </a:xfrm>
          <a:prstGeom prst="rect">
            <a:avLst/>
          </a:prstGeom>
          <a:noFill/>
          <a:ln>
            <a:noFill/>
          </a:ln>
        </p:spPr>
        <p:txBody>
          <a:bodyPr anchorCtr="0" anchor="t" bIns="0" lIns="0" spcFirstLastPara="1" rIns="0" wrap="square" tIns="0">
            <a:spAutoFit/>
          </a:bodyPr>
          <a:lstStyle/>
          <a:p>
            <a:pPr indent="0" lvl="0" marL="0" marR="0" rtl="0" algn="l">
              <a:lnSpc>
                <a:spcPct val="127000"/>
              </a:lnSpc>
              <a:spcBef>
                <a:spcPts val="0"/>
              </a:spcBef>
              <a:spcAft>
                <a:spcPts val="0"/>
              </a:spcAft>
              <a:buClr>
                <a:srgbClr val="000000"/>
              </a:buClr>
              <a:buSzPts val="2300"/>
              <a:buFont typeface="Arial"/>
              <a:buNone/>
            </a:pPr>
            <a:r>
              <a:rPr b="1" i="0" lang="en" sz="2300" u="none" cap="none" strike="noStrike">
                <a:solidFill>
                  <a:srgbClr val="0E2F5F"/>
                </a:solidFill>
                <a:latin typeface="Arial"/>
                <a:ea typeface="Arial"/>
                <a:cs typeface="Arial"/>
                <a:sym typeface="Arial"/>
              </a:rPr>
              <a:t>Performance Metric - Concordance Index</a:t>
            </a:r>
            <a:endParaRPr b="0" i="0" sz="500" u="none" cap="none" strike="noStrike">
              <a:solidFill>
                <a:srgbClr val="000000"/>
              </a:solidFill>
              <a:latin typeface="Arial"/>
              <a:ea typeface="Arial"/>
              <a:cs typeface="Arial"/>
              <a:sym typeface="Arial"/>
            </a:endParaRPr>
          </a:p>
        </p:txBody>
      </p:sp>
      <p:sp>
        <p:nvSpPr>
          <p:cNvPr id="141" name="Google Shape;141;p3"/>
          <p:cNvSpPr txBox="1"/>
          <p:nvPr/>
        </p:nvSpPr>
        <p:spPr>
          <a:xfrm>
            <a:off x="468350" y="2561325"/>
            <a:ext cx="4319700" cy="939000"/>
          </a:xfrm>
          <a:prstGeom prst="rect">
            <a:avLst/>
          </a:prstGeom>
          <a:noFill/>
          <a:ln>
            <a:noFill/>
          </a:ln>
        </p:spPr>
        <p:txBody>
          <a:bodyPr anchorCtr="0" anchor="t" bIns="0" lIns="0" spcFirstLastPara="1" rIns="0" wrap="square" tIns="0">
            <a:spAutoFit/>
          </a:bodyPr>
          <a:lstStyle/>
          <a:p>
            <a:pPr indent="0" lvl="0" marL="0" marR="0" rtl="0" algn="just">
              <a:lnSpc>
                <a:spcPct val="140042"/>
              </a:lnSpc>
              <a:spcBef>
                <a:spcPts val="0"/>
              </a:spcBef>
              <a:spcAft>
                <a:spcPts val="0"/>
              </a:spcAft>
              <a:buClr>
                <a:srgbClr val="000000"/>
              </a:buClr>
              <a:buSzPts val="1200"/>
              <a:buFont typeface="Arial"/>
              <a:buNone/>
            </a:pPr>
            <a:r>
              <a:rPr b="1" i="0" lang="en" sz="1200" u="none" cap="none" strike="noStrike">
                <a:solidFill>
                  <a:srgbClr val="021828"/>
                </a:solidFill>
                <a:latin typeface="Arial"/>
                <a:ea typeface="Arial"/>
                <a:cs typeface="Arial"/>
                <a:sym typeface="Arial"/>
              </a:rPr>
              <a:t>The concordance index is a value between 0 and 1 where:</a:t>
            </a:r>
            <a:endParaRPr b="0" i="0" sz="1200" u="none" cap="none" strike="noStrike">
              <a:solidFill>
                <a:srgbClr val="000000"/>
              </a:solidFill>
              <a:latin typeface="Arial"/>
              <a:ea typeface="Arial"/>
              <a:cs typeface="Arial"/>
              <a:sym typeface="Arial"/>
            </a:endParaRPr>
          </a:p>
          <a:p>
            <a:pPr indent="0" lvl="0" marL="0" marR="0" rtl="0" algn="just">
              <a:lnSpc>
                <a:spcPct val="140042"/>
              </a:lnSpc>
              <a:spcBef>
                <a:spcPts val="0"/>
              </a:spcBef>
              <a:spcAft>
                <a:spcPts val="0"/>
              </a:spcAft>
              <a:buClr>
                <a:srgbClr val="000000"/>
              </a:buClr>
              <a:buSzPts val="1200"/>
              <a:buFont typeface="Arial"/>
              <a:buNone/>
            </a:pPr>
            <a:r>
              <a:t/>
            </a:r>
            <a:endParaRPr b="1" i="0" sz="1200" u="none" cap="none" strike="noStrike">
              <a:solidFill>
                <a:srgbClr val="021828"/>
              </a:solidFill>
              <a:latin typeface="Arial"/>
              <a:ea typeface="Arial"/>
              <a:cs typeface="Arial"/>
              <a:sym typeface="Arial"/>
            </a:endParaRPr>
          </a:p>
          <a:p>
            <a:pPr indent="0" lvl="0" marL="0" marR="0" rtl="0" algn="just">
              <a:lnSpc>
                <a:spcPct val="128347"/>
              </a:lnSpc>
              <a:spcBef>
                <a:spcPts val="0"/>
              </a:spcBef>
              <a:spcAft>
                <a:spcPts val="0"/>
              </a:spcAft>
              <a:buClr>
                <a:srgbClr val="000000"/>
              </a:buClr>
              <a:buSzPts val="1200"/>
              <a:buFont typeface="Arial"/>
              <a:buNone/>
            </a:pPr>
            <a:r>
              <a:t/>
            </a:r>
            <a:endParaRPr b="1" i="0" sz="1200" u="none" cap="none" strike="noStrike">
              <a:solidFill>
                <a:srgbClr val="021828"/>
              </a:solidFill>
              <a:latin typeface="Arial"/>
              <a:ea typeface="Arial"/>
              <a:cs typeface="Arial"/>
              <a:sym typeface="Arial"/>
            </a:endParaRPr>
          </a:p>
          <a:p>
            <a:pPr indent="0" lvl="0" marL="0" marR="0" rtl="0" algn="just">
              <a:lnSpc>
                <a:spcPct val="128347"/>
              </a:lnSpc>
              <a:spcBef>
                <a:spcPts val="0"/>
              </a:spcBef>
              <a:spcAft>
                <a:spcPts val="0"/>
              </a:spcAft>
              <a:buClr>
                <a:srgbClr val="000000"/>
              </a:buClr>
              <a:buSzPts val="1200"/>
              <a:buFont typeface="Arial"/>
              <a:buNone/>
            </a:pPr>
            <a:r>
              <a:t/>
            </a:r>
            <a:endParaRPr b="1" i="0" sz="1200" u="none" cap="none" strike="noStrike">
              <a:solidFill>
                <a:srgbClr val="021828"/>
              </a:solidFill>
              <a:latin typeface="Arial"/>
              <a:ea typeface="Arial"/>
              <a:cs typeface="Arial"/>
              <a:sym typeface="Arial"/>
            </a:endParaRPr>
          </a:p>
        </p:txBody>
      </p:sp>
      <p:sp>
        <p:nvSpPr>
          <p:cNvPr id="142" name="Google Shape;142;p3"/>
          <p:cNvSpPr txBox="1"/>
          <p:nvPr/>
        </p:nvSpPr>
        <p:spPr>
          <a:xfrm>
            <a:off x="1124455" y="3018206"/>
            <a:ext cx="2549100" cy="369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000"/>
              <a:buFont typeface="Arial"/>
              <a:buNone/>
            </a:pPr>
            <a:r>
              <a:rPr b="1" i="0" lang="en" sz="1000" u="none" cap="none" strike="noStrike">
                <a:solidFill>
                  <a:srgbClr val="0E2F5F"/>
                </a:solidFill>
                <a:latin typeface="Bree Serif"/>
                <a:ea typeface="Bree Serif"/>
                <a:cs typeface="Bree Serif"/>
                <a:sym typeface="Bree Serif"/>
              </a:rPr>
              <a:t>is the expected result from random predictions</a:t>
            </a:r>
            <a:endParaRPr b="0" i="0" sz="700" u="none" cap="none" strike="noStrike">
              <a:solidFill>
                <a:srgbClr val="000000"/>
              </a:solidFill>
              <a:latin typeface="Bree Serif"/>
              <a:ea typeface="Bree Serif"/>
              <a:cs typeface="Bree Serif"/>
              <a:sym typeface="Bree Serif"/>
            </a:endParaRPr>
          </a:p>
        </p:txBody>
      </p:sp>
      <p:sp>
        <p:nvSpPr>
          <p:cNvPr id="143" name="Google Shape;143;p3"/>
          <p:cNvSpPr txBox="1"/>
          <p:nvPr/>
        </p:nvSpPr>
        <p:spPr>
          <a:xfrm>
            <a:off x="1124455" y="3631875"/>
            <a:ext cx="2549100" cy="369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000"/>
              <a:buFont typeface="Arial"/>
              <a:buNone/>
            </a:pPr>
            <a:r>
              <a:rPr b="1" i="0" lang="en" sz="1000" u="none" cap="none" strike="noStrike">
                <a:solidFill>
                  <a:srgbClr val="0E2F5F"/>
                </a:solidFill>
                <a:latin typeface="Bree Serif"/>
                <a:ea typeface="Bree Serif"/>
                <a:cs typeface="Bree Serif"/>
                <a:sym typeface="Bree Serif"/>
              </a:rPr>
              <a:t>is a perfect concordance : meaning the model can accurately rank all patients by risk.</a:t>
            </a:r>
            <a:endParaRPr b="0" i="0" sz="700" u="none" cap="none" strike="noStrike">
              <a:solidFill>
                <a:srgbClr val="000000"/>
              </a:solidFill>
              <a:latin typeface="Bree Serif"/>
              <a:ea typeface="Bree Serif"/>
              <a:cs typeface="Bree Serif"/>
              <a:sym typeface="Bree Serif"/>
            </a:endParaRPr>
          </a:p>
        </p:txBody>
      </p:sp>
      <p:sp>
        <p:nvSpPr>
          <p:cNvPr id="144" name="Google Shape;144;p3"/>
          <p:cNvSpPr txBox="1"/>
          <p:nvPr/>
        </p:nvSpPr>
        <p:spPr>
          <a:xfrm>
            <a:off x="1124455" y="4245567"/>
            <a:ext cx="2549100" cy="369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000"/>
              <a:buFont typeface="Arial"/>
              <a:buNone/>
            </a:pPr>
            <a:r>
              <a:rPr b="1" i="0" lang="en" sz="1000" u="none" cap="none" strike="noStrike">
                <a:solidFill>
                  <a:srgbClr val="0E2F5F"/>
                </a:solidFill>
                <a:latin typeface="Bree Serif"/>
                <a:ea typeface="Bree Serif"/>
                <a:cs typeface="Bree Serif"/>
                <a:sym typeface="Bree Serif"/>
              </a:rPr>
              <a:t>is perfect anti-concordance (multiply predictions with -1 to get 1.0)</a:t>
            </a:r>
            <a:endParaRPr b="0" i="0" sz="700" u="none" cap="none" strike="noStrike">
              <a:solidFill>
                <a:srgbClr val="000000"/>
              </a:solidFill>
              <a:latin typeface="Bree Serif"/>
              <a:ea typeface="Bree Serif"/>
              <a:cs typeface="Bree Serif"/>
              <a:sym typeface="Bree Serif"/>
            </a:endParaRPr>
          </a:p>
        </p:txBody>
      </p:sp>
      <p:sp>
        <p:nvSpPr>
          <p:cNvPr id="145" name="Google Shape;145;p3"/>
          <p:cNvSpPr txBox="1"/>
          <p:nvPr/>
        </p:nvSpPr>
        <p:spPr>
          <a:xfrm>
            <a:off x="468341" y="3056999"/>
            <a:ext cx="519000" cy="215400"/>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Clr>
                <a:srgbClr val="000000"/>
              </a:buClr>
              <a:buSzPts val="1400"/>
              <a:buFont typeface="Arial"/>
              <a:buNone/>
            </a:pPr>
            <a:r>
              <a:rPr b="1" i="0" lang="en" sz="1400" u="none" cap="none" strike="noStrike">
                <a:solidFill>
                  <a:srgbClr val="FFFFFF"/>
                </a:solidFill>
                <a:latin typeface="Arial"/>
                <a:ea typeface="Arial"/>
                <a:cs typeface="Arial"/>
                <a:sym typeface="Arial"/>
              </a:rPr>
              <a:t>0.5</a:t>
            </a:r>
            <a:endParaRPr b="0" i="0" sz="700" u="none" cap="none" strike="noStrike">
              <a:solidFill>
                <a:srgbClr val="000000"/>
              </a:solidFill>
              <a:latin typeface="Arial"/>
              <a:ea typeface="Arial"/>
              <a:cs typeface="Arial"/>
              <a:sym typeface="Arial"/>
            </a:endParaRPr>
          </a:p>
        </p:txBody>
      </p:sp>
      <p:sp>
        <p:nvSpPr>
          <p:cNvPr id="146" name="Google Shape;146;p3"/>
          <p:cNvSpPr txBox="1"/>
          <p:nvPr/>
        </p:nvSpPr>
        <p:spPr>
          <a:xfrm>
            <a:off x="468341" y="3670679"/>
            <a:ext cx="519000" cy="215400"/>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Clr>
                <a:srgbClr val="000000"/>
              </a:buClr>
              <a:buSzPts val="1400"/>
              <a:buFont typeface="Arial"/>
              <a:buNone/>
            </a:pPr>
            <a:r>
              <a:rPr b="1" i="0" lang="en" sz="1400" u="none" cap="none" strike="noStrike">
                <a:solidFill>
                  <a:srgbClr val="FFFFFF"/>
                </a:solidFill>
                <a:latin typeface="Arial"/>
                <a:ea typeface="Arial"/>
                <a:cs typeface="Arial"/>
                <a:sym typeface="Arial"/>
              </a:rPr>
              <a:t>1.0</a:t>
            </a:r>
            <a:endParaRPr b="0" i="0" sz="700" u="none" cap="none" strike="noStrike">
              <a:solidFill>
                <a:srgbClr val="000000"/>
              </a:solidFill>
              <a:latin typeface="Arial"/>
              <a:ea typeface="Arial"/>
              <a:cs typeface="Arial"/>
              <a:sym typeface="Arial"/>
            </a:endParaRPr>
          </a:p>
        </p:txBody>
      </p:sp>
      <p:sp>
        <p:nvSpPr>
          <p:cNvPr id="147" name="Google Shape;147;p3"/>
          <p:cNvSpPr txBox="1"/>
          <p:nvPr/>
        </p:nvSpPr>
        <p:spPr>
          <a:xfrm>
            <a:off x="468341" y="4286320"/>
            <a:ext cx="519000" cy="215400"/>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Clr>
                <a:srgbClr val="000000"/>
              </a:buClr>
              <a:buSzPts val="1400"/>
              <a:buFont typeface="Arial"/>
              <a:buNone/>
            </a:pPr>
            <a:r>
              <a:rPr b="1" i="0" lang="en" sz="1400" u="none" cap="none" strike="noStrike">
                <a:solidFill>
                  <a:srgbClr val="FFFFFF"/>
                </a:solidFill>
                <a:latin typeface="Arial"/>
                <a:ea typeface="Arial"/>
                <a:cs typeface="Arial"/>
                <a:sym typeface="Arial"/>
              </a:rPr>
              <a:t>0.0</a:t>
            </a:r>
            <a:endParaRPr b="0" i="0" sz="700" u="none" cap="none" strike="noStrike">
              <a:solidFill>
                <a:srgbClr val="000000"/>
              </a:solidFill>
              <a:latin typeface="Arial"/>
              <a:ea typeface="Arial"/>
              <a:cs typeface="Arial"/>
              <a:sym typeface="Arial"/>
            </a:endParaRPr>
          </a:p>
        </p:txBody>
      </p:sp>
      <p:sp>
        <p:nvSpPr>
          <p:cNvPr id="148" name="Google Shape;148;p3"/>
          <p:cNvSpPr txBox="1"/>
          <p:nvPr/>
        </p:nvSpPr>
        <p:spPr>
          <a:xfrm>
            <a:off x="560475" y="1141200"/>
            <a:ext cx="5107200" cy="10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Arial"/>
                <a:ea typeface="Arial"/>
                <a:cs typeface="Arial"/>
                <a:sym typeface="Arial"/>
              </a:rPr>
              <a:t>C-index assesses the degree of agreement between the predicted risk scores generated by our model and the actual observed outcomes.</a:t>
            </a:r>
            <a:endParaRPr b="1"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Arial"/>
                <a:ea typeface="Arial"/>
                <a:cs typeface="Arial"/>
                <a:sym typeface="Arial"/>
              </a:rPr>
              <a:t>CI measures the inverse relationship between risk scores and survival times. </a:t>
            </a:r>
            <a:endParaRPr b="1" i="0" sz="1100" u="none" cap="none" strike="noStrike">
              <a:solidFill>
                <a:schemeClr val="dk1"/>
              </a:solidFill>
              <a:latin typeface="Arial"/>
              <a:ea typeface="Arial"/>
              <a:cs typeface="Arial"/>
              <a:sym typeface="Arial"/>
            </a:endParaRPr>
          </a:p>
          <a:p>
            <a:pPr indent="-298450" lvl="0" marL="457200" marR="0" rtl="0" algn="l">
              <a:lnSpc>
                <a:spcPct val="100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Higher risk scores should correspond to shorter survival times and vice versa.</a:t>
            </a:r>
            <a:endParaRPr b="1"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grpSp>
        <p:nvGrpSpPr>
          <p:cNvPr id="153" name="Google Shape;153;p4"/>
          <p:cNvGrpSpPr/>
          <p:nvPr/>
        </p:nvGrpSpPr>
        <p:grpSpPr>
          <a:xfrm>
            <a:off x="0" y="1300773"/>
            <a:ext cx="9144000" cy="3037828"/>
            <a:chOff x="0" y="-47625"/>
            <a:chExt cx="4816593" cy="1600173"/>
          </a:xfrm>
        </p:grpSpPr>
        <p:sp>
          <p:nvSpPr>
            <p:cNvPr id="154" name="Google Shape;154;p4"/>
            <p:cNvSpPr/>
            <p:nvPr/>
          </p:nvSpPr>
          <p:spPr>
            <a:xfrm>
              <a:off x="0" y="0"/>
              <a:ext cx="4816592" cy="1552548"/>
            </a:xfrm>
            <a:custGeom>
              <a:rect b="b" l="l" r="r" t="t"/>
              <a:pathLst>
                <a:path extrusionOk="0" h="1552548" w="4816592">
                  <a:moveTo>
                    <a:pt x="0" y="0"/>
                  </a:moveTo>
                  <a:lnTo>
                    <a:pt x="4816592" y="0"/>
                  </a:lnTo>
                  <a:lnTo>
                    <a:pt x="4816592" y="1552548"/>
                  </a:lnTo>
                  <a:lnTo>
                    <a:pt x="0" y="1552548"/>
                  </a:lnTo>
                  <a:close/>
                </a:path>
              </a:pathLst>
            </a:custGeom>
            <a:solidFill>
              <a:srgbClr val="E1EDFC"/>
            </a:solidFill>
            <a:ln>
              <a:noFill/>
            </a:ln>
          </p:spPr>
        </p:sp>
        <p:sp>
          <p:nvSpPr>
            <p:cNvPr id="155" name="Google Shape;155;p4"/>
            <p:cNvSpPr txBox="1"/>
            <p:nvPr/>
          </p:nvSpPr>
          <p:spPr>
            <a:xfrm>
              <a:off x="0" y="-47625"/>
              <a:ext cx="4816593" cy="1600173"/>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56" name="Google Shape;156;p4"/>
          <p:cNvGrpSpPr/>
          <p:nvPr/>
        </p:nvGrpSpPr>
        <p:grpSpPr>
          <a:xfrm>
            <a:off x="3400473" y="1163757"/>
            <a:ext cx="2436574" cy="666411"/>
            <a:chOff x="0" y="-47625"/>
            <a:chExt cx="1283463" cy="351032"/>
          </a:xfrm>
        </p:grpSpPr>
        <p:sp>
          <p:nvSpPr>
            <p:cNvPr id="157" name="Google Shape;157;p4"/>
            <p:cNvSpPr/>
            <p:nvPr/>
          </p:nvSpPr>
          <p:spPr>
            <a:xfrm>
              <a:off x="0" y="0"/>
              <a:ext cx="1283463" cy="303407"/>
            </a:xfrm>
            <a:custGeom>
              <a:rect b="b" l="l" r="r" t="t"/>
              <a:pathLst>
                <a:path extrusionOk="0" h="303407" w="1283463">
                  <a:moveTo>
                    <a:pt x="81023" y="0"/>
                  </a:moveTo>
                  <a:lnTo>
                    <a:pt x="1202440" y="0"/>
                  </a:lnTo>
                  <a:cubicBezTo>
                    <a:pt x="1247187" y="0"/>
                    <a:pt x="1283463" y="36275"/>
                    <a:pt x="1283463" y="81023"/>
                  </a:cubicBezTo>
                  <a:lnTo>
                    <a:pt x="1283463" y="222383"/>
                  </a:lnTo>
                  <a:cubicBezTo>
                    <a:pt x="1283463" y="243872"/>
                    <a:pt x="1274926" y="264481"/>
                    <a:pt x="1259732" y="279676"/>
                  </a:cubicBezTo>
                  <a:cubicBezTo>
                    <a:pt x="1244537" y="294870"/>
                    <a:pt x="1223928" y="303407"/>
                    <a:pt x="1202440" y="303407"/>
                  </a:cubicBezTo>
                  <a:lnTo>
                    <a:pt x="81023" y="303407"/>
                  </a:lnTo>
                  <a:cubicBezTo>
                    <a:pt x="36275" y="303407"/>
                    <a:pt x="0" y="267131"/>
                    <a:pt x="0" y="222383"/>
                  </a:cubicBezTo>
                  <a:lnTo>
                    <a:pt x="0" y="81023"/>
                  </a:lnTo>
                  <a:cubicBezTo>
                    <a:pt x="0" y="36275"/>
                    <a:pt x="36275" y="0"/>
                    <a:pt x="81023" y="0"/>
                  </a:cubicBezTo>
                  <a:close/>
                </a:path>
              </a:pathLst>
            </a:custGeom>
            <a:solidFill>
              <a:srgbClr val="5188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4"/>
            <p:cNvSpPr txBox="1"/>
            <p:nvPr/>
          </p:nvSpPr>
          <p:spPr>
            <a:xfrm>
              <a:off x="0" y="-47625"/>
              <a:ext cx="1283463" cy="351032"/>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59" name="Google Shape;159;p4"/>
          <p:cNvGrpSpPr/>
          <p:nvPr/>
        </p:nvGrpSpPr>
        <p:grpSpPr>
          <a:xfrm>
            <a:off x="3306954" y="2119330"/>
            <a:ext cx="2530092" cy="1089492"/>
            <a:chOff x="0" y="-47625"/>
            <a:chExt cx="1332724" cy="573889"/>
          </a:xfrm>
        </p:grpSpPr>
        <p:sp>
          <p:nvSpPr>
            <p:cNvPr id="160" name="Google Shape;160;p4"/>
            <p:cNvSpPr/>
            <p:nvPr/>
          </p:nvSpPr>
          <p:spPr>
            <a:xfrm>
              <a:off x="0" y="0"/>
              <a:ext cx="1332724" cy="526264"/>
            </a:xfrm>
            <a:custGeom>
              <a:rect b="b" l="l" r="r" t="t"/>
              <a:pathLst>
                <a:path extrusionOk="0" h="526264" w="1332724">
                  <a:moveTo>
                    <a:pt x="29069" y="0"/>
                  </a:moveTo>
                  <a:lnTo>
                    <a:pt x="1303654" y="0"/>
                  </a:lnTo>
                  <a:cubicBezTo>
                    <a:pt x="1319709" y="0"/>
                    <a:pt x="1332724" y="13015"/>
                    <a:pt x="1332724" y="29069"/>
                  </a:cubicBezTo>
                  <a:lnTo>
                    <a:pt x="1332724" y="497195"/>
                  </a:lnTo>
                  <a:cubicBezTo>
                    <a:pt x="1332724" y="504904"/>
                    <a:pt x="1329661" y="512298"/>
                    <a:pt x="1324209" y="517750"/>
                  </a:cubicBezTo>
                  <a:cubicBezTo>
                    <a:pt x="1318758" y="523201"/>
                    <a:pt x="1311364" y="526264"/>
                    <a:pt x="1303654" y="526264"/>
                  </a:cubicBezTo>
                  <a:lnTo>
                    <a:pt x="29069" y="526264"/>
                  </a:lnTo>
                  <a:cubicBezTo>
                    <a:pt x="13015" y="526264"/>
                    <a:pt x="0" y="513249"/>
                    <a:pt x="0" y="497195"/>
                  </a:cubicBezTo>
                  <a:lnTo>
                    <a:pt x="0" y="29069"/>
                  </a:lnTo>
                  <a:cubicBezTo>
                    <a:pt x="0" y="13015"/>
                    <a:pt x="13015" y="0"/>
                    <a:pt x="29069" y="0"/>
                  </a:cubicBezTo>
                  <a:close/>
                </a:path>
              </a:pathLst>
            </a:custGeom>
            <a:solidFill>
              <a:srgbClr val="3A577B"/>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4"/>
            <p:cNvSpPr txBox="1"/>
            <p:nvPr/>
          </p:nvSpPr>
          <p:spPr>
            <a:xfrm>
              <a:off x="0" y="-47625"/>
              <a:ext cx="1332724" cy="573889"/>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Clr>
                  <a:srgbClr val="000000"/>
                </a:buClr>
                <a:buSzPts val="1400"/>
                <a:buFont typeface="Arial"/>
                <a:buNone/>
              </a:pPr>
              <a:r>
                <a:rPr b="1" i="0" lang="en" sz="1400" u="none" cap="none" strike="noStrike">
                  <a:solidFill>
                    <a:srgbClr val="FFFFFF"/>
                  </a:solidFill>
                  <a:latin typeface="Arial"/>
                  <a:ea typeface="Arial"/>
                  <a:cs typeface="Arial"/>
                  <a:sym typeface="Arial"/>
                </a:rPr>
                <a:t>28,800 Rows </a:t>
              </a:r>
              <a:endParaRPr b="0" i="0" sz="7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1400"/>
                <a:buFont typeface="Arial"/>
                <a:buNone/>
              </a:pPr>
              <a:r>
                <a:rPr b="1" i="0" lang="en" sz="1400" u="none" cap="none" strike="noStrike">
                  <a:solidFill>
                    <a:srgbClr val="FFFFFF"/>
                  </a:solidFill>
                  <a:latin typeface="Arial"/>
                  <a:ea typeface="Arial"/>
                  <a:cs typeface="Arial"/>
                  <a:sym typeface="Arial"/>
                </a:rPr>
                <a:t>60 Columns</a:t>
              </a:r>
              <a:endParaRPr b="0" i="0" sz="700" u="none" cap="none" strike="noStrike">
                <a:solidFill>
                  <a:srgbClr val="000000"/>
                </a:solidFill>
                <a:latin typeface="Arial"/>
                <a:ea typeface="Arial"/>
                <a:cs typeface="Arial"/>
                <a:sym typeface="Arial"/>
              </a:endParaRPr>
            </a:p>
          </p:txBody>
        </p:sp>
      </p:grpSp>
      <p:sp>
        <p:nvSpPr>
          <p:cNvPr id="162" name="Google Shape;162;p4"/>
          <p:cNvSpPr/>
          <p:nvPr/>
        </p:nvSpPr>
        <p:spPr>
          <a:xfrm>
            <a:off x="2252791" y="1842996"/>
            <a:ext cx="791939" cy="554357"/>
          </a:xfrm>
          <a:custGeom>
            <a:rect b="b" l="l" r="r" t="t"/>
            <a:pathLst>
              <a:path extrusionOk="0" h="1108714" w="1583878">
                <a:moveTo>
                  <a:pt x="0" y="0"/>
                </a:moveTo>
                <a:lnTo>
                  <a:pt x="1583878" y="0"/>
                </a:lnTo>
                <a:lnTo>
                  <a:pt x="1583878" y="1108714"/>
                </a:lnTo>
                <a:lnTo>
                  <a:pt x="0" y="1108714"/>
                </a:lnTo>
                <a:lnTo>
                  <a:pt x="0" y="0"/>
                </a:lnTo>
                <a:close/>
              </a:path>
            </a:pathLst>
          </a:custGeom>
          <a:blipFill rotWithShape="1">
            <a:blip r:embed="rId3">
              <a:alphaModFix/>
            </a:blip>
            <a:stretch>
              <a:fillRect b="0" l="0" r="0" t="0"/>
            </a:stretch>
          </a:blipFill>
          <a:ln>
            <a:noFill/>
          </a:ln>
        </p:spPr>
      </p:sp>
      <p:sp>
        <p:nvSpPr>
          <p:cNvPr id="163" name="Google Shape;163;p4"/>
          <p:cNvSpPr/>
          <p:nvPr/>
        </p:nvSpPr>
        <p:spPr>
          <a:xfrm>
            <a:off x="6099271" y="1830168"/>
            <a:ext cx="791939" cy="554357"/>
          </a:xfrm>
          <a:custGeom>
            <a:rect b="b" l="l" r="r" t="t"/>
            <a:pathLst>
              <a:path extrusionOk="0" h="1108714" w="1583878">
                <a:moveTo>
                  <a:pt x="0" y="0"/>
                </a:moveTo>
                <a:lnTo>
                  <a:pt x="1583878" y="0"/>
                </a:lnTo>
                <a:lnTo>
                  <a:pt x="1583878" y="1108715"/>
                </a:lnTo>
                <a:lnTo>
                  <a:pt x="0" y="1108715"/>
                </a:lnTo>
                <a:lnTo>
                  <a:pt x="0" y="0"/>
                </a:lnTo>
                <a:close/>
              </a:path>
            </a:pathLst>
          </a:custGeom>
          <a:blipFill rotWithShape="1">
            <a:blip r:embed="rId3">
              <a:alphaModFix/>
            </a:blip>
            <a:stretch>
              <a:fillRect b="0" l="0" r="0" t="0"/>
            </a:stretch>
          </a:blipFill>
          <a:ln>
            <a:noFill/>
          </a:ln>
        </p:spPr>
      </p:sp>
      <p:sp>
        <p:nvSpPr>
          <p:cNvPr id="164" name="Google Shape;164;p4"/>
          <p:cNvSpPr/>
          <p:nvPr/>
        </p:nvSpPr>
        <p:spPr>
          <a:xfrm>
            <a:off x="3810504" y="3417640"/>
            <a:ext cx="1522993" cy="1522993"/>
          </a:xfrm>
          <a:custGeom>
            <a:rect b="b" l="l" r="r" t="t"/>
            <a:pathLst>
              <a:path extrusionOk="0" h="3045985" w="3045985">
                <a:moveTo>
                  <a:pt x="0" y="0"/>
                </a:moveTo>
                <a:lnTo>
                  <a:pt x="3045984" y="0"/>
                </a:lnTo>
                <a:lnTo>
                  <a:pt x="3045984" y="3045984"/>
                </a:lnTo>
                <a:lnTo>
                  <a:pt x="0" y="3045984"/>
                </a:lnTo>
                <a:lnTo>
                  <a:pt x="0" y="0"/>
                </a:lnTo>
                <a:close/>
              </a:path>
            </a:pathLst>
          </a:custGeom>
          <a:blipFill rotWithShape="1">
            <a:blip r:embed="rId4">
              <a:alphaModFix/>
            </a:blip>
            <a:stretch>
              <a:fillRect b="0" l="0" r="0" t="0"/>
            </a:stretch>
          </a:blipFill>
          <a:ln>
            <a:noFill/>
          </a:ln>
        </p:spPr>
      </p:sp>
      <p:sp>
        <p:nvSpPr>
          <p:cNvPr id="165" name="Google Shape;165;p4"/>
          <p:cNvSpPr txBox="1"/>
          <p:nvPr/>
        </p:nvSpPr>
        <p:spPr>
          <a:xfrm>
            <a:off x="2196630" y="274583"/>
            <a:ext cx="4944300" cy="446400"/>
          </a:xfrm>
          <a:prstGeom prst="rect">
            <a:avLst/>
          </a:prstGeom>
          <a:noFill/>
          <a:ln>
            <a:noFill/>
          </a:ln>
        </p:spPr>
        <p:txBody>
          <a:bodyPr anchorCtr="0" anchor="t" bIns="0" lIns="0" spcFirstLastPara="1" rIns="0" wrap="square" tIns="0">
            <a:spAutoFit/>
          </a:bodyPr>
          <a:lstStyle/>
          <a:p>
            <a:pPr indent="0" lvl="0" marL="0" marR="0" rtl="0" algn="ctr">
              <a:lnSpc>
                <a:spcPct val="126990"/>
              </a:lnSpc>
              <a:spcBef>
                <a:spcPts val="0"/>
              </a:spcBef>
              <a:spcAft>
                <a:spcPts val="0"/>
              </a:spcAft>
              <a:buClr>
                <a:srgbClr val="000000"/>
              </a:buClr>
              <a:buSzPts val="2900"/>
              <a:buFont typeface="Arial"/>
              <a:buNone/>
            </a:pPr>
            <a:r>
              <a:rPr b="1" i="0" lang="en" sz="2900" u="none" cap="none" strike="noStrike">
                <a:solidFill>
                  <a:srgbClr val="0E2F5F"/>
                </a:solidFill>
                <a:latin typeface="Arial"/>
                <a:ea typeface="Arial"/>
                <a:cs typeface="Arial"/>
                <a:sym typeface="Arial"/>
              </a:rPr>
              <a:t>Dataset Analysis</a:t>
            </a:r>
            <a:endParaRPr b="0" i="0" sz="700" u="none" cap="none" strike="noStrike">
              <a:solidFill>
                <a:srgbClr val="000000"/>
              </a:solidFill>
              <a:latin typeface="Arial"/>
              <a:ea typeface="Arial"/>
              <a:cs typeface="Arial"/>
              <a:sym typeface="Arial"/>
            </a:endParaRPr>
          </a:p>
        </p:txBody>
      </p:sp>
      <p:sp>
        <p:nvSpPr>
          <p:cNvPr id="166" name="Google Shape;166;p4"/>
          <p:cNvSpPr txBox="1"/>
          <p:nvPr/>
        </p:nvSpPr>
        <p:spPr>
          <a:xfrm>
            <a:off x="3435877" y="1345413"/>
            <a:ext cx="2365766" cy="945697"/>
          </a:xfrm>
          <a:prstGeom prst="rect">
            <a:avLst/>
          </a:prstGeom>
          <a:noFill/>
          <a:ln>
            <a:noFill/>
          </a:ln>
        </p:spPr>
        <p:txBody>
          <a:bodyPr anchorCtr="0" anchor="t" bIns="0" lIns="0" spcFirstLastPara="1" rIns="0" wrap="square" tIns="0">
            <a:spAutoFit/>
          </a:bodyPr>
          <a:lstStyle/>
          <a:p>
            <a:pPr indent="0" lvl="0" marL="0" marR="0" rtl="0" algn="ctr">
              <a:lnSpc>
                <a:spcPct val="139965"/>
              </a:lnSpc>
              <a:spcBef>
                <a:spcPts val="0"/>
              </a:spcBef>
              <a:spcAft>
                <a:spcPts val="0"/>
              </a:spcAft>
              <a:buClr>
                <a:srgbClr val="000000"/>
              </a:buClr>
              <a:buSzPts val="1200"/>
              <a:buFont typeface="Arial"/>
              <a:buNone/>
            </a:pPr>
            <a:r>
              <a:rPr b="1" i="0" lang="en" sz="1200" u="none" cap="none" strike="noStrike">
                <a:solidFill>
                  <a:srgbClr val="FFFFFF"/>
                </a:solidFill>
                <a:latin typeface="Arial"/>
                <a:ea typeface="Arial"/>
                <a:cs typeface="Arial"/>
                <a:sym typeface="Arial"/>
              </a:rPr>
              <a:t>Demographics</a:t>
            </a:r>
            <a:endParaRPr b="0" i="0" sz="700" u="none" cap="none" strike="noStrike">
              <a:solidFill>
                <a:srgbClr val="000000"/>
              </a:solidFill>
              <a:latin typeface="Arial"/>
              <a:ea typeface="Arial"/>
              <a:cs typeface="Arial"/>
              <a:sym typeface="Arial"/>
            </a:endParaRPr>
          </a:p>
          <a:p>
            <a:pPr indent="0" lvl="0" marL="0" marR="0" rtl="0" algn="ctr">
              <a:lnSpc>
                <a:spcPct val="139960"/>
              </a:lnSpc>
              <a:spcBef>
                <a:spcPts val="0"/>
              </a:spcBef>
              <a:spcAft>
                <a:spcPts val="0"/>
              </a:spcAft>
              <a:buClr>
                <a:srgbClr val="000000"/>
              </a:buClr>
              <a:buSzPts val="1000"/>
              <a:buFont typeface="Arial"/>
              <a:buNone/>
            </a:pPr>
            <a:r>
              <a:rPr b="1" i="0" lang="en" sz="1000" u="none" cap="none" strike="noStrike">
                <a:solidFill>
                  <a:srgbClr val="FFFFFF"/>
                </a:solidFill>
                <a:latin typeface="Arial"/>
                <a:ea typeface="Arial"/>
                <a:cs typeface="Arial"/>
                <a:sym typeface="Arial"/>
              </a:rPr>
              <a:t>- ethnicity and race group </a:t>
            </a:r>
            <a:endParaRPr b="0" i="0" sz="700" u="none" cap="none" strike="noStrike">
              <a:solidFill>
                <a:srgbClr val="000000"/>
              </a:solidFill>
              <a:latin typeface="Arial"/>
              <a:ea typeface="Arial"/>
              <a:cs typeface="Arial"/>
              <a:sym typeface="Arial"/>
            </a:endParaRPr>
          </a:p>
          <a:p>
            <a:pPr indent="0" lvl="0" marL="0" marR="0" rtl="0" algn="ctr">
              <a:lnSpc>
                <a:spcPct val="228571"/>
              </a:lnSpc>
              <a:spcBef>
                <a:spcPts val="0"/>
              </a:spcBef>
              <a:spcAft>
                <a:spcPts val="0"/>
              </a:spcAft>
              <a:buClr>
                <a:srgbClr val="000000"/>
              </a:buClr>
              <a:buSzPts val="1000"/>
              <a:buFont typeface="Arial"/>
              <a:buNone/>
            </a:pPr>
            <a:r>
              <a:t/>
            </a:r>
            <a:endParaRPr b="1" i="0" sz="1000" u="none" cap="none" strike="noStrike">
              <a:solidFill>
                <a:srgbClr val="FFFFFF"/>
              </a:solidFill>
              <a:latin typeface="Arial"/>
              <a:ea typeface="Arial"/>
              <a:cs typeface="Arial"/>
              <a:sym typeface="Arial"/>
            </a:endParaRPr>
          </a:p>
          <a:p>
            <a:pPr indent="0" lvl="0" marL="0" marR="0" rtl="0" algn="ctr">
              <a:lnSpc>
                <a:spcPct val="228571"/>
              </a:lnSpc>
              <a:spcBef>
                <a:spcPts val="0"/>
              </a:spcBef>
              <a:spcAft>
                <a:spcPts val="0"/>
              </a:spcAft>
              <a:buClr>
                <a:srgbClr val="000000"/>
              </a:buClr>
              <a:buSzPts val="1000"/>
              <a:buFont typeface="Arial"/>
              <a:buNone/>
            </a:pPr>
            <a:r>
              <a:t/>
            </a:r>
            <a:endParaRPr b="1" i="0" sz="1000" u="none" cap="none" strike="noStrike">
              <a:solidFill>
                <a:srgbClr val="FFFFFF"/>
              </a:solidFill>
              <a:latin typeface="Arial"/>
              <a:ea typeface="Arial"/>
              <a:cs typeface="Arial"/>
              <a:sym typeface="Arial"/>
            </a:endParaRPr>
          </a:p>
        </p:txBody>
      </p:sp>
      <p:grpSp>
        <p:nvGrpSpPr>
          <p:cNvPr id="167" name="Google Shape;167;p4"/>
          <p:cNvGrpSpPr/>
          <p:nvPr/>
        </p:nvGrpSpPr>
        <p:grpSpPr>
          <a:xfrm>
            <a:off x="359754" y="2029761"/>
            <a:ext cx="2380463" cy="808100"/>
            <a:chOff x="0" y="-47625"/>
            <a:chExt cx="1253906" cy="425666"/>
          </a:xfrm>
        </p:grpSpPr>
        <p:sp>
          <p:nvSpPr>
            <p:cNvPr id="168" name="Google Shape;168;p4"/>
            <p:cNvSpPr/>
            <p:nvPr/>
          </p:nvSpPr>
          <p:spPr>
            <a:xfrm>
              <a:off x="0" y="0"/>
              <a:ext cx="1253906" cy="378041"/>
            </a:xfrm>
            <a:custGeom>
              <a:rect b="b" l="l" r="r" t="t"/>
              <a:pathLst>
                <a:path extrusionOk="0" h="378041" w="1253906">
                  <a:moveTo>
                    <a:pt x="82933" y="0"/>
                  </a:moveTo>
                  <a:lnTo>
                    <a:pt x="1170973" y="0"/>
                  </a:lnTo>
                  <a:cubicBezTo>
                    <a:pt x="1216776" y="0"/>
                    <a:pt x="1253906" y="37130"/>
                    <a:pt x="1253906" y="82933"/>
                  </a:cubicBezTo>
                  <a:lnTo>
                    <a:pt x="1253906" y="295108"/>
                  </a:lnTo>
                  <a:cubicBezTo>
                    <a:pt x="1253906" y="340910"/>
                    <a:pt x="1216776" y="378041"/>
                    <a:pt x="1170973" y="378041"/>
                  </a:cubicBezTo>
                  <a:lnTo>
                    <a:pt x="82933" y="378041"/>
                  </a:lnTo>
                  <a:cubicBezTo>
                    <a:pt x="37130" y="378041"/>
                    <a:pt x="0" y="340910"/>
                    <a:pt x="0" y="295108"/>
                  </a:cubicBezTo>
                  <a:lnTo>
                    <a:pt x="0" y="82933"/>
                  </a:lnTo>
                  <a:cubicBezTo>
                    <a:pt x="0" y="37130"/>
                    <a:pt x="37130" y="0"/>
                    <a:pt x="82933" y="0"/>
                  </a:cubicBezTo>
                  <a:close/>
                </a:path>
              </a:pathLst>
            </a:custGeom>
            <a:solidFill>
              <a:srgbClr val="5188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4"/>
            <p:cNvSpPr txBox="1"/>
            <p:nvPr/>
          </p:nvSpPr>
          <p:spPr>
            <a:xfrm>
              <a:off x="0" y="-47625"/>
              <a:ext cx="1253906" cy="425666"/>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70" name="Google Shape;170;p4"/>
          <p:cNvSpPr txBox="1"/>
          <p:nvPr/>
        </p:nvSpPr>
        <p:spPr>
          <a:xfrm>
            <a:off x="514350" y="2192329"/>
            <a:ext cx="1997577" cy="516954"/>
          </a:xfrm>
          <a:prstGeom prst="rect">
            <a:avLst/>
          </a:prstGeom>
          <a:noFill/>
          <a:ln>
            <a:noFill/>
          </a:ln>
        </p:spPr>
        <p:txBody>
          <a:bodyPr anchorCtr="0" anchor="t" bIns="0" lIns="0" spcFirstLastPara="1" rIns="0" wrap="square" tIns="0">
            <a:spAutoFit/>
          </a:bodyPr>
          <a:lstStyle/>
          <a:p>
            <a:pPr indent="0" lvl="0" marL="0" marR="0" rtl="0" algn="ctr">
              <a:lnSpc>
                <a:spcPct val="140017"/>
              </a:lnSpc>
              <a:spcBef>
                <a:spcPts val="0"/>
              </a:spcBef>
              <a:spcAft>
                <a:spcPts val="0"/>
              </a:spcAft>
              <a:buClr>
                <a:srgbClr val="000000"/>
              </a:buClr>
              <a:buSzPts val="1100"/>
              <a:buFont typeface="Arial"/>
              <a:buNone/>
            </a:pPr>
            <a:r>
              <a:rPr b="1" i="0" lang="en" sz="1100" u="none" cap="none" strike="noStrike">
                <a:solidFill>
                  <a:srgbClr val="FFFFFF"/>
                </a:solidFill>
                <a:latin typeface="Arial"/>
                <a:ea typeface="Arial"/>
                <a:cs typeface="Arial"/>
                <a:sym typeface="Arial"/>
              </a:rPr>
              <a:t>Treatment details</a:t>
            </a:r>
            <a:endParaRPr b="0" i="0" sz="700" u="none" cap="none" strike="noStrike">
              <a:solidFill>
                <a:srgbClr val="000000"/>
              </a:solidFill>
              <a:latin typeface="Arial"/>
              <a:ea typeface="Arial"/>
              <a:cs typeface="Arial"/>
              <a:sym typeface="Arial"/>
            </a:endParaRPr>
          </a:p>
          <a:p>
            <a:pPr indent="0" lvl="0" marL="0" marR="0" rtl="0" algn="ctr">
              <a:lnSpc>
                <a:spcPct val="140021"/>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 HLA match, graft type, and conditioning intensity</a:t>
            </a:r>
            <a:endParaRPr b="0" i="0" sz="700" u="none" cap="none" strike="noStrike">
              <a:solidFill>
                <a:srgbClr val="000000"/>
              </a:solidFill>
              <a:latin typeface="Arial"/>
              <a:ea typeface="Arial"/>
              <a:cs typeface="Arial"/>
              <a:sym typeface="Arial"/>
            </a:endParaRPr>
          </a:p>
        </p:txBody>
      </p:sp>
      <p:grpSp>
        <p:nvGrpSpPr>
          <p:cNvPr id="171" name="Google Shape;171;p4"/>
          <p:cNvGrpSpPr/>
          <p:nvPr/>
        </p:nvGrpSpPr>
        <p:grpSpPr>
          <a:xfrm>
            <a:off x="6403775" y="2013451"/>
            <a:ext cx="2380415" cy="905008"/>
            <a:chOff x="0" y="-47625"/>
            <a:chExt cx="1253906" cy="425666"/>
          </a:xfrm>
        </p:grpSpPr>
        <p:sp>
          <p:nvSpPr>
            <p:cNvPr id="172" name="Google Shape;172;p4"/>
            <p:cNvSpPr/>
            <p:nvPr/>
          </p:nvSpPr>
          <p:spPr>
            <a:xfrm>
              <a:off x="0" y="0"/>
              <a:ext cx="1253906" cy="378041"/>
            </a:xfrm>
            <a:custGeom>
              <a:rect b="b" l="l" r="r" t="t"/>
              <a:pathLst>
                <a:path extrusionOk="0" h="378041" w="1253906">
                  <a:moveTo>
                    <a:pt x="82933" y="0"/>
                  </a:moveTo>
                  <a:lnTo>
                    <a:pt x="1170973" y="0"/>
                  </a:lnTo>
                  <a:cubicBezTo>
                    <a:pt x="1216776" y="0"/>
                    <a:pt x="1253906" y="37130"/>
                    <a:pt x="1253906" y="82933"/>
                  </a:cubicBezTo>
                  <a:lnTo>
                    <a:pt x="1253906" y="295108"/>
                  </a:lnTo>
                  <a:cubicBezTo>
                    <a:pt x="1253906" y="340910"/>
                    <a:pt x="1216776" y="378041"/>
                    <a:pt x="1170973" y="378041"/>
                  </a:cubicBezTo>
                  <a:lnTo>
                    <a:pt x="82933" y="378041"/>
                  </a:lnTo>
                  <a:cubicBezTo>
                    <a:pt x="37130" y="378041"/>
                    <a:pt x="0" y="340910"/>
                    <a:pt x="0" y="295108"/>
                  </a:cubicBezTo>
                  <a:lnTo>
                    <a:pt x="0" y="82933"/>
                  </a:lnTo>
                  <a:cubicBezTo>
                    <a:pt x="0" y="37130"/>
                    <a:pt x="37130" y="0"/>
                    <a:pt x="82933" y="0"/>
                  </a:cubicBezTo>
                  <a:close/>
                </a:path>
              </a:pathLst>
            </a:custGeom>
            <a:solidFill>
              <a:srgbClr val="5188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4"/>
            <p:cNvSpPr txBox="1"/>
            <p:nvPr/>
          </p:nvSpPr>
          <p:spPr>
            <a:xfrm>
              <a:off x="0" y="-47625"/>
              <a:ext cx="1253906" cy="425666"/>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74" name="Google Shape;174;p4"/>
          <p:cNvSpPr txBox="1"/>
          <p:nvPr/>
        </p:nvSpPr>
        <p:spPr>
          <a:xfrm>
            <a:off x="6461375" y="2119325"/>
            <a:ext cx="2410500" cy="979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200"/>
              <a:buFont typeface="Arial"/>
              <a:buNone/>
            </a:pPr>
            <a:r>
              <a:rPr b="1" i="0" lang="en" sz="1200" u="none" cap="none" strike="noStrike">
                <a:solidFill>
                  <a:srgbClr val="FFFFFF"/>
                </a:solidFill>
                <a:latin typeface="Arial"/>
                <a:ea typeface="Arial"/>
                <a:cs typeface="Arial"/>
                <a:sym typeface="Arial"/>
              </a:rPr>
              <a:t>Medical History</a:t>
            </a:r>
            <a:endParaRPr b="0" i="0" sz="700" u="none" cap="none" strike="noStrike">
              <a:solidFill>
                <a:srgbClr val="000000"/>
              </a:solidFill>
              <a:latin typeface="Arial"/>
              <a:ea typeface="Arial"/>
              <a:cs typeface="Arial"/>
              <a:sym typeface="Arial"/>
            </a:endParaRPr>
          </a:p>
          <a:p>
            <a:pPr indent="0" lvl="0" marL="0" marR="0" rtl="0" algn="ctr">
              <a:lnSpc>
                <a:spcPct val="140033"/>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 comorbidity scores, prior tumors, pre-existing conditions: diabetes and cardiac issues</a:t>
            </a:r>
            <a:endParaRPr b="0" i="0" sz="700" u="none" cap="none" strike="noStrike">
              <a:solidFill>
                <a:srgbClr val="000000"/>
              </a:solidFill>
              <a:latin typeface="Arial"/>
              <a:ea typeface="Arial"/>
              <a:cs typeface="Arial"/>
              <a:sym typeface="Arial"/>
            </a:endParaRPr>
          </a:p>
          <a:p>
            <a:pPr indent="0" lvl="0" marL="0" marR="0" rtl="0" algn="ctr">
              <a:lnSpc>
                <a:spcPct val="179458"/>
              </a:lnSpc>
              <a:spcBef>
                <a:spcPts val="0"/>
              </a:spcBef>
              <a:spcAft>
                <a:spcPts val="0"/>
              </a:spcAft>
              <a:buClr>
                <a:srgbClr val="000000"/>
              </a:buClr>
              <a:buSzPts val="900"/>
              <a:buFont typeface="Arial"/>
              <a:buNone/>
            </a:pPr>
            <a:r>
              <a:t/>
            </a:r>
            <a:endParaRPr b="1" i="0" sz="900" u="none" cap="none" strike="noStrike">
              <a:solidFill>
                <a:srgbClr val="FFFFFF"/>
              </a:solidFill>
              <a:latin typeface="Arial"/>
              <a:ea typeface="Arial"/>
              <a:cs typeface="Arial"/>
              <a:sym typeface="Arial"/>
            </a:endParaRPr>
          </a:p>
        </p:txBody>
      </p:sp>
      <p:grpSp>
        <p:nvGrpSpPr>
          <p:cNvPr id="175" name="Google Shape;175;p4"/>
          <p:cNvGrpSpPr/>
          <p:nvPr/>
        </p:nvGrpSpPr>
        <p:grpSpPr>
          <a:xfrm>
            <a:off x="664267" y="3230682"/>
            <a:ext cx="2380463" cy="808100"/>
            <a:chOff x="0" y="-47625"/>
            <a:chExt cx="1253906" cy="425666"/>
          </a:xfrm>
        </p:grpSpPr>
        <p:sp>
          <p:nvSpPr>
            <p:cNvPr id="176" name="Google Shape;176;p4"/>
            <p:cNvSpPr/>
            <p:nvPr/>
          </p:nvSpPr>
          <p:spPr>
            <a:xfrm>
              <a:off x="0" y="0"/>
              <a:ext cx="1253906" cy="378041"/>
            </a:xfrm>
            <a:custGeom>
              <a:rect b="b" l="l" r="r" t="t"/>
              <a:pathLst>
                <a:path extrusionOk="0" h="378041" w="1253906">
                  <a:moveTo>
                    <a:pt x="82933" y="0"/>
                  </a:moveTo>
                  <a:lnTo>
                    <a:pt x="1170973" y="0"/>
                  </a:lnTo>
                  <a:cubicBezTo>
                    <a:pt x="1216776" y="0"/>
                    <a:pt x="1253906" y="37130"/>
                    <a:pt x="1253906" y="82933"/>
                  </a:cubicBezTo>
                  <a:lnTo>
                    <a:pt x="1253906" y="295108"/>
                  </a:lnTo>
                  <a:cubicBezTo>
                    <a:pt x="1253906" y="340910"/>
                    <a:pt x="1216776" y="378041"/>
                    <a:pt x="1170973" y="378041"/>
                  </a:cubicBezTo>
                  <a:lnTo>
                    <a:pt x="82933" y="378041"/>
                  </a:lnTo>
                  <a:cubicBezTo>
                    <a:pt x="37130" y="378041"/>
                    <a:pt x="0" y="340910"/>
                    <a:pt x="0" y="295108"/>
                  </a:cubicBezTo>
                  <a:lnTo>
                    <a:pt x="0" y="82933"/>
                  </a:lnTo>
                  <a:cubicBezTo>
                    <a:pt x="0" y="37130"/>
                    <a:pt x="37130" y="0"/>
                    <a:pt x="82933" y="0"/>
                  </a:cubicBezTo>
                  <a:close/>
                </a:path>
              </a:pathLst>
            </a:custGeom>
            <a:solidFill>
              <a:srgbClr val="5188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4"/>
            <p:cNvSpPr txBox="1"/>
            <p:nvPr/>
          </p:nvSpPr>
          <p:spPr>
            <a:xfrm>
              <a:off x="0" y="-47625"/>
              <a:ext cx="1253906" cy="425666"/>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78" name="Google Shape;178;p4"/>
          <p:cNvGrpSpPr/>
          <p:nvPr/>
        </p:nvGrpSpPr>
        <p:grpSpPr>
          <a:xfrm>
            <a:off x="6113900" y="3230675"/>
            <a:ext cx="2365744" cy="866315"/>
            <a:chOff x="0" y="-47625"/>
            <a:chExt cx="1253906" cy="425666"/>
          </a:xfrm>
        </p:grpSpPr>
        <p:sp>
          <p:nvSpPr>
            <p:cNvPr id="179" name="Google Shape;179;p4"/>
            <p:cNvSpPr/>
            <p:nvPr/>
          </p:nvSpPr>
          <p:spPr>
            <a:xfrm>
              <a:off x="0" y="0"/>
              <a:ext cx="1253906" cy="378041"/>
            </a:xfrm>
            <a:custGeom>
              <a:rect b="b" l="l" r="r" t="t"/>
              <a:pathLst>
                <a:path extrusionOk="0" h="378041" w="1253906">
                  <a:moveTo>
                    <a:pt x="82933" y="0"/>
                  </a:moveTo>
                  <a:lnTo>
                    <a:pt x="1170973" y="0"/>
                  </a:lnTo>
                  <a:cubicBezTo>
                    <a:pt x="1216776" y="0"/>
                    <a:pt x="1253906" y="37130"/>
                    <a:pt x="1253906" y="82933"/>
                  </a:cubicBezTo>
                  <a:lnTo>
                    <a:pt x="1253906" y="295108"/>
                  </a:lnTo>
                  <a:cubicBezTo>
                    <a:pt x="1253906" y="340910"/>
                    <a:pt x="1216776" y="378041"/>
                    <a:pt x="1170973" y="378041"/>
                  </a:cubicBezTo>
                  <a:lnTo>
                    <a:pt x="82933" y="378041"/>
                  </a:lnTo>
                  <a:cubicBezTo>
                    <a:pt x="37130" y="378041"/>
                    <a:pt x="0" y="340910"/>
                    <a:pt x="0" y="295108"/>
                  </a:cubicBezTo>
                  <a:lnTo>
                    <a:pt x="0" y="82933"/>
                  </a:lnTo>
                  <a:cubicBezTo>
                    <a:pt x="0" y="37130"/>
                    <a:pt x="37130" y="0"/>
                    <a:pt x="82933" y="0"/>
                  </a:cubicBezTo>
                  <a:close/>
                </a:path>
              </a:pathLst>
            </a:custGeom>
            <a:solidFill>
              <a:srgbClr val="5188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4"/>
            <p:cNvSpPr txBox="1"/>
            <p:nvPr/>
          </p:nvSpPr>
          <p:spPr>
            <a:xfrm>
              <a:off x="0" y="-47625"/>
              <a:ext cx="1253906" cy="425666"/>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81" name="Google Shape;181;p4"/>
          <p:cNvSpPr txBox="1"/>
          <p:nvPr/>
        </p:nvSpPr>
        <p:spPr>
          <a:xfrm>
            <a:off x="855710" y="3393828"/>
            <a:ext cx="1997577" cy="84521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200"/>
              <a:buFont typeface="Arial"/>
              <a:buNone/>
            </a:pPr>
            <a:r>
              <a:rPr b="1" i="0" lang="en" sz="1200" u="none" cap="none" strike="noStrike">
                <a:solidFill>
                  <a:srgbClr val="FFFFFF"/>
                </a:solidFill>
                <a:latin typeface="Arial"/>
                <a:ea typeface="Arial"/>
                <a:cs typeface="Arial"/>
                <a:sym typeface="Arial"/>
              </a:rPr>
              <a:t>Sex-Match</a:t>
            </a:r>
            <a:endParaRPr b="0" i="0" sz="700" u="none" cap="none" strike="noStrike">
              <a:solidFill>
                <a:srgbClr val="000000"/>
              </a:solidFill>
              <a:latin typeface="Arial"/>
              <a:ea typeface="Arial"/>
              <a:cs typeface="Arial"/>
              <a:sym typeface="Arial"/>
            </a:endParaRPr>
          </a:p>
          <a:p>
            <a:pPr indent="0" lvl="0" marL="0" marR="0" rtl="0" algn="ctr">
              <a:lnSpc>
                <a:spcPct val="140021"/>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-Donor and recipient biological sex compatibility and donor age</a:t>
            </a:r>
            <a:endParaRPr b="0" i="0" sz="700" u="none" cap="none" strike="noStrike">
              <a:solidFill>
                <a:srgbClr val="000000"/>
              </a:solidFill>
              <a:latin typeface="Arial"/>
              <a:ea typeface="Arial"/>
              <a:cs typeface="Arial"/>
              <a:sym typeface="Arial"/>
            </a:endParaRPr>
          </a:p>
          <a:p>
            <a:pPr indent="0" lvl="0" marL="0" marR="0" rtl="0" algn="ctr">
              <a:lnSpc>
                <a:spcPct val="140021"/>
              </a:lnSpc>
              <a:spcBef>
                <a:spcPts val="0"/>
              </a:spcBef>
              <a:spcAft>
                <a:spcPts val="0"/>
              </a:spcAft>
              <a:buClr>
                <a:srgbClr val="000000"/>
              </a:buClr>
              <a:buSzPts val="900"/>
              <a:buFont typeface="Arial"/>
              <a:buNone/>
            </a:pPr>
            <a:r>
              <a:t/>
            </a:r>
            <a:endParaRPr b="1" i="0" sz="900" u="none" cap="none" strike="noStrike">
              <a:solidFill>
                <a:srgbClr val="FFFFFF"/>
              </a:solidFill>
              <a:latin typeface="Arial"/>
              <a:ea typeface="Arial"/>
              <a:cs typeface="Arial"/>
              <a:sym typeface="Arial"/>
            </a:endParaRPr>
          </a:p>
          <a:p>
            <a:pPr indent="0" lvl="0" marL="0" marR="0" rtl="0" algn="ctr">
              <a:lnSpc>
                <a:spcPct val="140021"/>
              </a:lnSpc>
              <a:spcBef>
                <a:spcPts val="0"/>
              </a:spcBef>
              <a:spcAft>
                <a:spcPts val="0"/>
              </a:spcAft>
              <a:buClr>
                <a:srgbClr val="000000"/>
              </a:buClr>
              <a:buSzPts val="900"/>
              <a:buFont typeface="Arial"/>
              <a:buNone/>
            </a:pPr>
            <a:r>
              <a:t/>
            </a:r>
            <a:endParaRPr b="1" i="0" sz="900" u="none" cap="none" strike="noStrike">
              <a:solidFill>
                <a:srgbClr val="FFFFFF"/>
              </a:solidFill>
              <a:latin typeface="Arial"/>
              <a:ea typeface="Arial"/>
              <a:cs typeface="Arial"/>
              <a:sym typeface="Arial"/>
            </a:endParaRPr>
          </a:p>
        </p:txBody>
      </p:sp>
      <p:sp>
        <p:nvSpPr>
          <p:cNvPr id="182" name="Google Shape;182;p4"/>
          <p:cNvSpPr txBox="1"/>
          <p:nvPr/>
        </p:nvSpPr>
        <p:spPr>
          <a:xfrm>
            <a:off x="6339625" y="3326838"/>
            <a:ext cx="1914300" cy="936000"/>
          </a:xfrm>
          <a:prstGeom prst="rect">
            <a:avLst/>
          </a:prstGeom>
          <a:noFill/>
          <a:ln>
            <a:noFill/>
          </a:ln>
        </p:spPr>
        <p:txBody>
          <a:bodyPr anchorCtr="0" anchor="t" bIns="0" lIns="0" spcFirstLastPara="1" rIns="0" wrap="square" tIns="0">
            <a:spAutoFit/>
          </a:bodyPr>
          <a:lstStyle/>
          <a:p>
            <a:pPr indent="0" lvl="0" marL="0" marR="0" rtl="0" algn="ctr">
              <a:lnSpc>
                <a:spcPct val="139991"/>
              </a:lnSpc>
              <a:spcBef>
                <a:spcPts val="0"/>
              </a:spcBef>
              <a:spcAft>
                <a:spcPts val="0"/>
              </a:spcAft>
              <a:buClr>
                <a:srgbClr val="000000"/>
              </a:buClr>
              <a:buSzPts val="1200"/>
              <a:buFont typeface="Arial"/>
              <a:buNone/>
            </a:pPr>
            <a:r>
              <a:rPr b="1" i="0" lang="en" sz="1200" u="none" cap="none" strike="noStrike">
                <a:solidFill>
                  <a:srgbClr val="FFFFFF"/>
                </a:solidFill>
                <a:latin typeface="Arial"/>
                <a:ea typeface="Arial"/>
                <a:cs typeface="Arial"/>
                <a:sym typeface="Arial"/>
              </a:rPr>
              <a:t>Outcome variables</a:t>
            </a:r>
            <a:endParaRPr b="0" i="0" sz="700" u="none" cap="none" strike="noStrike">
              <a:solidFill>
                <a:srgbClr val="000000"/>
              </a:solidFill>
              <a:latin typeface="Arial"/>
              <a:ea typeface="Arial"/>
              <a:cs typeface="Arial"/>
              <a:sym typeface="Arial"/>
            </a:endParaRPr>
          </a:p>
          <a:p>
            <a:pPr indent="0" lvl="0" marL="0" marR="0" rtl="0" algn="ctr">
              <a:lnSpc>
                <a:spcPct val="140058"/>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a:t>
            </a:r>
            <a:r>
              <a:rPr b="1" i="0" lang="en" sz="800" u="none" cap="none" strike="noStrike">
                <a:solidFill>
                  <a:srgbClr val="FFFFFF"/>
                </a:solidFill>
                <a:latin typeface="Arial"/>
                <a:ea typeface="Arial"/>
                <a:cs typeface="Arial"/>
                <a:sym typeface="Arial"/>
              </a:rPr>
              <a:t> Event-Free Survival &amp; EFS time</a:t>
            </a:r>
            <a:endParaRPr b="0" i="0" sz="600" u="none" cap="none" strike="noStrike">
              <a:solidFill>
                <a:srgbClr val="000000"/>
              </a:solidFill>
              <a:latin typeface="Arial"/>
              <a:ea typeface="Arial"/>
              <a:cs typeface="Arial"/>
              <a:sym typeface="Arial"/>
            </a:endParaRPr>
          </a:p>
          <a:p>
            <a:pPr indent="0" lvl="0" marL="0" marR="0" rtl="0" algn="ctr">
              <a:lnSpc>
                <a:spcPct val="140058"/>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representing survival status and time to an event or censoring.</a:t>
            </a:r>
            <a:endParaRPr b="0" i="0" sz="600" u="none" cap="none" strike="noStrike">
              <a:solidFill>
                <a:srgbClr val="000000"/>
              </a:solidFill>
              <a:latin typeface="Arial"/>
              <a:ea typeface="Arial"/>
              <a:cs typeface="Arial"/>
              <a:sym typeface="Arial"/>
            </a:endParaRPr>
          </a:p>
          <a:p>
            <a:pPr indent="0" lvl="0" marL="0" marR="0" rtl="0" algn="ctr">
              <a:lnSpc>
                <a:spcPct val="105926"/>
              </a:lnSpc>
              <a:spcBef>
                <a:spcPts val="0"/>
              </a:spcBef>
              <a:spcAft>
                <a:spcPts val="0"/>
              </a:spcAft>
              <a:buClr>
                <a:srgbClr val="000000"/>
              </a:buClr>
              <a:buSzPts val="900"/>
              <a:buFont typeface="Arial"/>
              <a:buNone/>
            </a:pPr>
            <a:r>
              <a:t/>
            </a:r>
            <a:endParaRPr b="1" i="0" sz="900" u="none" cap="none" strike="noStrike">
              <a:solidFill>
                <a:srgbClr val="FFFFFF"/>
              </a:solidFill>
              <a:latin typeface="Arial"/>
              <a:ea typeface="Arial"/>
              <a:cs typeface="Arial"/>
              <a:sym typeface="Arial"/>
            </a:endParaRPr>
          </a:p>
        </p:txBody>
      </p:sp>
      <p:grpSp>
        <p:nvGrpSpPr>
          <p:cNvPr id="183" name="Google Shape;183;p4"/>
          <p:cNvGrpSpPr/>
          <p:nvPr/>
        </p:nvGrpSpPr>
        <p:grpSpPr>
          <a:xfrm>
            <a:off x="2511924" y="245639"/>
            <a:ext cx="448604" cy="516941"/>
            <a:chOff x="0" y="0"/>
            <a:chExt cx="788546" cy="812800"/>
          </a:xfrm>
        </p:grpSpPr>
        <p:sp>
          <p:nvSpPr>
            <p:cNvPr id="184" name="Google Shape;184;p4"/>
            <p:cNvSpPr/>
            <p:nvPr/>
          </p:nvSpPr>
          <p:spPr>
            <a:xfrm>
              <a:off x="0" y="0"/>
              <a:ext cx="788546" cy="812800"/>
            </a:xfrm>
            <a:custGeom>
              <a:rect b="b" l="l" r="r" t="t"/>
              <a:pathLst>
                <a:path extrusionOk="0" h="812800" w="788546">
                  <a:moveTo>
                    <a:pt x="394273" y="0"/>
                  </a:moveTo>
                  <a:cubicBezTo>
                    <a:pt x="176522" y="0"/>
                    <a:pt x="0" y="181951"/>
                    <a:pt x="0" y="406400"/>
                  </a:cubicBezTo>
                  <a:cubicBezTo>
                    <a:pt x="0" y="630849"/>
                    <a:pt x="176522" y="812800"/>
                    <a:pt x="394273" y="812800"/>
                  </a:cubicBezTo>
                  <a:cubicBezTo>
                    <a:pt x="612024" y="812800"/>
                    <a:pt x="788546" y="630849"/>
                    <a:pt x="788546" y="406400"/>
                  </a:cubicBezTo>
                  <a:cubicBezTo>
                    <a:pt x="788546" y="181951"/>
                    <a:pt x="612024" y="0"/>
                    <a:pt x="394273" y="0"/>
                  </a:cubicBezTo>
                  <a:close/>
                </a:path>
              </a:pathLst>
            </a:custGeom>
            <a:solidFill>
              <a:srgbClr val="5188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4"/>
            <p:cNvSpPr txBox="1"/>
            <p:nvPr/>
          </p:nvSpPr>
          <p:spPr>
            <a:xfrm>
              <a:off x="73926" y="28575"/>
              <a:ext cx="640694"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86" name="Google Shape;186;p4"/>
          <p:cNvSpPr/>
          <p:nvPr/>
        </p:nvSpPr>
        <p:spPr>
          <a:xfrm>
            <a:off x="2685550" y="400400"/>
            <a:ext cx="101356" cy="207423"/>
          </a:xfrm>
          <a:custGeom>
            <a:rect b="b" l="l" r="r" t="t"/>
            <a:pathLst>
              <a:path extrusionOk="0" h="496822" w="332315">
                <a:moveTo>
                  <a:pt x="0" y="0"/>
                </a:moveTo>
                <a:lnTo>
                  <a:pt x="332315" y="0"/>
                </a:lnTo>
                <a:lnTo>
                  <a:pt x="332315" y="496822"/>
                </a:lnTo>
                <a:lnTo>
                  <a:pt x="0" y="496822"/>
                </a:lnTo>
                <a:lnTo>
                  <a:pt x="0" y="0"/>
                </a:lnTo>
                <a:close/>
              </a:path>
            </a:pathLst>
          </a:custGeom>
          <a:blipFill rotWithShape="1">
            <a:blip r:embed="rId5">
              <a:alphaModFix/>
            </a:blip>
            <a:stretch>
              <a:fillRect b="0" l="0" r="0" t="0"/>
            </a:stretch>
          </a:blipFill>
          <a:ln>
            <a:noFill/>
          </a:ln>
        </p:spPr>
      </p:sp>
      <p:sp>
        <p:nvSpPr>
          <p:cNvPr id="187" name="Google Shape;187;p4"/>
          <p:cNvSpPr txBox="1"/>
          <p:nvPr/>
        </p:nvSpPr>
        <p:spPr>
          <a:xfrm>
            <a:off x="2252791" y="923563"/>
            <a:ext cx="4944300" cy="153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This dataset is suited for both survival prediction and equity-focused analyses.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cxnSp>
        <p:nvCxnSpPr>
          <p:cNvPr id="192" name="Google Shape;192;p5"/>
          <p:cNvCxnSpPr/>
          <p:nvPr/>
        </p:nvCxnSpPr>
        <p:spPr>
          <a:xfrm>
            <a:off x="4346155" y="1500830"/>
            <a:ext cx="4649908" cy="0"/>
          </a:xfrm>
          <a:prstGeom prst="straightConnector1">
            <a:avLst/>
          </a:prstGeom>
          <a:noFill/>
          <a:ln cap="flat" cmpd="sng" w="38100">
            <a:solidFill>
              <a:srgbClr val="5188CC"/>
            </a:solidFill>
            <a:prstDash val="solid"/>
            <a:round/>
            <a:headEnd len="sm" w="sm" type="none"/>
            <a:tailEnd len="sm" w="sm" type="none"/>
          </a:ln>
        </p:spPr>
      </p:cxnSp>
      <p:grpSp>
        <p:nvGrpSpPr>
          <p:cNvPr id="193" name="Google Shape;193;p5"/>
          <p:cNvGrpSpPr/>
          <p:nvPr/>
        </p:nvGrpSpPr>
        <p:grpSpPr>
          <a:xfrm>
            <a:off x="4756623" y="676219"/>
            <a:ext cx="334639" cy="334639"/>
            <a:chOff x="0" y="0"/>
            <a:chExt cx="812800" cy="812800"/>
          </a:xfrm>
        </p:grpSpPr>
        <p:sp>
          <p:nvSpPr>
            <p:cNvPr id="194" name="Google Shape;194;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5"/>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96" name="Google Shape;196;p5"/>
          <p:cNvGrpSpPr/>
          <p:nvPr/>
        </p:nvGrpSpPr>
        <p:grpSpPr>
          <a:xfrm>
            <a:off x="-197408" y="1300773"/>
            <a:ext cx="1676810" cy="3037828"/>
            <a:chOff x="0" y="-47625"/>
            <a:chExt cx="883258" cy="1600173"/>
          </a:xfrm>
        </p:grpSpPr>
        <p:sp>
          <p:nvSpPr>
            <p:cNvPr id="197" name="Google Shape;197;p5"/>
            <p:cNvSpPr/>
            <p:nvPr/>
          </p:nvSpPr>
          <p:spPr>
            <a:xfrm>
              <a:off x="0" y="0"/>
              <a:ext cx="883258" cy="1552548"/>
            </a:xfrm>
            <a:custGeom>
              <a:rect b="b" l="l" r="r" t="t"/>
              <a:pathLst>
                <a:path extrusionOk="0" h="1552548" w="883258">
                  <a:moveTo>
                    <a:pt x="136203" y="0"/>
                  </a:moveTo>
                  <a:lnTo>
                    <a:pt x="747055" y="0"/>
                  </a:lnTo>
                  <a:cubicBezTo>
                    <a:pt x="822278" y="0"/>
                    <a:pt x="883258" y="60980"/>
                    <a:pt x="883258" y="136203"/>
                  </a:cubicBezTo>
                  <a:lnTo>
                    <a:pt x="883258" y="1416345"/>
                  </a:lnTo>
                  <a:cubicBezTo>
                    <a:pt x="883258" y="1452468"/>
                    <a:pt x="868908" y="1487112"/>
                    <a:pt x="843365" y="1512655"/>
                  </a:cubicBezTo>
                  <a:cubicBezTo>
                    <a:pt x="817822" y="1538198"/>
                    <a:pt x="783178" y="1552548"/>
                    <a:pt x="747055" y="1552548"/>
                  </a:cubicBezTo>
                  <a:lnTo>
                    <a:pt x="136203" y="1552548"/>
                  </a:lnTo>
                  <a:cubicBezTo>
                    <a:pt x="100080" y="1552548"/>
                    <a:pt x="65436" y="1538198"/>
                    <a:pt x="39893" y="1512655"/>
                  </a:cubicBezTo>
                  <a:cubicBezTo>
                    <a:pt x="14350" y="1487112"/>
                    <a:pt x="0" y="1452468"/>
                    <a:pt x="0" y="1416345"/>
                  </a:cubicBezTo>
                  <a:lnTo>
                    <a:pt x="0" y="136203"/>
                  </a:lnTo>
                  <a:cubicBezTo>
                    <a:pt x="0" y="100080"/>
                    <a:pt x="14350" y="65436"/>
                    <a:pt x="39893" y="39893"/>
                  </a:cubicBezTo>
                  <a:cubicBezTo>
                    <a:pt x="65436" y="14350"/>
                    <a:pt x="100080" y="0"/>
                    <a:pt x="136203" y="0"/>
                  </a:cubicBezTo>
                  <a:close/>
                </a:path>
              </a:pathLst>
            </a:custGeom>
            <a:solidFill>
              <a:srgbClr val="E1EDF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5"/>
            <p:cNvSpPr txBox="1"/>
            <p:nvPr/>
          </p:nvSpPr>
          <p:spPr>
            <a:xfrm>
              <a:off x="0" y="-47625"/>
              <a:ext cx="883258" cy="1600173"/>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99" name="Google Shape;199;p5"/>
          <p:cNvSpPr/>
          <p:nvPr/>
        </p:nvSpPr>
        <p:spPr>
          <a:xfrm rot="5400000">
            <a:off x="4861433" y="779468"/>
            <a:ext cx="125018" cy="125018"/>
          </a:xfrm>
          <a:custGeom>
            <a:rect b="b" l="l" r="r" t="t"/>
            <a:pathLst>
              <a:path extrusionOk="0" h="250037" w="250037">
                <a:moveTo>
                  <a:pt x="0" y="0"/>
                </a:moveTo>
                <a:lnTo>
                  <a:pt x="250037" y="0"/>
                </a:lnTo>
                <a:lnTo>
                  <a:pt x="250037" y="250036"/>
                </a:lnTo>
                <a:lnTo>
                  <a:pt x="0" y="250036"/>
                </a:lnTo>
                <a:lnTo>
                  <a:pt x="0" y="0"/>
                </a:lnTo>
                <a:close/>
              </a:path>
            </a:pathLst>
          </a:custGeom>
          <a:blipFill rotWithShape="1">
            <a:blip r:embed="rId3">
              <a:alphaModFix/>
            </a:blip>
            <a:stretch>
              <a:fillRect b="0" l="0" r="0" t="0"/>
            </a:stretch>
          </a:blipFill>
          <a:ln>
            <a:noFill/>
          </a:ln>
        </p:spPr>
      </p:sp>
      <p:sp>
        <p:nvSpPr>
          <p:cNvPr id="200" name="Google Shape;200;p5"/>
          <p:cNvSpPr/>
          <p:nvPr/>
        </p:nvSpPr>
        <p:spPr>
          <a:xfrm>
            <a:off x="2022210" y="-924107"/>
            <a:ext cx="1845934" cy="1845934"/>
          </a:xfrm>
          <a:custGeom>
            <a:rect b="b" l="l" r="r" t="t"/>
            <a:pathLst>
              <a:path extrusionOk="0" h="3691868" w="3691868">
                <a:moveTo>
                  <a:pt x="0" y="0"/>
                </a:moveTo>
                <a:lnTo>
                  <a:pt x="3691867" y="0"/>
                </a:lnTo>
                <a:lnTo>
                  <a:pt x="3691867" y="3691868"/>
                </a:lnTo>
                <a:lnTo>
                  <a:pt x="0" y="3691868"/>
                </a:lnTo>
                <a:lnTo>
                  <a:pt x="0" y="0"/>
                </a:lnTo>
                <a:close/>
              </a:path>
            </a:pathLst>
          </a:custGeom>
          <a:blipFill rotWithShape="1">
            <a:blip r:embed="rId4">
              <a:alphaModFix/>
            </a:blip>
            <a:stretch>
              <a:fillRect b="0" l="0" r="0" t="0"/>
            </a:stretch>
          </a:blipFill>
          <a:ln>
            <a:noFill/>
          </a:ln>
        </p:spPr>
      </p:sp>
      <p:sp>
        <p:nvSpPr>
          <p:cNvPr id="201" name="Google Shape;201;p5"/>
          <p:cNvSpPr/>
          <p:nvPr/>
        </p:nvSpPr>
        <p:spPr>
          <a:xfrm>
            <a:off x="1698472" y="514350"/>
            <a:ext cx="323738" cy="323739"/>
          </a:xfrm>
          <a:custGeom>
            <a:rect b="b" l="l" r="r" t="t"/>
            <a:pathLst>
              <a:path extrusionOk="0" h="647477" w="647477">
                <a:moveTo>
                  <a:pt x="0" y="0"/>
                </a:moveTo>
                <a:lnTo>
                  <a:pt x="647477" y="0"/>
                </a:lnTo>
                <a:lnTo>
                  <a:pt x="647477" y="647477"/>
                </a:lnTo>
                <a:lnTo>
                  <a:pt x="0" y="647477"/>
                </a:lnTo>
                <a:lnTo>
                  <a:pt x="0" y="0"/>
                </a:lnTo>
                <a:close/>
              </a:path>
            </a:pathLst>
          </a:custGeom>
          <a:blipFill rotWithShape="1">
            <a:blip r:embed="rId5">
              <a:alphaModFix/>
            </a:blip>
            <a:stretch>
              <a:fillRect b="0" l="0" r="0" t="0"/>
            </a:stretch>
          </a:blipFill>
          <a:ln>
            <a:noFill/>
          </a:ln>
        </p:spPr>
      </p:sp>
      <p:sp>
        <p:nvSpPr>
          <p:cNvPr id="202" name="Google Shape;202;p5"/>
          <p:cNvSpPr/>
          <p:nvPr/>
        </p:nvSpPr>
        <p:spPr>
          <a:xfrm>
            <a:off x="496460" y="1758061"/>
            <a:ext cx="3849696" cy="3012387"/>
          </a:xfrm>
          <a:custGeom>
            <a:rect b="b" l="l" r="r" t="t"/>
            <a:pathLst>
              <a:path extrusionOk="0" h="6024773" w="7699391">
                <a:moveTo>
                  <a:pt x="0" y="0"/>
                </a:moveTo>
                <a:lnTo>
                  <a:pt x="7699391" y="0"/>
                </a:lnTo>
                <a:lnTo>
                  <a:pt x="7699391" y="6024773"/>
                </a:lnTo>
                <a:lnTo>
                  <a:pt x="0" y="6024773"/>
                </a:lnTo>
                <a:lnTo>
                  <a:pt x="0" y="0"/>
                </a:lnTo>
                <a:close/>
              </a:path>
            </a:pathLst>
          </a:custGeom>
          <a:blipFill rotWithShape="1">
            <a:blip r:embed="rId6">
              <a:alphaModFix/>
            </a:blip>
            <a:stretch>
              <a:fillRect b="0" l="0" r="0" t="0"/>
            </a:stretch>
          </a:blipFill>
          <a:ln>
            <a:noFill/>
          </a:ln>
        </p:spPr>
      </p:sp>
      <p:sp>
        <p:nvSpPr>
          <p:cNvPr id="203" name="Google Shape;203;p5"/>
          <p:cNvSpPr txBox="1"/>
          <p:nvPr/>
        </p:nvSpPr>
        <p:spPr>
          <a:xfrm>
            <a:off x="4820976" y="600025"/>
            <a:ext cx="4175100" cy="838500"/>
          </a:xfrm>
          <a:prstGeom prst="rect">
            <a:avLst/>
          </a:prstGeom>
          <a:noFill/>
          <a:ln>
            <a:noFill/>
          </a:ln>
        </p:spPr>
        <p:txBody>
          <a:bodyPr anchorCtr="0" anchor="t" bIns="0" lIns="0" spcFirstLastPara="1" rIns="0" wrap="square" tIns="0">
            <a:spAutoFit/>
          </a:bodyPr>
          <a:lstStyle/>
          <a:p>
            <a:pPr indent="0" lvl="0" marL="0" marR="0" rtl="0" algn="r">
              <a:lnSpc>
                <a:spcPct val="127005"/>
              </a:lnSpc>
              <a:spcBef>
                <a:spcPts val="0"/>
              </a:spcBef>
              <a:spcAft>
                <a:spcPts val="0"/>
              </a:spcAft>
              <a:buClr>
                <a:srgbClr val="000000"/>
              </a:buClr>
              <a:buSzPts val="2400"/>
              <a:buFont typeface="Arial"/>
              <a:buNone/>
            </a:pPr>
            <a:r>
              <a:rPr b="1" i="0" lang="en" sz="2400" u="none" cap="none" strike="noStrike">
                <a:solidFill>
                  <a:srgbClr val="0E2F5F"/>
                </a:solidFill>
                <a:latin typeface="Arial"/>
                <a:ea typeface="Arial"/>
                <a:cs typeface="Arial"/>
                <a:sym typeface="Arial"/>
              </a:rPr>
              <a:t>Distribution of Event-Free Survival Time</a:t>
            </a:r>
            <a:endParaRPr b="0" i="0" sz="500" u="none" cap="none" strike="noStrike">
              <a:solidFill>
                <a:srgbClr val="000000"/>
              </a:solidFill>
              <a:latin typeface="Arial"/>
              <a:ea typeface="Arial"/>
              <a:cs typeface="Arial"/>
              <a:sym typeface="Arial"/>
            </a:endParaRPr>
          </a:p>
        </p:txBody>
      </p:sp>
      <p:sp>
        <p:nvSpPr>
          <p:cNvPr id="204" name="Google Shape;204;p5"/>
          <p:cNvSpPr txBox="1"/>
          <p:nvPr/>
        </p:nvSpPr>
        <p:spPr>
          <a:xfrm>
            <a:off x="4820974" y="1666825"/>
            <a:ext cx="3998700" cy="4110000"/>
          </a:xfrm>
          <a:prstGeom prst="rect">
            <a:avLst/>
          </a:prstGeom>
          <a:noFill/>
          <a:ln>
            <a:noFill/>
          </a:ln>
        </p:spPr>
        <p:txBody>
          <a:bodyPr anchorCtr="0" anchor="t" bIns="0" lIns="0" spcFirstLastPara="1" rIns="0" wrap="square" tIns="0">
            <a:spAutoFit/>
          </a:bodyPr>
          <a:lstStyle/>
          <a:p>
            <a:pPr indent="0" lvl="0" marL="0" marR="0" rtl="0" algn="just">
              <a:lnSpc>
                <a:spcPct val="140006"/>
              </a:lnSpc>
              <a:spcBef>
                <a:spcPts val="0"/>
              </a:spcBef>
              <a:spcAft>
                <a:spcPts val="0"/>
              </a:spcAft>
              <a:buClr>
                <a:srgbClr val="000000"/>
              </a:buClr>
              <a:buSzPts val="1200"/>
              <a:buFont typeface="Arial"/>
              <a:buNone/>
            </a:pPr>
            <a:r>
              <a:rPr b="1" i="0" lang="en" sz="1200" u="none" cap="none" strike="noStrike">
                <a:solidFill>
                  <a:srgbClr val="021828"/>
                </a:solidFill>
                <a:latin typeface="Arial"/>
                <a:ea typeface="Arial"/>
                <a:cs typeface="Arial"/>
                <a:sym typeface="Arial"/>
              </a:rPr>
              <a:t>- The data is right-skewed, with most patients experiencing events within the first two years post-HCT. </a:t>
            </a:r>
            <a:endParaRPr b="0" i="0" sz="400" u="none" cap="none" strike="noStrike">
              <a:solidFill>
                <a:srgbClr val="000000"/>
              </a:solidFill>
              <a:latin typeface="Arial"/>
              <a:ea typeface="Arial"/>
              <a:cs typeface="Arial"/>
              <a:sym typeface="Arial"/>
            </a:endParaRPr>
          </a:p>
          <a:p>
            <a:pPr indent="0" lvl="0" marL="0" marR="0" rtl="0" algn="just">
              <a:lnSpc>
                <a:spcPct val="140006"/>
              </a:lnSpc>
              <a:spcBef>
                <a:spcPts val="0"/>
              </a:spcBef>
              <a:spcAft>
                <a:spcPts val="0"/>
              </a:spcAft>
              <a:buClr>
                <a:srgbClr val="000000"/>
              </a:buClr>
              <a:buSzPts val="1200"/>
              <a:buFont typeface="Arial"/>
              <a:buNone/>
            </a:pPr>
            <a:r>
              <a:t/>
            </a:r>
            <a:endParaRPr b="1" i="0" sz="1200" u="none" cap="none" strike="noStrike">
              <a:solidFill>
                <a:srgbClr val="021828"/>
              </a:solidFill>
              <a:latin typeface="Arial"/>
              <a:ea typeface="Arial"/>
              <a:cs typeface="Arial"/>
              <a:sym typeface="Arial"/>
            </a:endParaRPr>
          </a:p>
          <a:p>
            <a:pPr indent="0" lvl="0" marL="0" marR="0" rtl="0" algn="just">
              <a:lnSpc>
                <a:spcPct val="140006"/>
              </a:lnSpc>
              <a:spcBef>
                <a:spcPts val="0"/>
              </a:spcBef>
              <a:spcAft>
                <a:spcPts val="0"/>
              </a:spcAft>
              <a:buClr>
                <a:srgbClr val="000000"/>
              </a:buClr>
              <a:buSzPts val="1200"/>
              <a:buFont typeface="Arial"/>
              <a:buNone/>
            </a:pPr>
            <a:r>
              <a:rPr b="1" i="0" lang="en" sz="1200" u="none" cap="none" strike="noStrike">
                <a:solidFill>
                  <a:srgbClr val="021828"/>
                </a:solidFill>
                <a:latin typeface="Arial"/>
                <a:ea typeface="Arial"/>
                <a:cs typeface="Arial"/>
                <a:sym typeface="Arial"/>
              </a:rPr>
              <a:t>- The events here refer to any post-op complication that they may have suffered.</a:t>
            </a:r>
            <a:endParaRPr b="1" i="0" sz="1200" u="none" cap="none" strike="noStrike">
              <a:solidFill>
                <a:srgbClr val="021828"/>
              </a:solidFill>
              <a:latin typeface="Arial"/>
              <a:ea typeface="Arial"/>
              <a:cs typeface="Arial"/>
              <a:sym typeface="Arial"/>
            </a:endParaRPr>
          </a:p>
          <a:p>
            <a:pPr indent="0" lvl="0" marL="0" marR="0" rtl="0" algn="just">
              <a:lnSpc>
                <a:spcPct val="140006"/>
              </a:lnSpc>
              <a:spcBef>
                <a:spcPts val="0"/>
              </a:spcBef>
              <a:spcAft>
                <a:spcPts val="0"/>
              </a:spcAft>
              <a:buClr>
                <a:srgbClr val="000000"/>
              </a:buClr>
              <a:buSzPts val="1200"/>
              <a:buFont typeface="Arial"/>
              <a:buNone/>
            </a:pPr>
            <a:r>
              <a:t/>
            </a:r>
            <a:endParaRPr b="1" i="0" sz="1200" u="none" cap="none" strike="noStrike">
              <a:solidFill>
                <a:srgbClr val="021828"/>
              </a:solidFill>
              <a:latin typeface="Arial"/>
              <a:ea typeface="Arial"/>
              <a:cs typeface="Arial"/>
              <a:sym typeface="Arial"/>
            </a:endParaRPr>
          </a:p>
          <a:p>
            <a:pPr indent="0" lvl="0" marL="0" marR="0" rtl="0" algn="just">
              <a:lnSpc>
                <a:spcPct val="140006"/>
              </a:lnSpc>
              <a:spcBef>
                <a:spcPts val="0"/>
              </a:spcBef>
              <a:spcAft>
                <a:spcPts val="0"/>
              </a:spcAft>
              <a:buClr>
                <a:srgbClr val="000000"/>
              </a:buClr>
              <a:buSzPts val="1200"/>
              <a:buFont typeface="Arial"/>
              <a:buNone/>
            </a:pPr>
            <a:r>
              <a:rPr b="1" i="0" lang="en" sz="1200" u="none" cap="none" strike="noStrike">
                <a:solidFill>
                  <a:srgbClr val="021828"/>
                </a:solidFill>
                <a:latin typeface="Arial"/>
                <a:ea typeface="Arial"/>
                <a:cs typeface="Arial"/>
                <a:sym typeface="Arial"/>
              </a:rPr>
              <a:t>- The skewed nature of the data also posed challenges for our modeling process, particularly for techniques that assume normality (like linear and logistic regression/ pca). To address this, we considered transformations and non-parametric models better suited for skewed data.</a:t>
            </a:r>
            <a:endParaRPr b="1" i="0" sz="1200" u="none" cap="none" strike="noStrike">
              <a:solidFill>
                <a:srgbClr val="021828"/>
              </a:solidFill>
              <a:latin typeface="Arial"/>
              <a:ea typeface="Arial"/>
              <a:cs typeface="Arial"/>
              <a:sym typeface="Arial"/>
            </a:endParaRPr>
          </a:p>
          <a:p>
            <a:pPr indent="0" lvl="0" marL="0" marR="0" rtl="0" algn="just">
              <a:lnSpc>
                <a:spcPct val="140006"/>
              </a:lnSpc>
              <a:spcBef>
                <a:spcPts val="0"/>
              </a:spcBef>
              <a:spcAft>
                <a:spcPts val="0"/>
              </a:spcAft>
              <a:buClr>
                <a:srgbClr val="000000"/>
              </a:buClr>
              <a:buSzPts val="1200"/>
              <a:buFont typeface="Arial"/>
              <a:buNone/>
            </a:pPr>
            <a:r>
              <a:t/>
            </a:r>
            <a:endParaRPr b="1" i="0" sz="1200" u="none" cap="none" strike="noStrike">
              <a:solidFill>
                <a:srgbClr val="021828"/>
              </a:solidFill>
              <a:latin typeface="Arial"/>
              <a:ea typeface="Arial"/>
              <a:cs typeface="Arial"/>
              <a:sym typeface="Arial"/>
            </a:endParaRPr>
          </a:p>
          <a:p>
            <a:pPr indent="0" lvl="0" marL="0" marR="0" rtl="0" algn="just">
              <a:lnSpc>
                <a:spcPct val="140006"/>
              </a:lnSpc>
              <a:spcBef>
                <a:spcPts val="0"/>
              </a:spcBef>
              <a:spcAft>
                <a:spcPts val="0"/>
              </a:spcAft>
              <a:buClr>
                <a:srgbClr val="000000"/>
              </a:buClr>
              <a:buSzPts val="1200"/>
              <a:buFont typeface="Arial"/>
              <a:buNone/>
            </a:pPr>
            <a:r>
              <a:t/>
            </a:r>
            <a:endParaRPr b="1" i="0" sz="1200" u="none" cap="none" strike="noStrike">
              <a:solidFill>
                <a:srgbClr val="021828"/>
              </a:solidFill>
              <a:latin typeface="Arial"/>
              <a:ea typeface="Arial"/>
              <a:cs typeface="Arial"/>
              <a:sym typeface="Arial"/>
            </a:endParaRPr>
          </a:p>
          <a:p>
            <a:pPr indent="0" lvl="0" marL="0" marR="0" rtl="0" algn="just">
              <a:lnSpc>
                <a:spcPct val="140006"/>
              </a:lnSpc>
              <a:spcBef>
                <a:spcPts val="0"/>
              </a:spcBef>
              <a:spcAft>
                <a:spcPts val="0"/>
              </a:spcAft>
              <a:buClr>
                <a:srgbClr val="000000"/>
              </a:buClr>
              <a:buSzPts val="1500"/>
              <a:buFont typeface="Arial"/>
              <a:buNone/>
            </a:pPr>
            <a:r>
              <a:t/>
            </a:r>
            <a:endParaRPr b="1" i="0" sz="1500" u="none" cap="none" strike="noStrike">
              <a:solidFill>
                <a:srgbClr val="021828"/>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grpSp>
        <p:nvGrpSpPr>
          <p:cNvPr id="209" name="Google Shape;209;p6"/>
          <p:cNvGrpSpPr/>
          <p:nvPr/>
        </p:nvGrpSpPr>
        <p:grpSpPr>
          <a:xfrm>
            <a:off x="-279250" y="2861551"/>
            <a:ext cx="4649879" cy="1683669"/>
            <a:chOff x="0" y="-47625"/>
            <a:chExt cx="1488104" cy="1015911"/>
          </a:xfrm>
        </p:grpSpPr>
        <p:sp>
          <p:nvSpPr>
            <p:cNvPr id="210" name="Google Shape;210;p6"/>
            <p:cNvSpPr/>
            <p:nvPr/>
          </p:nvSpPr>
          <p:spPr>
            <a:xfrm>
              <a:off x="0" y="0"/>
              <a:ext cx="1488104" cy="968286"/>
            </a:xfrm>
            <a:custGeom>
              <a:rect b="b" l="l" r="r" t="t"/>
              <a:pathLst>
                <a:path extrusionOk="0" h="968286" w="1488104">
                  <a:moveTo>
                    <a:pt x="0" y="0"/>
                  </a:moveTo>
                  <a:lnTo>
                    <a:pt x="1488104" y="0"/>
                  </a:lnTo>
                  <a:lnTo>
                    <a:pt x="1488104" y="968286"/>
                  </a:lnTo>
                  <a:lnTo>
                    <a:pt x="0" y="968286"/>
                  </a:lnTo>
                  <a:close/>
                </a:path>
              </a:pathLst>
            </a:custGeom>
            <a:solidFill>
              <a:srgbClr val="E1EDFC"/>
            </a:solidFill>
            <a:ln>
              <a:noFill/>
            </a:ln>
          </p:spPr>
        </p:sp>
        <p:sp>
          <p:nvSpPr>
            <p:cNvPr id="211" name="Google Shape;211;p6"/>
            <p:cNvSpPr txBox="1"/>
            <p:nvPr/>
          </p:nvSpPr>
          <p:spPr>
            <a:xfrm>
              <a:off x="0" y="-47625"/>
              <a:ext cx="1488104" cy="1015911"/>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12" name="Google Shape;212;p6"/>
          <p:cNvSpPr/>
          <p:nvPr/>
        </p:nvSpPr>
        <p:spPr>
          <a:xfrm>
            <a:off x="7465112" y="703894"/>
            <a:ext cx="1845934" cy="1845934"/>
          </a:xfrm>
          <a:custGeom>
            <a:rect b="b" l="l" r="r" t="t"/>
            <a:pathLst>
              <a:path extrusionOk="0" h="3691868" w="3691868">
                <a:moveTo>
                  <a:pt x="0" y="0"/>
                </a:moveTo>
                <a:lnTo>
                  <a:pt x="3691868" y="0"/>
                </a:lnTo>
                <a:lnTo>
                  <a:pt x="3691868" y="3691867"/>
                </a:lnTo>
                <a:lnTo>
                  <a:pt x="0" y="3691867"/>
                </a:lnTo>
                <a:lnTo>
                  <a:pt x="0" y="0"/>
                </a:lnTo>
                <a:close/>
              </a:path>
            </a:pathLst>
          </a:custGeom>
          <a:blipFill rotWithShape="1">
            <a:blip r:embed="rId3">
              <a:alphaModFix/>
            </a:blip>
            <a:stretch>
              <a:fillRect b="0" l="0" r="0" t="0"/>
            </a:stretch>
          </a:blipFill>
          <a:ln>
            <a:noFill/>
          </a:ln>
        </p:spPr>
      </p:sp>
      <p:sp>
        <p:nvSpPr>
          <p:cNvPr id="213" name="Google Shape;213;p6"/>
          <p:cNvSpPr/>
          <p:nvPr/>
        </p:nvSpPr>
        <p:spPr>
          <a:xfrm>
            <a:off x="8031176" y="4439553"/>
            <a:ext cx="613230" cy="189544"/>
          </a:xfrm>
          <a:custGeom>
            <a:rect b="b" l="l" r="r" t="t"/>
            <a:pathLst>
              <a:path extrusionOk="0" h="379088" w="1226460">
                <a:moveTo>
                  <a:pt x="0" y="0"/>
                </a:moveTo>
                <a:lnTo>
                  <a:pt x="1226460" y="0"/>
                </a:lnTo>
                <a:lnTo>
                  <a:pt x="1226460" y="379088"/>
                </a:lnTo>
                <a:lnTo>
                  <a:pt x="0" y="379088"/>
                </a:lnTo>
                <a:lnTo>
                  <a:pt x="0" y="0"/>
                </a:lnTo>
                <a:close/>
              </a:path>
            </a:pathLst>
          </a:custGeom>
          <a:blipFill rotWithShape="1">
            <a:blip r:embed="rId4">
              <a:alphaModFix/>
            </a:blip>
            <a:stretch>
              <a:fillRect b="0" l="0" r="0" t="0"/>
            </a:stretch>
          </a:blipFill>
          <a:ln>
            <a:noFill/>
          </a:ln>
        </p:spPr>
      </p:sp>
      <p:sp>
        <p:nvSpPr>
          <p:cNvPr id="214" name="Google Shape;214;p6"/>
          <p:cNvSpPr/>
          <p:nvPr/>
        </p:nvSpPr>
        <p:spPr>
          <a:xfrm>
            <a:off x="7158497" y="0"/>
            <a:ext cx="613230" cy="189544"/>
          </a:xfrm>
          <a:custGeom>
            <a:rect b="b" l="l" r="r" t="t"/>
            <a:pathLst>
              <a:path extrusionOk="0" h="379088" w="1226460">
                <a:moveTo>
                  <a:pt x="0" y="0"/>
                </a:moveTo>
                <a:lnTo>
                  <a:pt x="1226460" y="0"/>
                </a:lnTo>
                <a:lnTo>
                  <a:pt x="1226460" y="379088"/>
                </a:lnTo>
                <a:lnTo>
                  <a:pt x="0" y="379088"/>
                </a:lnTo>
                <a:lnTo>
                  <a:pt x="0" y="0"/>
                </a:lnTo>
                <a:close/>
              </a:path>
            </a:pathLst>
          </a:custGeom>
          <a:blipFill rotWithShape="1">
            <a:blip r:embed="rId4">
              <a:alphaModFix/>
            </a:blip>
            <a:stretch>
              <a:fillRect b="0" l="0" r="0" t="0"/>
            </a:stretch>
          </a:blipFill>
          <a:ln>
            <a:noFill/>
          </a:ln>
        </p:spPr>
      </p:sp>
      <p:sp>
        <p:nvSpPr>
          <p:cNvPr id="215" name="Google Shape;215;p6"/>
          <p:cNvSpPr/>
          <p:nvPr/>
        </p:nvSpPr>
        <p:spPr>
          <a:xfrm>
            <a:off x="4847620" y="1505402"/>
            <a:ext cx="3724146" cy="3039835"/>
          </a:xfrm>
          <a:custGeom>
            <a:rect b="b" l="l" r="r" t="t"/>
            <a:pathLst>
              <a:path extrusionOk="0" h="6079669" w="7448292">
                <a:moveTo>
                  <a:pt x="0" y="0"/>
                </a:moveTo>
                <a:lnTo>
                  <a:pt x="7448292" y="0"/>
                </a:lnTo>
                <a:lnTo>
                  <a:pt x="7448292" y="6079668"/>
                </a:lnTo>
                <a:lnTo>
                  <a:pt x="0" y="6079668"/>
                </a:lnTo>
                <a:lnTo>
                  <a:pt x="0" y="0"/>
                </a:lnTo>
                <a:close/>
              </a:path>
            </a:pathLst>
          </a:custGeom>
          <a:blipFill rotWithShape="1">
            <a:blip r:embed="rId5">
              <a:alphaModFix/>
            </a:blip>
            <a:stretch>
              <a:fillRect b="0" l="0" r="0" t="0"/>
            </a:stretch>
          </a:blipFill>
          <a:ln>
            <a:noFill/>
          </a:ln>
        </p:spPr>
      </p:sp>
      <p:sp>
        <p:nvSpPr>
          <p:cNvPr id="216" name="Google Shape;216;p6"/>
          <p:cNvSpPr txBox="1"/>
          <p:nvPr/>
        </p:nvSpPr>
        <p:spPr>
          <a:xfrm>
            <a:off x="965742" y="428625"/>
            <a:ext cx="3628739" cy="1076784"/>
          </a:xfrm>
          <a:prstGeom prst="rect">
            <a:avLst/>
          </a:prstGeom>
          <a:noFill/>
          <a:ln>
            <a:noFill/>
          </a:ln>
        </p:spPr>
        <p:txBody>
          <a:bodyPr anchorCtr="0" anchor="t" bIns="0" lIns="0" spcFirstLastPara="1" rIns="0" wrap="square" tIns="0">
            <a:spAutoFit/>
          </a:bodyPr>
          <a:lstStyle/>
          <a:p>
            <a:pPr indent="0" lvl="0" marL="0" marR="0" rtl="0" algn="l">
              <a:lnSpc>
                <a:spcPct val="127003"/>
              </a:lnSpc>
              <a:spcBef>
                <a:spcPts val="0"/>
              </a:spcBef>
              <a:spcAft>
                <a:spcPts val="0"/>
              </a:spcAft>
              <a:buClr>
                <a:srgbClr val="000000"/>
              </a:buClr>
              <a:buSzPts val="3200"/>
              <a:buFont typeface="Arial"/>
              <a:buNone/>
            </a:pPr>
            <a:r>
              <a:rPr b="1" i="0" lang="en" sz="3200" u="none" cap="none" strike="noStrike">
                <a:solidFill>
                  <a:srgbClr val="0E2F5F"/>
                </a:solidFill>
                <a:latin typeface="Arial"/>
                <a:ea typeface="Arial"/>
                <a:cs typeface="Arial"/>
                <a:sym typeface="Arial"/>
              </a:rPr>
              <a:t>Pairplot </a:t>
            </a:r>
            <a:endParaRPr b="0" i="0" sz="700" u="none" cap="none" strike="noStrike">
              <a:solidFill>
                <a:srgbClr val="000000"/>
              </a:solidFill>
              <a:latin typeface="Arial"/>
              <a:ea typeface="Arial"/>
              <a:cs typeface="Arial"/>
              <a:sym typeface="Arial"/>
            </a:endParaRPr>
          </a:p>
          <a:p>
            <a:pPr indent="0" lvl="0" marL="0" marR="0" rtl="0" algn="l">
              <a:lnSpc>
                <a:spcPct val="127003"/>
              </a:lnSpc>
              <a:spcBef>
                <a:spcPts val="0"/>
              </a:spcBef>
              <a:spcAft>
                <a:spcPts val="0"/>
              </a:spcAft>
              <a:buClr>
                <a:srgbClr val="000000"/>
              </a:buClr>
              <a:buSzPts val="3200"/>
              <a:buFont typeface="Arial"/>
              <a:buNone/>
            </a:pPr>
            <a:r>
              <a:t/>
            </a:r>
            <a:endParaRPr b="1" i="0" sz="3200" u="none" cap="none" strike="noStrike">
              <a:solidFill>
                <a:srgbClr val="0E2F5F"/>
              </a:solidFill>
              <a:latin typeface="Arial"/>
              <a:ea typeface="Arial"/>
              <a:cs typeface="Arial"/>
              <a:sym typeface="Arial"/>
            </a:endParaRPr>
          </a:p>
        </p:txBody>
      </p:sp>
      <p:sp>
        <p:nvSpPr>
          <p:cNvPr id="217" name="Google Shape;217;p6"/>
          <p:cNvSpPr txBox="1"/>
          <p:nvPr/>
        </p:nvSpPr>
        <p:spPr>
          <a:xfrm>
            <a:off x="100050" y="1172900"/>
            <a:ext cx="3891300" cy="3519600"/>
          </a:xfrm>
          <a:prstGeom prst="rect">
            <a:avLst/>
          </a:prstGeom>
          <a:noFill/>
          <a:ln>
            <a:noFill/>
          </a:ln>
        </p:spPr>
        <p:txBody>
          <a:bodyPr anchorCtr="0" anchor="t" bIns="0" lIns="0" spcFirstLastPara="1" rIns="0" wrap="square" tIns="0">
            <a:spAutoFit/>
          </a:bodyPr>
          <a:lstStyle/>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The pairplot examines relationships between EFS time, comorbidity scores, and HLA matching (hla_match_c_high)</a:t>
            </a:r>
            <a:endParaRPr b="0" i="0" sz="500" u="none" cap="none" strike="noStrike">
              <a:solidFill>
                <a:srgbClr val="000000"/>
              </a:solidFill>
              <a:latin typeface="Arial"/>
              <a:ea typeface="Arial"/>
              <a:cs typeface="Arial"/>
              <a:sym typeface="Arial"/>
            </a:endParaRPr>
          </a:p>
          <a:p>
            <a:pPr indent="0" lvl="0" marL="0" marR="0" rtl="0" algn="just">
              <a:lnSpc>
                <a:spcPct val="140038"/>
              </a:lnSpc>
              <a:spcBef>
                <a:spcPts val="0"/>
              </a:spcBef>
              <a:spcAft>
                <a:spcPts val="0"/>
              </a:spcAft>
              <a:buClr>
                <a:srgbClr val="000000"/>
              </a:buClr>
              <a:buSzPts val="1100"/>
              <a:buFont typeface="Arial"/>
              <a:buNone/>
            </a:pPr>
            <a:r>
              <a:t/>
            </a:r>
            <a:endParaRPr b="1" i="0" sz="1100" u="none" cap="none" strike="noStrike">
              <a:solidFill>
                <a:srgbClr val="021828"/>
              </a:solidFill>
              <a:latin typeface="Arial"/>
              <a:ea typeface="Arial"/>
              <a:cs typeface="Arial"/>
              <a:sym typeface="Arial"/>
            </a:endParaRPr>
          </a:p>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Shows patterns in survival times based on these key factors: suggests that higher comorbidity scores may correspond to shorter EFS times.</a:t>
            </a:r>
            <a:br>
              <a:rPr b="1" i="0" lang="en" sz="1100" u="none" cap="none" strike="noStrike">
                <a:solidFill>
                  <a:srgbClr val="021828"/>
                </a:solidFill>
                <a:latin typeface="Arial"/>
                <a:ea typeface="Arial"/>
                <a:cs typeface="Arial"/>
                <a:sym typeface="Arial"/>
              </a:rPr>
            </a:br>
            <a:endParaRPr b="1" i="0" sz="1100" u="none" cap="none" strike="noStrike">
              <a:solidFill>
                <a:srgbClr val="021828"/>
              </a:solidFill>
              <a:latin typeface="Arial"/>
              <a:ea typeface="Arial"/>
              <a:cs typeface="Arial"/>
              <a:sym typeface="Arial"/>
            </a:endParaRPr>
          </a:p>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But not all relationships were simple. Some factors didn’t show a clear pattern, which meant traditional models might not capture these interactions well. Because of this, we tested more advanced machine learning models, like XGBoost and DeepSurv, to improve predictions.</a:t>
            </a:r>
            <a:endParaRPr b="1" i="0" sz="1100" u="none" cap="none" strike="noStrike">
              <a:solidFill>
                <a:srgbClr val="021828"/>
              </a:solidFill>
              <a:latin typeface="Arial"/>
              <a:ea typeface="Arial"/>
              <a:cs typeface="Arial"/>
              <a:sym typeface="Arial"/>
            </a:endParaRPr>
          </a:p>
          <a:p>
            <a:pPr indent="0" lvl="0" marL="0" marR="0" rtl="0" algn="just">
              <a:lnSpc>
                <a:spcPct val="114312"/>
              </a:lnSpc>
              <a:spcBef>
                <a:spcPts val="0"/>
              </a:spcBef>
              <a:spcAft>
                <a:spcPts val="0"/>
              </a:spcAft>
              <a:buClr>
                <a:srgbClr val="000000"/>
              </a:buClr>
              <a:buSzPts val="1300"/>
              <a:buFont typeface="Arial"/>
              <a:buNone/>
            </a:pPr>
            <a:r>
              <a:t/>
            </a:r>
            <a:endParaRPr b="1" i="0" sz="1300" u="none" cap="none" strike="noStrike">
              <a:solidFill>
                <a:srgbClr val="021828"/>
              </a:solidFill>
              <a:latin typeface="Arial"/>
              <a:ea typeface="Arial"/>
              <a:cs typeface="Arial"/>
              <a:sym typeface="Arial"/>
            </a:endParaRPr>
          </a:p>
        </p:txBody>
      </p:sp>
      <p:cxnSp>
        <p:nvCxnSpPr>
          <p:cNvPr id="218" name="Google Shape;218;p6"/>
          <p:cNvCxnSpPr/>
          <p:nvPr/>
        </p:nvCxnSpPr>
        <p:spPr>
          <a:xfrm>
            <a:off x="197726" y="1022058"/>
            <a:ext cx="4650000" cy="0"/>
          </a:xfrm>
          <a:prstGeom prst="straightConnector1">
            <a:avLst/>
          </a:prstGeom>
          <a:noFill/>
          <a:ln cap="flat" cmpd="sng" w="38100">
            <a:solidFill>
              <a:srgbClr val="5188CC"/>
            </a:solidFill>
            <a:prstDash val="solid"/>
            <a:round/>
            <a:headEnd len="sm" w="sm" type="none"/>
            <a:tailEnd len="sm" w="sm" type="none"/>
          </a:ln>
        </p:spPr>
      </p:cxnSp>
      <p:grpSp>
        <p:nvGrpSpPr>
          <p:cNvPr id="219" name="Google Shape;219;p6"/>
          <p:cNvGrpSpPr/>
          <p:nvPr/>
        </p:nvGrpSpPr>
        <p:grpSpPr>
          <a:xfrm>
            <a:off x="514350" y="536574"/>
            <a:ext cx="334639" cy="334639"/>
            <a:chOff x="0" y="0"/>
            <a:chExt cx="812800" cy="812800"/>
          </a:xfrm>
        </p:grpSpPr>
        <p:sp>
          <p:nvSpPr>
            <p:cNvPr id="220" name="Google Shape;220;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6"/>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22" name="Google Shape;222;p6"/>
          <p:cNvSpPr/>
          <p:nvPr/>
        </p:nvSpPr>
        <p:spPr>
          <a:xfrm rot="5400000">
            <a:off x="619160" y="639823"/>
            <a:ext cx="125018" cy="125018"/>
          </a:xfrm>
          <a:custGeom>
            <a:rect b="b" l="l" r="r" t="t"/>
            <a:pathLst>
              <a:path extrusionOk="0" h="250037" w="250037">
                <a:moveTo>
                  <a:pt x="0" y="0"/>
                </a:moveTo>
                <a:lnTo>
                  <a:pt x="250037" y="0"/>
                </a:lnTo>
                <a:lnTo>
                  <a:pt x="250037" y="250037"/>
                </a:lnTo>
                <a:lnTo>
                  <a:pt x="0" y="250037"/>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cxnSp>
        <p:nvCxnSpPr>
          <p:cNvPr id="227" name="Google Shape;227;p7"/>
          <p:cNvCxnSpPr/>
          <p:nvPr/>
        </p:nvCxnSpPr>
        <p:spPr>
          <a:xfrm>
            <a:off x="4346155" y="1248330"/>
            <a:ext cx="4649908" cy="0"/>
          </a:xfrm>
          <a:prstGeom prst="straightConnector1">
            <a:avLst/>
          </a:prstGeom>
          <a:noFill/>
          <a:ln cap="flat" cmpd="sng" w="38100">
            <a:solidFill>
              <a:srgbClr val="5188CC"/>
            </a:solidFill>
            <a:prstDash val="solid"/>
            <a:round/>
            <a:headEnd len="sm" w="sm" type="none"/>
            <a:tailEnd len="sm" w="sm" type="none"/>
          </a:ln>
        </p:spPr>
      </p:cxnSp>
      <p:grpSp>
        <p:nvGrpSpPr>
          <p:cNvPr id="228" name="Google Shape;228;p7"/>
          <p:cNvGrpSpPr/>
          <p:nvPr/>
        </p:nvGrpSpPr>
        <p:grpSpPr>
          <a:xfrm>
            <a:off x="4756623" y="676219"/>
            <a:ext cx="334639" cy="334639"/>
            <a:chOff x="0" y="0"/>
            <a:chExt cx="812800" cy="812800"/>
          </a:xfrm>
        </p:grpSpPr>
        <p:sp>
          <p:nvSpPr>
            <p:cNvPr id="229" name="Google Shape;229;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7"/>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31" name="Google Shape;231;p7"/>
          <p:cNvGrpSpPr/>
          <p:nvPr/>
        </p:nvGrpSpPr>
        <p:grpSpPr>
          <a:xfrm>
            <a:off x="-197408" y="1300773"/>
            <a:ext cx="1676810" cy="3037828"/>
            <a:chOff x="0" y="-47625"/>
            <a:chExt cx="883258" cy="1600173"/>
          </a:xfrm>
        </p:grpSpPr>
        <p:sp>
          <p:nvSpPr>
            <p:cNvPr id="232" name="Google Shape;232;p7"/>
            <p:cNvSpPr/>
            <p:nvPr/>
          </p:nvSpPr>
          <p:spPr>
            <a:xfrm>
              <a:off x="0" y="0"/>
              <a:ext cx="883258" cy="1552548"/>
            </a:xfrm>
            <a:custGeom>
              <a:rect b="b" l="l" r="r" t="t"/>
              <a:pathLst>
                <a:path extrusionOk="0" h="1552548" w="883258">
                  <a:moveTo>
                    <a:pt x="136203" y="0"/>
                  </a:moveTo>
                  <a:lnTo>
                    <a:pt x="747055" y="0"/>
                  </a:lnTo>
                  <a:cubicBezTo>
                    <a:pt x="822278" y="0"/>
                    <a:pt x="883258" y="60980"/>
                    <a:pt x="883258" y="136203"/>
                  </a:cubicBezTo>
                  <a:lnTo>
                    <a:pt x="883258" y="1416345"/>
                  </a:lnTo>
                  <a:cubicBezTo>
                    <a:pt x="883258" y="1452468"/>
                    <a:pt x="868908" y="1487112"/>
                    <a:pt x="843365" y="1512655"/>
                  </a:cubicBezTo>
                  <a:cubicBezTo>
                    <a:pt x="817822" y="1538198"/>
                    <a:pt x="783178" y="1552548"/>
                    <a:pt x="747055" y="1552548"/>
                  </a:cubicBezTo>
                  <a:lnTo>
                    <a:pt x="136203" y="1552548"/>
                  </a:lnTo>
                  <a:cubicBezTo>
                    <a:pt x="100080" y="1552548"/>
                    <a:pt x="65436" y="1538198"/>
                    <a:pt x="39893" y="1512655"/>
                  </a:cubicBezTo>
                  <a:cubicBezTo>
                    <a:pt x="14350" y="1487112"/>
                    <a:pt x="0" y="1452468"/>
                    <a:pt x="0" y="1416345"/>
                  </a:cubicBezTo>
                  <a:lnTo>
                    <a:pt x="0" y="136203"/>
                  </a:lnTo>
                  <a:cubicBezTo>
                    <a:pt x="0" y="100080"/>
                    <a:pt x="14350" y="65436"/>
                    <a:pt x="39893" y="39893"/>
                  </a:cubicBezTo>
                  <a:cubicBezTo>
                    <a:pt x="65436" y="14350"/>
                    <a:pt x="100080" y="0"/>
                    <a:pt x="136203" y="0"/>
                  </a:cubicBezTo>
                  <a:close/>
                </a:path>
              </a:pathLst>
            </a:custGeom>
            <a:solidFill>
              <a:srgbClr val="E1EDF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7"/>
            <p:cNvSpPr txBox="1"/>
            <p:nvPr/>
          </p:nvSpPr>
          <p:spPr>
            <a:xfrm>
              <a:off x="0" y="-47625"/>
              <a:ext cx="883258" cy="1600173"/>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34" name="Google Shape;234;p7"/>
          <p:cNvSpPr/>
          <p:nvPr/>
        </p:nvSpPr>
        <p:spPr>
          <a:xfrm rot="5400000">
            <a:off x="4861433" y="779468"/>
            <a:ext cx="125018" cy="125018"/>
          </a:xfrm>
          <a:custGeom>
            <a:rect b="b" l="l" r="r" t="t"/>
            <a:pathLst>
              <a:path extrusionOk="0" h="250037" w="250037">
                <a:moveTo>
                  <a:pt x="0" y="0"/>
                </a:moveTo>
                <a:lnTo>
                  <a:pt x="250037" y="0"/>
                </a:lnTo>
                <a:lnTo>
                  <a:pt x="250037" y="250036"/>
                </a:lnTo>
                <a:lnTo>
                  <a:pt x="0" y="250036"/>
                </a:lnTo>
                <a:lnTo>
                  <a:pt x="0" y="0"/>
                </a:lnTo>
                <a:close/>
              </a:path>
            </a:pathLst>
          </a:custGeom>
          <a:blipFill rotWithShape="1">
            <a:blip r:embed="rId3">
              <a:alphaModFix/>
            </a:blip>
            <a:stretch>
              <a:fillRect b="0" l="0" r="0" t="0"/>
            </a:stretch>
          </a:blipFill>
          <a:ln>
            <a:noFill/>
          </a:ln>
        </p:spPr>
      </p:sp>
      <p:sp>
        <p:nvSpPr>
          <p:cNvPr id="235" name="Google Shape;235;p7"/>
          <p:cNvSpPr/>
          <p:nvPr/>
        </p:nvSpPr>
        <p:spPr>
          <a:xfrm>
            <a:off x="2022210" y="-924107"/>
            <a:ext cx="1845934" cy="1845934"/>
          </a:xfrm>
          <a:custGeom>
            <a:rect b="b" l="l" r="r" t="t"/>
            <a:pathLst>
              <a:path extrusionOk="0" h="3691868" w="3691868">
                <a:moveTo>
                  <a:pt x="0" y="0"/>
                </a:moveTo>
                <a:lnTo>
                  <a:pt x="3691867" y="0"/>
                </a:lnTo>
                <a:lnTo>
                  <a:pt x="3691867" y="3691868"/>
                </a:lnTo>
                <a:lnTo>
                  <a:pt x="0" y="3691868"/>
                </a:lnTo>
                <a:lnTo>
                  <a:pt x="0" y="0"/>
                </a:lnTo>
                <a:close/>
              </a:path>
            </a:pathLst>
          </a:custGeom>
          <a:blipFill rotWithShape="1">
            <a:blip r:embed="rId4">
              <a:alphaModFix/>
            </a:blip>
            <a:stretch>
              <a:fillRect b="0" l="0" r="0" t="0"/>
            </a:stretch>
          </a:blipFill>
          <a:ln>
            <a:noFill/>
          </a:ln>
        </p:spPr>
      </p:sp>
      <p:sp>
        <p:nvSpPr>
          <p:cNvPr id="236" name="Google Shape;236;p7"/>
          <p:cNvSpPr/>
          <p:nvPr/>
        </p:nvSpPr>
        <p:spPr>
          <a:xfrm>
            <a:off x="1698472" y="514350"/>
            <a:ext cx="323738" cy="323739"/>
          </a:xfrm>
          <a:custGeom>
            <a:rect b="b" l="l" r="r" t="t"/>
            <a:pathLst>
              <a:path extrusionOk="0" h="647477" w="647477">
                <a:moveTo>
                  <a:pt x="0" y="0"/>
                </a:moveTo>
                <a:lnTo>
                  <a:pt x="647477" y="0"/>
                </a:lnTo>
                <a:lnTo>
                  <a:pt x="647477" y="647477"/>
                </a:lnTo>
                <a:lnTo>
                  <a:pt x="0" y="647477"/>
                </a:lnTo>
                <a:lnTo>
                  <a:pt x="0" y="0"/>
                </a:lnTo>
                <a:close/>
              </a:path>
            </a:pathLst>
          </a:custGeom>
          <a:blipFill rotWithShape="1">
            <a:blip r:embed="rId5">
              <a:alphaModFix/>
            </a:blip>
            <a:stretch>
              <a:fillRect b="0" l="0" r="0" t="0"/>
            </a:stretch>
          </a:blipFill>
          <a:ln>
            <a:noFill/>
          </a:ln>
        </p:spPr>
      </p:sp>
      <p:sp>
        <p:nvSpPr>
          <p:cNvPr id="237" name="Google Shape;237;p7"/>
          <p:cNvSpPr txBox="1"/>
          <p:nvPr/>
        </p:nvSpPr>
        <p:spPr>
          <a:xfrm>
            <a:off x="4923942" y="600019"/>
            <a:ext cx="3855338" cy="891286"/>
          </a:xfrm>
          <a:prstGeom prst="rect">
            <a:avLst/>
          </a:prstGeom>
          <a:noFill/>
          <a:ln>
            <a:noFill/>
          </a:ln>
        </p:spPr>
        <p:txBody>
          <a:bodyPr anchorCtr="0" anchor="t" bIns="0" lIns="0" spcFirstLastPara="1" rIns="0" wrap="square" tIns="0">
            <a:spAutoFit/>
          </a:bodyPr>
          <a:lstStyle/>
          <a:p>
            <a:pPr indent="0" lvl="0" marL="0" marR="0" rtl="0" algn="r">
              <a:lnSpc>
                <a:spcPct val="127005"/>
              </a:lnSpc>
              <a:spcBef>
                <a:spcPts val="0"/>
              </a:spcBef>
              <a:spcAft>
                <a:spcPts val="0"/>
              </a:spcAft>
              <a:buClr>
                <a:srgbClr val="000000"/>
              </a:buClr>
              <a:buSzPts val="2600"/>
              <a:buFont typeface="Arial"/>
              <a:buNone/>
            </a:pPr>
            <a:r>
              <a:rPr b="1" i="0" lang="en" sz="2600" u="none" cap="none" strike="noStrike">
                <a:solidFill>
                  <a:srgbClr val="0E2F5F"/>
                </a:solidFill>
                <a:latin typeface="Arial"/>
                <a:ea typeface="Arial"/>
                <a:cs typeface="Arial"/>
                <a:sym typeface="Arial"/>
              </a:rPr>
              <a:t>Correlation Heatmap</a:t>
            </a:r>
            <a:endParaRPr b="0" i="0" sz="700" u="none" cap="none" strike="noStrike">
              <a:solidFill>
                <a:srgbClr val="000000"/>
              </a:solidFill>
              <a:latin typeface="Arial"/>
              <a:ea typeface="Arial"/>
              <a:cs typeface="Arial"/>
              <a:sym typeface="Arial"/>
            </a:endParaRPr>
          </a:p>
          <a:p>
            <a:pPr indent="0" lvl="0" marL="0" marR="0" rtl="0" algn="r">
              <a:lnSpc>
                <a:spcPct val="127005"/>
              </a:lnSpc>
              <a:spcBef>
                <a:spcPts val="0"/>
              </a:spcBef>
              <a:spcAft>
                <a:spcPts val="0"/>
              </a:spcAft>
              <a:buClr>
                <a:srgbClr val="000000"/>
              </a:buClr>
              <a:buSzPts val="2600"/>
              <a:buFont typeface="Arial"/>
              <a:buNone/>
            </a:pPr>
            <a:r>
              <a:t/>
            </a:r>
            <a:endParaRPr b="1" i="0" sz="2600" u="none" cap="none" strike="noStrike">
              <a:solidFill>
                <a:srgbClr val="0E2F5F"/>
              </a:solidFill>
              <a:latin typeface="Arial"/>
              <a:ea typeface="Arial"/>
              <a:cs typeface="Arial"/>
              <a:sym typeface="Arial"/>
            </a:endParaRPr>
          </a:p>
        </p:txBody>
      </p:sp>
      <p:sp>
        <p:nvSpPr>
          <p:cNvPr id="238" name="Google Shape;238;p7"/>
          <p:cNvSpPr txBox="1"/>
          <p:nvPr/>
        </p:nvSpPr>
        <p:spPr>
          <a:xfrm>
            <a:off x="4849124" y="1592175"/>
            <a:ext cx="4005000" cy="2512500"/>
          </a:xfrm>
          <a:prstGeom prst="rect">
            <a:avLst/>
          </a:prstGeom>
          <a:noFill/>
          <a:ln>
            <a:noFill/>
          </a:ln>
        </p:spPr>
        <p:txBody>
          <a:bodyPr anchorCtr="0" anchor="t" bIns="0" lIns="0" spcFirstLastPara="1" rIns="0" wrap="square" tIns="0">
            <a:spAutoFit/>
          </a:bodyPr>
          <a:lstStyle/>
          <a:p>
            <a:pPr indent="0" lvl="0" marL="0" marR="0" rtl="0" algn="just">
              <a:lnSpc>
                <a:spcPct val="140021"/>
              </a:lnSpc>
              <a:spcBef>
                <a:spcPts val="0"/>
              </a:spcBef>
              <a:spcAft>
                <a:spcPts val="0"/>
              </a:spcAft>
              <a:buClr>
                <a:srgbClr val="000000"/>
              </a:buClr>
              <a:buSzPts val="1200"/>
              <a:buFont typeface="Arial"/>
              <a:buNone/>
            </a:pPr>
            <a:r>
              <a:rPr b="1" i="0" lang="en" sz="1200" u="none" cap="none" strike="noStrike">
                <a:solidFill>
                  <a:srgbClr val="021828"/>
                </a:solidFill>
                <a:latin typeface="Arial"/>
                <a:ea typeface="Arial"/>
                <a:cs typeface="Arial"/>
                <a:sym typeface="Arial"/>
              </a:rPr>
              <a:t>Key correlations include the relationship between: </a:t>
            </a:r>
            <a:endParaRPr b="1" i="0" sz="1200" u="none" cap="none" strike="noStrike">
              <a:solidFill>
                <a:srgbClr val="021828"/>
              </a:solidFill>
              <a:latin typeface="Arial"/>
              <a:ea typeface="Arial"/>
              <a:cs typeface="Arial"/>
              <a:sym typeface="Arial"/>
            </a:endParaRPr>
          </a:p>
          <a:p>
            <a:pPr indent="457200" lvl="0" marL="0" marR="0" rtl="0" algn="just">
              <a:lnSpc>
                <a:spcPct val="140021"/>
              </a:lnSpc>
              <a:spcBef>
                <a:spcPts val="0"/>
              </a:spcBef>
              <a:spcAft>
                <a:spcPts val="0"/>
              </a:spcAft>
              <a:buClr>
                <a:srgbClr val="000000"/>
              </a:buClr>
              <a:buSzPts val="1200"/>
              <a:buFont typeface="Arial"/>
              <a:buNone/>
            </a:pPr>
            <a:r>
              <a:rPr b="1" i="0" lang="en" sz="1200" u="none" cap="none" strike="noStrike">
                <a:solidFill>
                  <a:srgbClr val="021828"/>
                </a:solidFill>
                <a:latin typeface="Arial"/>
                <a:ea typeface="Arial"/>
                <a:cs typeface="Arial"/>
                <a:sym typeface="Arial"/>
              </a:rPr>
              <a:t>- Conditioning Intensity and Age </a:t>
            </a:r>
            <a:br>
              <a:rPr b="1" i="0" lang="en" sz="1200" u="none" cap="none" strike="noStrike">
                <a:solidFill>
                  <a:srgbClr val="021828"/>
                </a:solidFill>
                <a:latin typeface="Arial"/>
                <a:ea typeface="Arial"/>
                <a:cs typeface="Arial"/>
                <a:sym typeface="Arial"/>
              </a:rPr>
            </a:br>
            <a:r>
              <a:rPr b="1" i="0" lang="en" sz="1200" u="none" cap="none" strike="noStrike">
                <a:solidFill>
                  <a:srgbClr val="021828"/>
                </a:solidFill>
                <a:latin typeface="Arial"/>
                <a:ea typeface="Arial"/>
                <a:cs typeface="Arial"/>
                <a:sym typeface="Arial"/>
              </a:rPr>
              <a:t>	- HLA matching and Survival Outcomes</a:t>
            </a:r>
            <a:br>
              <a:rPr b="1" i="0" lang="en" sz="1200" u="none" cap="none" strike="noStrike">
                <a:solidFill>
                  <a:srgbClr val="021828"/>
                </a:solidFill>
                <a:latin typeface="Arial"/>
                <a:ea typeface="Arial"/>
                <a:cs typeface="Arial"/>
                <a:sym typeface="Arial"/>
              </a:rPr>
            </a:br>
            <a:r>
              <a:rPr b="1" i="0" lang="en" sz="1200" u="none" cap="none" strike="noStrike">
                <a:solidFill>
                  <a:srgbClr val="021828"/>
                </a:solidFill>
                <a:latin typeface="Arial"/>
                <a:ea typeface="Arial"/>
                <a:cs typeface="Arial"/>
                <a:sym typeface="Arial"/>
              </a:rPr>
              <a:t> </a:t>
            </a:r>
            <a:br>
              <a:rPr b="1" i="0" lang="en" sz="1200" u="none" cap="none" strike="noStrike">
                <a:solidFill>
                  <a:srgbClr val="021828"/>
                </a:solidFill>
                <a:latin typeface="Arial"/>
                <a:ea typeface="Arial"/>
                <a:cs typeface="Arial"/>
                <a:sym typeface="Arial"/>
              </a:rPr>
            </a:br>
            <a:r>
              <a:rPr b="1" i="0" lang="en" sz="1200" u="none" cap="none" strike="noStrike">
                <a:solidFill>
                  <a:srgbClr val="021828"/>
                </a:solidFill>
                <a:latin typeface="Arial"/>
                <a:ea typeface="Arial"/>
                <a:cs typeface="Arial"/>
                <a:sym typeface="Arial"/>
              </a:rPr>
              <a:t>And an unexpected relationship between comorbidity score and graft type, that would need further investigation.</a:t>
            </a:r>
            <a:endParaRPr b="1" i="0" sz="1200" u="none" cap="none" strike="noStrike">
              <a:solidFill>
                <a:srgbClr val="021828"/>
              </a:solidFill>
              <a:latin typeface="Arial"/>
              <a:ea typeface="Arial"/>
              <a:cs typeface="Arial"/>
              <a:sym typeface="Arial"/>
            </a:endParaRPr>
          </a:p>
          <a:p>
            <a:pPr indent="457200" lvl="0" marL="0" marR="0" rtl="0" algn="just">
              <a:lnSpc>
                <a:spcPct val="140021"/>
              </a:lnSpc>
              <a:spcBef>
                <a:spcPts val="0"/>
              </a:spcBef>
              <a:spcAft>
                <a:spcPts val="0"/>
              </a:spcAft>
              <a:buClr>
                <a:srgbClr val="000000"/>
              </a:buClr>
              <a:buSzPts val="1200"/>
              <a:buFont typeface="Arial"/>
              <a:buNone/>
            </a:pPr>
            <a:r>
              <a:t/>
            </a:r>
            <a:endParaRPr b="1" i="0" sz="1200" u="none" cap="none" strike="noStrike">
              <a:solidFill>
                <a:srgbClr val="021828"/>
              </a:solidFill>
              <a:latin typeface="Arial"/>
              <a:ea typeface="Arial"/>
              <a:cs typeface="Arial"/>
              <a:sym typeface="Arial"/>
            </a:endParaRPr>
          </a:p>
          <a:p>
            <a:pPr indent="0" lvl="0" marL="0" marR="0" rtl="0" algn="just">
              <a:lnSpc>
                <a:spcPct val="140021"/>
              </a:lnSpc>
              <a:spcBef>
                <a:spcPts val="0"/>
              </a:spcBef>
              <a:spcAft>
                <a:spcPts val="0"/>
              </a:spcAft>
              <a:buClr>
                <a:srgbClr val="000000"/>
              </a:buClr>
              <a:buSzPts val="1200"/>
              <a:buFont typeface="Arial"/>
              <a:buNone/>
            </a:pPr>
            <a:r>
              <a:rPr b="1" i="0" lang="en" sz="1200" u="none" cap="none" strike="noStrike">
                <a:solidFill>
                  <a:srgbClr val="021828"/>
                </a:solidFill>
                <a:latin typeface="Arial"/>
                <a:ea typeface="Arial"/>
                <a:cs typeface="Arial"/>
                <a:sym typeface="Arial"/>
              </a:rPr>
              <a:t>Overall, These provide insights into significant predictors.</a:t>
            </a:r>
            <a:endParaRPr b="0" i="0" sz="500" u="none" cap="none" strike="noStrike">
              <a:solidFill>
                <a:srgbClr val="000000"/>
              </a:solidFill>
              <a:latin typeface="Arial"/>
              <a:ea typeface="Arial"/>
              <a:cs typeface="Arial"/>
              <a:sym typeface="Arial"/>
            </a:endParaRPr>
          </a:p>
        </p:txBody>
      </p:sp>
      <p:pic>
        <p:nvPicPr>
          <p:cNvPr id="239" name="Google Shape;239;p7"/>
          <p:cNvPicPr preferRelativeResize="0"/>
          <p:nvPr/>
        </p:nvPicPr>
        <p:blipFill rotWithShape="1">
          <a:blip r:embed="rId6">
            <a:alphaModFix/>
          </a:blip>
          <a:srcRect b="0" l="0" r="0" t="0"/>
          <a:stretch/>
        </p:blipFill>
        <p:spPr>
          <a:xfrm>
            <a:off x="186875" y="1300775"/>
            <a:ext cx="4226600" cy="33102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grpSp>
        <p:nvGrpSpPr>
          <p:cNvPr id="244" name="Google Shape;244;p8"/>
          <p:cNvGrpSpPr/>
          <p:nvPr/>
        </p:nvGrpSpPr>
        <p:grpSpPr>
          <a:xfrm>
            <a:off x="0" y="2283845"/>
            <a:ext cx="4255906" cy="1994107"/>
            <a:chOff x="0" y="-47625"/>
            <a:chExt cx="2241794" cy="1050394"/>
          </a:xfrm>
        </p:grpSpPr>
        <p:sp>
          <p:nvSpPr>
            <p:cNvPr id="245" name="Google Shape;245;p8"/>
            <p:cNvSpPr/>
            <p:nvPr/>
          </p:nvSpPr>
          <p:spPr>
            <a:xfrm>
              <a:off x="0" y="0"/>
              <a:ext cx="2241794" cy="1002769"/>
            </a:xfrm>
            <a:custGeom>
              <a:rect b="b" l="l" r="r" t="t"/>
              <a:pathLst>
                <a:path extrusionOk="0" h="1002769" w="2241794">
                  <a:moveTo>
                    <a:pt x="0" y="0"/>
                  </a:moveTo>
                  <a:lnTo>
                    <a:pt x="2241794" y="0"/>
                  </a:lnTo>
                  <a:lnTo>
                    <a:pt x="2241794" y="1002769"/>
                  </a:lnTo>
                  <a:lnTo>
                    <a:pt x="0" y="1002769"/>
                  </a:lnTo>
                  <a:close/>
                </a:path>
              </a:pathLst>
            </a:custGeom>
            <a:solidFill>
              <a:srgbClr val="E1EDFC"/>
            </a:solidFill>
            <a:ln>
              <a:noFill/>
            </a:ln>
          </p:spPr>
        </p:sp>
        <p:sp>
          <p:nvSpPr>
            <p:cNvPr id="246" name="Google Shape;246;p8"/>
            <p:cNvSpPr txBox="1"/>
            <p:nvPr/>
          </p:nvSpPr>
          <p:spPr>
            <a:xfrm>
              <a:off x="0" y="-47625"/>
              <a:ext cx="2241794" cy="1050394"/>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47" name="Google Shape;247;p8"/>
          <p:cNvSpPr/>
          <p:nvPr/>
        </p:nvSpPr>
        <p:spPr>
          <a:xfrm>
            <a:off x="7465112" y="703894"/>
            <a:ext cx="1845934" cy="1845934"/>
          </a:xfrm>
          <a:custGeom>
            <a:rect b="b" l="l" r="r" t="t"/>
            <a:pathLst>
              <a:path extrusionOk="0" h="3691868" w="3691868">
                <a:moveTo>
                  <a:pt x="0" y="0"/>
                </a:moveTo>
                <a:lnTo>
                  <a:pt x="3691868" y="0"/>
                </a:lnTo>
                <a:lnTo>
                  <a:pt x="3691868" y="3691867"/>
                </a:lnTo>
                <a:lnTo>
                  <a:pt x="0" y="3691867"/>
                </a:lnTo>
                <a:lnTo>
                  <a:pt x="0" y="0"/>
                </a:lnTo>
                <a:close/>
              </a:path>
            </a:pathLst>
          </a:custGeom>
          <a:blipFill rotWithShape="1">
            <a:blip r:embed="rId3">
              <a:alphaModFix/>
            </a:blip>
            <a:stretch>
              <a:fillRect b="0" l="0" r="0" t="0"/>
            </a:stretch>
          </a:blipFill>
          <a:ln>
            <a:noFill/>
          </a:ln>
        </p:spPr>
      </p:sp>
      <p:sp>
        <p:nvSpPr>
          <p:cNvPr id="248" name="Google Shape;248;p8"/>
          <p:cNvSpPr/>
          <p:nvPr/>
        </p:nvSpPr>
        <p:spPr>
          <a:xfrm>
            <a:off x="7257297" y="-53875"/>
            <a:ext cx="613230" cy="189544"/>
          </a:xfrm>
          <a:custGeom>
            <a:rect b="b" l="l" r="r" t="t"/>
            <a:pathLst>
              <a:path extrusionOk="0" h="379088" w="1226460">
                <a:moveTo>
                  <a:pt x="0" y="0"/>
                </a:moveTo>
                <a:lnTo>
                  <a:pt x="1226460" y="0"/>
                </a:lnTo>
                <a:lnTo>
                  <a:pt x="1226460" y="379088"/>
                </a:lnTo>
                <a:lnTo>
                  <a:pt x="0" y="379088"/>
                </a:lnTo>
                <a:lnTo>
                  <a:pt x="0" y="0"/>
                </a:lnTo>
                <a:close/>
              </a:path>
            </a:pathLst>
          </a:custGeom>
          <a:blipFill rotWithShape="1">
            <a:blip r:embed="rId4">
              <a:alphaModFix/>
            </a:blip>
            <a:stretch>
              <a:fillRect b="0" l="0" r="0" t="0"/>
            </a:stretch>
          </a:blipFill>
          <a:ln>
            <a:noFill/>
          </a:ln>
        </p:spPr>
      </p:sp>
      <p:sp>
        <p:nvSpPr>
          <p:cNvPr id="249" name="Google Shape;249;p8"/>
          <p:cNvSpPr txBox="1"/>
          <p:nvPr/>
        </p:nvSpPr>
        <p:spPr>
          <a:xfrm>
            <a:off x="965742" y="442913"/>
            <a:ext cx="5536519" cy="696481"/>
          </a:xfrm>
          <a:prstGeom prst="rect">
            <a:avLst/>
          </a:prstGeom>
          <a:noFill/>
          <a:ln>
            <a:noFill/>
          </a:ln>
        </p:spPr>
        <p:txBody>
          <a:bodyPr anchorCtr="0" anchor="t" bIns="0" lIns="0" spcFirstLastPara="1" rIns="0" wrap="square" tIns="0">
            <a:spAutoFit/>
          </a:bodyPr>
          <a:lstStyle/>
          <a:p>
            <a:pPr indent="0" lvl="0" marL="0" marR="0" rtl="0" algn="l">
              <a:lnSpc>
                <a:spcPct val="127004"/>
              </a:lnSpc>
              <a:spcBef>
                <a:spcPts val="0"/>
              </a:spcBef>
              <a:spcAft>
                <a:spcPts val="0"/>
              </a:spcAft>
              <a:buClr>
                <a:srgbClr val="000000"/>
              </a:buClr>
              <a:buSzPts val="2600"/>
              <a:buFont typeface="Arial"/>
              <a:buNone/>
            </a:pPr>
            <a:r>
              <a:rPr b="1" i="0" lang="en" sz="2600" u="none" cap="none" strike="noStrike">
                <a:solidFill>
                  <a:srgbClr val="0E2F5F"/>
                </a:solidFill>
                <a:latin typeface="Arial"/>
                <a:ea typeface="Arial"/>
                <a:cs typeface="Arial"/>
                <a:sym typeface="Arial"/>
              </a:rPr>
              <a:t>Kaplan-Meier Survival Curve </a:t>
            </a:r>
            <a:endParaRPr b="0" i="0" sz="700" u="none" cap="none" strike="noStrike">
              <a:solidFill>
                <a:srgbClr val="000000"/>
              </a:solidFill>
              <a:latin typeface="Arial"/>
              <a:ea typeface="Arial"/>
              <a:cs typeface="Arial"/>
              <a:sym typeface="Arial"/>
            </a:endParaRPr>
          </a:p>
          <a:p>
            <a:pPr indent="0" lvl="0" marL="0" marR="0" rtl="0" algn="l">
              <a:lnSpc>
                <a:spcPct val="127008"/>
              </a:lnSpc>
              <a:spcBef>
                <a:spcPts val="0"/>
              </a:spcBef>
              <a:spcAft>
                <a:spcPts val="0"/>
              </a:spcAft>
              <a:buClr>
                <a:srgbClr val="000000"/>
              </a:buClr>
              <a:buSzPts val="1500"/>
              <a:buFont typeface="Arial"/>
              <a:buNone/>
            </a:pPr>
            <a:r>
              <a:rPr b="1" i="0" lang="en" sz="1500" u="none" cap="none" strike="noStrike">
                <a:solidFill>
                  <a:srgbClr val="0E2F5F"/>
                </a:solidFill>
                <a:latin typeface="Arial"/>
                <a:ea typeface="Arial"/>
                <a:cs typeface="Arial"/>
                <a:sym typeface="Arial"/>
              </a:rPr>
              <a:t>by Sex-Match </a:t>
            </a:r>
            <a:endParaRPr b="0" i="0" sz="700" u="none" cap="none" strike="noStrike">
              <a:solidFill>
                <a:srgbClr val="000000"/>
              </a:solidFill>
              <a:latin typeface="Arial"/>
              <a:ea typeface="Arial"/>
              <a:cs typeface="Arial"/>
              <a:sym typeface="Arial"/>
            </a:endParaRPr>
          </a:p>
        </p:txBody>
      </p:sp>
      <p:cxnSp>
        <p:nvCxnSpPr>
          <p:cNvPr id="250" name="Google Shape;250;p8"/>
          <p:cNvCxnSpPr/>
          <p:nvPr/>
        </p:nvCxnSpPr>
        <p:spPr>
          <a:xfrm>
            <a:off x="206701" y="1251583"/>
            <a:ext cx="5800500" cy="3300"/>
          </a:xfrm>
          <a:prstGeom prst="straightConnector1">
            <a:avLst/>
          </a:prstGeom>
          <a:noFill/>
          <a:ln cap="flat" cmpd="sng" w="38100">
            <a:solidFill>
              <a:srgbClr val="5188CC"/>
            </a:solidFill>
            <a:prstDash val="solid"/>
            <a:round/>
            <a:headEnd len="sm" w="sm" type="none"/>
            <a:tailEnd len="sm" w="sm" type="none"/>
          </a:ln>
        </p:spPr>
      </p:cxnSp>
      <p:grpSp>
        <p:nvGrpSpPr>
          <p:cNvPr id="251" name="Google Shape;251;p8"/>
          <p:cNvGrpSpPr/>
          <p:nvPr/>
        </p:nvGrpSpPr>
        <p:grpSpPr>
          <a:xfrm>
            <a:off x="514350" y="536574"/>
            <a:ext cx="334639" cy="334639"/>
            <a:chOff x="0" y="0"/>
            <a:chExt cx="812800" cy="812800"/>
          </a:xfrm>
        </p:grpSpPr>
        <p:sp>
          <p:nvSpPr>
            <p:cNvPr id="252" name="Google Shape;252;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8"/>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54" name="Google Shape;254;p8"/>
          <p:cNvSpPr/>
          <p:nvPr/>
        </p:nvSpPr>
        <p:spPr>
          <a:xfrm rot="5400000">
            <a:off x="619160" y="639823"/>
            <a:ext cx="125018" cy="125018"/>
          </a:xfrm>
          <a:custGeom>
            <a:rect b="b" l="l" r="r" t="t"/>
            <a:pathLst>
              <a:path extrusionOk="0" h="250037" w="250037">
                <a:moveTo>
                  <a:pt x="0" y="0"/>
                </a:moveTo>
                <a:lnTo>
                  <a:pt x="250037" y="0"/>
                </a:lnTo>
                <a:lnTo>
                  <a:pt x="250037" y="250037"/>
                </a:lnTo>
                <a:lnTo>
                  <a:pt x="0" y="250037"/>
                </a:lnTo>
                <a:lnTo>
                  <a:pt x="0" y="0"/>
                </a:lnTo>
                <a:close/>
              </a:path>
            </a:pathLst>
          </a:custGeom>
          <a:blipFill rotWithShape="1">
            <a:blip r:embed="rId5">
              <a:alphaModFix/>
            </a:blip>
            <a:stretch>
              <a:fillRect b="0" l="0" r="0" t="0"/>
            </a:stretch>
          </a:blipFill>
          <a:ln>
            <a:noFill/>
          </a:ln>
        </p:spPr>
      </p:sp>
      <p:sp>
        <p:nvSpPr>
          <p:cNvPr id="255" name="Google Shape;255;p8"/>
          <p:cNvSpPr/>
          <p:nvPr/>
        </p:nvSpPr>
        <p:spPr>
          <a:xfrm>
            <a:off x="4765327" y="1635248"/>
            <a:ext cx="4003704" cy="2652454"/>
          </a:xfrm>
          <a:custGeom>
            <a:rect b="b" l="l" r="r" t="t"/>
            <a:pathLst>
              <a:path extrusionOk="0" h="5304908" w="8007408">
                <a:moveTo>
                  <a:pt x="0" y="0"/>
                </a:moveTo>
                <a:lnTo>
                  <a:pt x="8007408" y="0"/>
                </a:lnTo>
                <a:lnTo>
                  <a:pt x="8007408" y="5304908"/>
                </a:lnTo>
                <a:lnTo>
                  <a:pt x="0" y="5304908"/>
                </a:lnTo>
                <a:lnTo>
                  <a:pt x="0" y="0"/>
                </a:lnTo>
                <a:close/>
              </a:path>
            </a:pathLst>
          </a:custGeom>
          <a:blipFill rotWithShape="1">
            <a:blip r:embed="rId6">
              <a:alphaModFix/>
            </a:blip>
            <a:stretch>
              <a:fillRect b="0" l="0" r="0" t="0"/>
            </a:stretch>
          </a:blipFill>
          <a:ln>
            <a:noFill/>
          </a:ln>
        </p:spPr>
      </p:sp>
      <p:sp>
        <p:nvSpPr>
          <p:cNvPr id="256" name="Google Shape;256;p8"/>
          <p:cNvSpPr txBox="1"/>
          <p:nvPr/>
        </p:nvSpPr>
        <p:spPr>
          <a:xfrm>
            <a:off x="280800" y="1758250"/>
            <a:ext cx="3846000" cy="3282600"/>
          </a:xfrm>
          <a:prstGeom prst="rect">
            <a:avLst/>
          </a:prstGeom>
          <a:noFill/>
          <a:ln>
            <a:noFill/>
          </a:ln>
        </p:spPr>
        <p:txBody>
          <a:bodyPr anchorCtr="0" anchor="t" bIns="0" lIns="0" spcFirstLastPara="1" rIns="0" wrap="square" tIns="0">
            <a:spAutoFit/>
          </a:bodyPr>
          <a:lstStyle/>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This Kaplan-Meier curve tracks how long patients survive without complications after transplant</a:t>
            </a:r>
            <a:endParaRPr b="0" i="0" sz="500" u="none" cap="none" strike="noStrike">
              <a:solidFill>
                <a:srgbClr val="000000"/>
              </a:solidFill>
              <a:latin typeface="Arial"/>
              <a:ea typeface="Arial"/>
              <a:cs typeface="Arial"/>
              <a:sym typeface="Arial"/>
            </a:endParaRPr>
          </a:p>
          <a:p>
            <a:pPr indent="0" lvl="0" marL="0" marR="0" rtl="0" algn="just">
              <a:lnSpc>
                <a:spcPct val="140038"/>
              </a:lnSpc>
              <a:spcBef>
                <a:spcPts val="0"/>
              </a:spcBef>
              <a:spcAft>
                <a:spcPts val="0"/>
              </a:spcAft>
              <a:buClr>
                <a:srgbClr val="000000"/>
              </a:buClr>
              <a:buSzPts val="1100"/>
              <a:buFont typeface="Arial"/>
              <a:buNone/>
            </a:pPr>
            <a:r>
              <a:t/>
            </a:r>
            <a:endParaRPr b="1" i="0" sz="1100" u="none" cap="none" strike="noStrike">
              <a:solidFill>
                <a:srgbClr val="021828"/>
              </a:solidFill>
              <a:latin typeface="Arial"/>
              <a:ea typeface="Arial"/>
              <a:cs typeface="Arial"/>
              <a:sym typeface="Arial"/>
            </a:endParaRPr>
          </a:p>
          <a:p>
            <a:pPr indent="0" lvl="0" marL="0" marR="0" rtl="0" algn="just">
              <a:lnSpc>
                <a:spcPct val="140038"/>
              </a:lnSpc>
              <a:spcBef>
                <a:spcPts val="0"/>
              </a:spcBef>
              <a:spcAft>
                <a:spcPts val="0"/>
              </a:spcAft>
              <a:buClr>
                <a:srgbClr val="000000"/>
              </a:buClr>
              <a:buSzPts val="1100"/>
              <a:buFont typeface="Arial"/>
              <a:buNone/>
            </a:pPr>
            <a:r>
              <a:rPr b="1" i="0" lang="en" sz="1100" u="sng" cap="none" strike="noStrike">
                <a:solidFill>
                  <a:srgbClr val="021828"/>
                </a:solidFill>
                <a:latin typeface="Arial"/>
                <a:ea typeface="Arial"/>
                <a:cs typeface="Arial"/>
                <a:sym typeface="Arial"/>
              </a:rPr>
              <a:t>Key Observations:</a:t>
            </a:r>
            <a:endParaRPr b="0" i="0" sz="500" u="none" cap="none" strike="noStrike">
              <a:solidFill>
                <a:srgbClr val="000000"/>
              </a:solidFill>
              <a:latin typeface="Arial"/>
              <a:ea typeface="Arial"/>
              <a:cs typeface="Arial"/>
              <a:sym typeface="Arial"/>
            </a:endParaRPr>
          </a:p>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M-M (Male-Male) transplants have the best long-term survival.</a:t>
            </a:r>
            <a:endParaRPr b="0" i="0" sz="500" u="none" cap="none" strike="noStrike">
              <a:solidFill>
                <a:srgbClr val="000000"/>
              </a:solidFill>
              <a:latin typeface="Arial"/>
              <a:ea typeface="Arial"/>
              <a:cs typeface="Arial"/>
              <a:sym typeface="Arial"/>
            </a:endParaRPr>
          </a:p>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F-F (Female-Female) also shows relatively good survival.</a:t>
            </a:r>
            <a:endParaRPr b="0" i="0" sz="500" u="none" cap="none" strike="noStrike">
              <a:solidFill>
                <a:srgbClr val="000000"/>
              </a:solidFill>
              <a:latin typeface="Arial"/>
              <a:ea typeface="Arial"/>
              <a:cs typeface="Arial"/>
              <a:sym typeface="Arial"/>
            </a:endParaRPr>
          </a:p>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M-F &amp; F-M (opposite-sex transplants) drop faster, meaning they experience complications earlier.</a:t>
            </a:r>
            <a:endParaRPr b="0" i="0" sz="500" u="none" cap="none" strike="noStrike">
              <a:solidFill>
                <a:srgbClr val="000000"/>
              </a:solidFill>
              <a:latin typeface="Arial"/>
              <a:ea typeface="Arial"/>
              <a:cs typeface="Arial"/>
              <a:sym typeface="Arial"/>
            </a:endParaRPr>
          </a:p>
          <a:p>
            <a:pPr indent="0" lvl="0" marL="0" marR="0" rtl="0" algn="just">
              <a:lnSpc>
                <a:spcPct val="140038"/>
              </a:lnSpc>
              <a:spcBef>
                <a:spcPts val="0"/>
              </a:spcBef>
              <a:spcAft>
                <a:spcPts val="0"/>
              </a:spcAft>
              <a:buClr>
                <a:srgbClr val="000000"/>
              </a:buClr>
              <a:buSzPts val="1100"/>
              <a:buFont typeface="Arial"/>
              <a:buNone/>
            </a:pPr>
            <a:r>
              <a:t/>
            </a:r>
            <a:endParaRPr b="1" i="0" sz="1100" u="none" cap="none" strike="noStrike">
              <a:solidFill>
                <a:srgbClr val="021828"/>
              </a:solidFill>
              <a:latin typeface="Arial"/>
              <a:ea typeface="Arial"/>
              <a:cs typeface="Arial"/>
              <a:sym typeface="Arial"/>
            </a:endParaRPr>
          </a:p>
          <a:p>
            <a:pPr indent="0" lvl="0" marL="0" marR="0" rtl="0" algn="just">
              <a:lnSpc>
                <a:spcPct val="140038"/>
              </a:lnSpc>
              <a:spcBef>
                <a:spcPts val="0"/>
              </a:spcBef>
              <a:spcAft>
                <a:spcPts val="0"/>
              </a:spcAft>
              <a:buClr>
                <a:srgbClr val="000000"/>
              </a:buClr>
              <a:buSzPts val="1100"/>
              <a:buFont typeface="Arial"/>
              <a:buNone/>
            </a:pPr>
            <a:r>
              <a:rPr b="1" i="0" lang="en" sz="1100" u="sng" cap="none" strike="noStrike">
                <a:solidFill>
                  <a:srgbClr val="021828"/>
                </a:solidFill>
                <a:latin typeface="Arial"/>
                <a:ea typeface="Arial"/>
                <a:cs typeface="Arial"/>
                <a:sym typeface="Arial"/>
              </a:rPr>
              <a:t>Conclusion</a:t>
            </a:r>
            <a:r>
              <a:rPr b="1" i="0" lang="en" sz="1100" u="none" cap="none" strike="noStrike">
                <a:solidFill>
                  <a:srgbClr val="021828"/>
                </a:solidFill>
                <a:latin typeface="Arial"/>
                <a:ea typeface="Arial"/>
                <a:cs typeface="Arial"/>
                <a:sym typeface="Arial"/>
              </a:rPr>
              <a:t>: Same-sex transplants generally have better survival outcomes over time.</a:t>
            </a:r>
            <a:endParaRPr b="0" i="0" sz="500" u="none" cap="none" strike="noStrike">
              <a:solidFill>
                <a:srgbClr val="000000"/>
              </a:solidFill>
              <a:latin typeface="Arial"/>
              <a:ea typeface="Arial"/>
              <a:cs typeface="Arial"/>
              <a:sym typeface="Arial"/>
            </a:endParaRPr>
          </a:p>
          <a:p>
            <a:pPr indent="0" lvl="0" marL="0" marR="0" rtl="0" algn="just">
              <a:lnSpc>
                <a:spcPct val="114312"/>
              </a:lnSpc>
              <a:spcBef>
                <a:spcPts val="0"/>
              </a:spcBef>
              <a:spcAft>
                <a:spcPts val="0"/>
              </a:spcAft>
              <a:buClr>
                <a:srgbClr val="000000"/>
              </a:buClr>
              <a:buSzPts val="1300"/>
              <a:buFont typeface="Arial"/>
              <a:buNone/>
            </a:pPr>
            <a:r>
              <a:t/>
            </a:r>
            <a:endParaRPr b="1" i="0" sz="1300" u="none" cap="none" strike="noStrike">
              <a:solidFill>
                <a:srgbClr val="021828"/>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cxnSp>
        <p:nvCxnSpPr>
          <p:cNvPr id="261" name="Google Shape;261;p9"/>
          <p:cNvCxnSpPr/>
          <p:nvPr/>
        </p:nvCxnSpPr>
        <p:spPr>
          <a:xfrm>
            <a:off x="3280602" y="1391272"/>
            <a:ext cx="6480267" cy="0"/>
          </a:xfrm>
          <a:prstGeom prst="straightConnector1">
            <a:avLst/>
          </a:prstGeom>
          <a:noFill/>
          <a:ln cap="flat" cmpd="sng" w="38100">
            <a:solidFill>
              <a:srgbClr val="5188CC"/>
            </a:solidFill>
            <a:prstDash val="solid"/>
            <a:round/>
            <a:headEnd len="sm" w="sm" type="none"/>
            <a:tailEnd len="sm" w="sm" type="none"/>
          </a:ln>
        </p:spPr>
      </p:cxnSp>
      <p:sp>
        <p:nvSpPr>
          <p:cNvPr id="262" name="Google Shape;262;p9"/>
          <p:cNvSpPr/>
          <p:nvPr/>
        </p:nvSpPr>
        <p:spPr>
          <a:xfrm>
            <a:off x="-665234" y="-745281"/>
            <a:ext cx="1845934" cy="1845934"/>
          </a:xfrm>
          <a:custGeom>
            <a:rect b="b" l="l" r="r" t="t"/>
            <a:pathLst>
              <a:path extrusionOk="0" h="3691868" w="3691868">
                <a:moveTo>
                  <a:pt x="0" y="0"/>
                </a:moveTo>
                <a:lnTo>
                  <a:pt x="3691868" y="0"/>
                </a:lnTo>
                <a:lnTo>
                  <a:pt x="3691868" y="3691868"/>
                </a:lnTo>
                <a:lnTo>
                  <a:pt x="0" y="3691868"/>
                </a:lnTo>
                <a:lnTo>
                  <a:pt x="0" y="0"/>
                </a:lnTo>
                <a:close/>
              </a:path>
            </a:pathLst>
          </a:custGeom>
          <a:blipFill rotWithShape="1">
            <a:blip r:embed="rId3">
              <a:alphaModFix/>
            </a:blip>
            <a:stretch>
              <a:fillRect b="0" l="0" r="0" t="0"/>
            </a:stretch>
          </a:blipFill>
          <a:ln>
            <a:noFill/>
          </a:ln>
        </p:spPr>
      </p:sp>
      <p:sp>
        <p:nvSpPr>
          <p:cNvPr id="263" name="Google Shape;263;p9"/>
          <p:cNvSpPr/>
          <p:nvPr/>
        </p:nvSpPr>
        <p:spPr>
          <a:xfrm>
            <a:off x="5173030" y="4729362"/>
            <a:ext cx="613230" cy="189544"/>
          </a:xfrm>
          <a:custGeom>
            <a:rect b="b" l="l" r="r" t="t"/>
            <a:pathLst>
              <a:path extrusionOk="0" h="379088" w="1226460">
                <a:moveTo>
                  <a:pt x="0" y="0"/>
                </a:moveTo>
                <a:lnTo>
                  <a:pt x="1226460" y="0"/>
                </a:lnTo>
                <a:lnTo>
                  <a:pt x="1226460" y="379088"/>
                </a:lnTo>
                <a:lnTo>
                  <a:pt x="0" y="379088"/>
                </a:lnTo>
                <a:lnTo>
                  <a:pt x="0" y="0"/>
                </a:lnTo>
                <a:close/>
              </a:path>
            </a:pathLst>
          </a:custGeom>
          <a:blipFill rotWithShape="1">
            <a:blip r:embed="rId4">
              <a:alphaModFix/>
            </a:blip>
            <a:stretch>
              <a:fillRect b="0" l="0" r="0" t="0"/>
            </a:stretch>
          </a:blipFill>
          <a:ln>
            <a:noFill/>
          </a:ln>
        </p:spPr>
      </p:sp>
      <p:sp>
        <p:nvSpPr>
          <p:cNvPr id="264" name="Google Shape;264;p9"/>
          <p:cNvSpPr/>
          <p:nvPr/>
        </p:nvSpPr>
        <p:spPr>
          <a:xfrm>
            <a:off x="168513" y="2602772"/>
            <a:ext cx="613230" cy="189544"/>
          </a:xfrm>
          <a:custGeom>
            <a:rect b="b" l="l" r="r" t="t"/>
            <a:pathLst>
              <a:path extrusionOk="0" h="379088" w="1226460">
                <a:moveTo>
                  <a:pt x="0" y="0"/>
                </a:moveTo>
                <a:lnTo>
                  <a:pt x="1226459" y="0"/>
                </a:lnTo>
                <a:lnTo>
                  <a:pt x="1226459" y="379087"/>
                </a:lnTo>
                <a:lnTo>
                  <a:pt x="0" y="379087"/>
                </a:lnTo>
                <a:lnTo>
                  <a:pt x="0" y="0"/>
                </a:lnTo>
                <a:close/>
              </a:path>
            </a:pathLst>
          </a:custGeom>
          <a:blipFill rotWithShape="1">
            <a:blip r:embed="rId4">
              <a:alphaModFix/>
            </a:blip>
            <a:stretch>
              <a:fillRect b="0" l="0" r="0" t="0"/>
            </a:stretch>
          </a:blipFill>
          <a:ln>
            <a:noFill/>
          </a:ln>
        </p:spPr>
      </p:sp>
      <p:sp>
        <p:nvSpPr>
          <p:cNvPr id="265" name="Google Shape;265;p9"/>
          <p:cNvSpPr/>
          <p:nvPr/>
        </p:nvSpPr>
        <p:spPr>
          <a:xfrm>
            <a:off x="168525" y="2712075"/>
            <a:ext cx="5617723" cy="2124861"/>
          </a:xfrm>
          <a:custGeom>
            <a:rect b="b" l="l" r="r" t="t"/>
            <a:pathLst>
              <a:path extrusionOk="0" h="4829230" w="11235445">
                <a:moveTo>
                  <a:pt x="0" y="0"/>
                </a:moveTo>
                <a:lnTo>
                  <a:pt x="11235444" y="0"/>
                </a:lnTo>
                <a:lnTo>
                  <a:pt x="11235444" y="4829230"/>
                </a:lnTo>
                <a:lnTo>
                  <a:pt x="0" y="4829230"/>
                </a:lnTo>
                <a:lnTo>
                  <a:pt x="0" y="0"/>
                </a:lnTo>
                <a:close/>
              </a:path>
            </a:pathLst>
          </a:custGeom>
          <a:blipFill rotWithShape="1">
            <a:blip r:embed="rId5">
              <a:alphaModFix/>
            </a:blip>
            <a:stretch>
              <a:fillRect b="-625" l="0" r="-583" t="0"/>
            </a:stretch>
          </a:blipFill>
          <a:ln>
            <a:noFill/>
          </a:ln>
        </p:spPr>
      </p:sp>
      <p:sp>
        <p:nvSpPr>
          <p:cNvPr id="266" name="Google Shape;266;p9"/>
          <p:cNvSpPr txBox="1"/>
          <p:nvPr/>
        </p:nvSpPr>
        <p:spPr>
          <a:xfrm>
            <a:off x="4710392" y="438150"/>
            <a:ext cx="3919259" cy="891286"/>
          </a:xfrm>
          <a:prstGeom prst="rect">
            <a:avLst/>
          </a:prstGeom>
          <a:noFill/>
          <a:ln>
            <a:noFill/>
          </a:ln>
        </p:spPr>
        <p:txBody>
          <a:bodyPr anchorCtr="0" anchor="t" bIns="0" lIns="0" spcFirstLastPara="1" rIns="0" wrap="square" tIns="0">
            <a:spAutoFit/>
          </a:bodyPr>
          <a:lstStyle/>
          <a:p>
            <a:pPr indent="0" lvl="0" marL="0" marR="0" rtl="0" algn="r">
              <a:lnSpc>
                <a:spcPct val="127005"/>
              </a:lnSpc>
              <a:spcBef>
                <a:spcPts val="0"/>
              </a:spcBef>
              <a:spcAft>
                <a:spcPts val="0"/>
              </a:spcAft>
              <a:buClr>
                <a:srgbClr val="000000"/>
              </a:buClr>
              <a:buSzPts val="2600"/>
              <a:buFont typeface="Arial"/>
              <a:buNone/>
            </a:pPr>
            <a:r>
              <a:rPr b="1" i="0" lang="en" sz="2600" u="none" cap="none" strike="noStrike">
                <a:solidFill>
                  <a:srgbClr val="0E2F5F"/>
                </a:solidFill>
                <a:latin typeface="Arial"/>
                <a:ea typeface="Arial"/>
                <a:cs typeface="Arial"/>
                <a:sym typeface="Arial"/>
              </a:rPr>
              <a:t>Event-Free Survival by Race Group</a:t>
            </a:r>
            <a:endParaRPr b="0" i="0" sz="700" u="none" cap="none" strike="noStrike">
              <a:solidFill>
                <a:srgbClr val="000000"/>
              </a:solidFill>
              <a:latin typeface="Arial"/>
              <a:ea typeface="Arial"/>
              <a:cs typeface="Arial"/>
              <a:sym typeface="Arial"/>
            </a:endParaRPr>
          </a:p>
        </p:txBody>
      </p:sp>
      <p:sp>
        <p:nvSpPr>
          <p:cNvPr id="267" name="Google Shape;267;p9"/>
          <p:cNvSpPr txBox="1"/>
          <p:nvPr/>
        </p:nvSpPr>
        <p:spPr>
          <a:xfrm>
            <a:off x="4071105" y="1500573"/>
            <a:ext cx="1960274" cy="18632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100"/>
              <a:buFont typeface="Arial"/>
              <a:buNone/>
            </a:pPr>
            <a:r>
              <a:rPr b="1" i="0" lang="en" sz="1100" u="none" cap="none" strike="noStrike">
                <a:solidFill>
                  <a:srgbClr val="FFFFFF"/>
                </a:solidFill>
                <a:latin typeface="Arial"/>
                <a:ea typeface="Arial"/>
                <a:cs typeface="Arial"/>
                <a:sym typeface="Arial"/>
              </a:rPr>
              <a:t>Exploitation of Resources</a:t>
            </a:r>
            <a:endParaRPr b="0" i="0" sz="700" u="none" cap="none" strike="noStrike">
              <a:solidFill>
                <a:srgbClr val="000000"/>
              </a:solidFill>
              <a:latin typeface="Arial"/>
              <a:ea typeface="Arial"/>
              <a:cs typeface="Arial"/>
              <a:sym typeface="Arial"/>
            </a:endParaRPr>
          </a:p>
        </p:txBody>
      </p:sp>
      <p:sp>
        <p:nvSpPr>
          <p:cNvPr id="268" name="Google Shape;268;p9"/>
          <p:cNvSpPr txBox="1"/>
          <p:nvPr/>
        </p:nvSpPr>
        <p:spPr>
          <a:xfrm>
            <a:off x="6366132" y="1487522"/>
            <a:ext cx="1604855" cy="18632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100"/>
              <a:buFont typeface="Arial"/>
              <a:buNone/>
            </a:pPr>
            <a:r>
              <a:rPr b="1" i="0" lang="en" sz="1100" u="none" cap="none" strike="noStrike">
                <a:solidFill>
                  <a:srgbClr val="FFFFFF"/>
                </a:solidFill>
                <a:latin typeface="Arial"/>
                <a:ea typeface="Arial"/>
                <a:cs typeface="Arial"/>
                <a:sym typeface="Arial"/>
              </a:rPr>
              <a:t>Adaptation Costs</a:t>
            </a:r>
            <a:endParaRPr b="0" i="0" sz="700" u="none" cap="none" strike="noStrike">
              <a:solidFill>
                <a:srgbClr val="000000"/>
              </a:solidFill>
              <a:latin typeface="Arial"/>
              <a:ea typeface="Arial"/>
              <a:cs typeface="Arial"/>
              <a:sym typeface="Arial"/>
            </a:endParaRPr>
          </a:p>
        </p:txBody>
      </p:sp>
      <p:sp>
        <p:nvSpPr>
          <p:cNvPr id="269" name="Google Shape;269;p9"/>
          <p:cNvSpPr txBox="1"/>
          <p:nvPr/>
        </p:nvSpPr>
        <p:spPr>
          <a:xfrm>
            <a:off x="3280599" y="1500575"/>
            <a:ext cx="5687700" cy="1102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This table shows how Event-Free Survival (EFS) rates and average survival times differ across racial groups. This helps us understand whether some groups tend to have better or worse outcomes after a transplant.</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100"/>
              <a:buFont typeface="Arial"/>
              <a:buNone/>
            </a:pPr>
            <a:r>
              <a:rPr b="1" i="0" lang="en" sz="1100" u="none" cap="none" strike="noStrike">
                <a:solidFill>
                  <a:schemeClr val="dk1"/>
                </a:solidFill>
                <a:latin typeface="Arial"/>
                <a:ea typeface="Arial"/>
                <a:cs typeface="Arial"/>
                <a:sym typeface="Arial"/>
              </a:rPr>
              <a:t>By identifying these patterns here, we can work toward improving transplant success for all patients, making treatments more effective and equitable.</a:t>
            </a:r>
            <a:endParaRPr b="0" i="0" sz="700" u="none" cap="none" strike="noStrike">
              <a:solidFill>
                <a:srgbClr val="000000"/>
              </a:solidFill>
              <a:latin typeface="Arial"/>
              <a:ea typeface="Arial"/>
              <a:cs typeface="Arial"/>
              <a:sym typeface="Arial"/>
            </a:endParaRPr>
          </a:p>
        </p:txBody>
      </p:sp>
      <p:grpSp>
        <p:nvGrpSpPr>
          <p:cNvPr id="270" name="Google Shape;270;p9"/>
          <p:cNvGrpSpPr/>
          <p:nvPr/>
        </p:nvGrpSpPr>
        <p:grpSpPr>
          <a:xfrm>
            <a:off x="4404680" y="514350"/>
            <a:ext cx="334639" cy="334639"/>
            <a:chOff x="0" y="0"/>
            <a:chExt cx="812800" cy="812800"/>
          </a:xfrm>
        </p:grpSpPr>
        <p:sp>
          <p:nvSpPr>
            <p:cNvPr id="271" name="Google Shape;271;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9"/>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73" name="Google Shape;273;p9"/>
          <p:cNvSpPr/>
          <p:nvPr/>
        </p:nvSpPr>
        <p:spPr>
          <a:xfrm rot="5400000">
            <a:off x="4509491" y="617599"/>
            <a:ext cx="125019" cy="125018"/>
          </a:xfrm>
          <a:custGeom>
            <a:rect b="b" l="l" r="r" t="t"/>
            <a:pathLst>
              <a:path extrusionOk="0" h="250037" w="250037">
                <a:moveTo>
                  <a:pt x="0" y="0"/>
                </a:moveTo>
                <a:lnTo>
                  <a:pt x="250036" y="0"/>
                </a:lnTo>
                <a:lnTo>
                  <a:pt x="250036" y="250037"/>
                </a:lnTo>
                <a:lnTo>
                  <a:pt x="0" y="250037"/>
                </a:lnTo>
                <a:lnTo>
                  <a:pt x="0" y="0"/>
                </a:lnTo>
                <a:close/>
              </a:path>
            </a:pathLst>
          </a:custGeom>
          <a:blipFill rotWithShape="1">
            <a:blip r:embed="rId6">
              <a:alphaModFix/>
            </a:blip>
            <a:stretch>
              <a:fillRect b="0" l="0" r="0" t="0"/>
            </a:stretch>
          </a:blipFill>
          <a:ln>
            <a:noFill/>
          </a:ln>
        </p:spPr>
      </p:sp>
      <p:grpSp>
        <p:nvGrpSpPr>
          <p:cNvPr id="274" name="Google Shape;274;p9"/>
          <p:cNvGrpSpPr/>
          <p:nvPr/>
        </p:nvGrpSpPr>
        <p:grpSpPr>
          <a:xfrm>
            <a:off x="8209914" y="3225285"/>
            <a:ext cx="1676810" cy="3037828"/>
            <a:chOff x="0" y="-47625"/>
            <a:chExt cx="883258" cy="1600173"/>
          </a:xfrm>
        </p:grpSpPr>
        <p:sp>
          <p:nvSpPr>
            <p:cNvPr id="275" name="Google Shape;275;p9"/>
            <p:cNvSpPr/>
            <p:nvPr/>
          </p:nvSpPr>
          <p:spPr>
            <a:xfrm>
              <a:off x="0" y="0"/>
              <a:ext cx="883258" cy="1552548"/>
            </a:xfrm>
            <a:custGeom>
              <a:rect b="b" l="l" r="r" t="t"/>
              <a:pathLst>
                <a:path extrusionOk="0" h="1552548" w="883258">
                  <a:moveTo>
                    <a:pt x="136203" y="0"/>
                  </a:moveTo>
                  <a:lnTo>
                    <a:pt x="747055" y="0"/>
                  </a:lnTo>
                  <a:cubicBezTo>
                    <a:pt x="822278" y="0"/>
                    <a:pt x="883258" y="60980"/>
                    <a:pt x="883258" y="136203"/>
                  </a:cubicBezTo>
                  <a:lnTo>
                    <a:pt x="883258" y="1416345"/>
                  </a:lnTo>
                  <a:cubicBezTo>
                    <a:pt x="883258" y="1452468"/>
                    <a:pt x="868908" y="1487112"/>
                    <a:pt x="843365" y="1512655"/>
                  </a:cubicBezTo>
                  <a:cubicBezTo>
                    <a:pt x="817822" y="1538198"/>
                    <a:pt x="783178" y="1552548"/>
                    <a:pt x="747055" y="1552548"/>
                  </a:cubicBezTo>
                  <a:lnTo>
                    <a:pt x="136203" y="1552548"/>
                  </a:lnTo>
                  <a:cubicBezTo>
                    <a:pt x="100080" y="1552548"/>
                    <a:pt x="65436" y="1538198"/>
                    <a:pt x="39893" y="1512655"/>
                  </a:cubicBezTo>
                  <a:cubicBezTo>
                    <a:pt x="14350" y="1487112"/>
                    <a:pt x="0" y="1452468"/>
                    <a:pt x="0" y="1416345"/>
                  </a:cubicBezTo>
                  <a:lnTo>
                    <a:pt x="0" y="136203"/>
                  </a:lnTo>
                  <a:cubicBezTo>
                    <a:pt x="0" y="100080"/>
                    <a:pt x="14350" y="65436"/>
                    <a:pt x="39893" y="39893"/>
                  </a:cubicBezTo>
                  <a:cubicBezTo>
                    <a:pt x="65436" y="14350"/>
                    <a:pt x="100080" y="0"/>
                    <a:pt x="136203" y="0"/>
                  </a:cubicBezTo>
                  <a:close/>
                </a:path>
              </a:pathLst>
            </a:custGeom>
            <a:solidFill>
              <a:srgbClr val="E1EDF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9"/>
            <p:cNvSpPr txBox="1"/>
            <p:nvPr/>
          </p:nvSpPr>
          <p:spPr>
            <a:xfrm>
              <a:off x="0" y="-47625"/>
              <a:ext cx="883258" cy="1600173"/>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grpSp>
        <p:nvGrpSpPr>
          <p:cNvPr id="281" name="Google Shape;281;p10"/>
          <p:cNvGrpSpPr/>
          <p:nvPr/>
        </p:nvGrpSpPr>
        <p:grpSpPr>
          <a:xfrm>
            <a:off x="-642691" y="-12049"/>
            <a:ext cx="1676810" cy="4205213"/>
            <a:chOff x="0" y="-47625"/>
            <a:chExt cx="883258" cy="2215092"/>
          </a:xfrm>
        </p:grpSpPr>
        <p:sp>
          <p:nvSpPr>
            <p:cNvPr id="282" name="Google Shape;282;p10"/>
            <p:cNvSpPr/>
            <p:nvPr/>
          </p:nvSpPr>
          <p:spPr>
            <a:xfrm>
              <a:off x="0" y="0"/>
              <a:ext cx="883258" cy="2167467"/>
            </a:xfrm>
            <a:custGeom>
              <a:rect b="b" l="l" r="r" t="t"/>
              <a:pathLst>
                <a:path extrusionOk="0" h="2167467" w="883258">
                  <a:moveTo>
                    <a:pt x="136203" y="0"/>
                  </a:moveTo>
                  <a:lnTo>
                    <a:pt x="747055" y="0"/>
                  </a:lnTo>
                  <a:cubicBezTo>
                    <a:pt x="822278" y="0"/>
                    <a:pt x="883258" y="60980"/>
                    <a:pt x="883258" y="136203"/>
                  </a:cubicBezTo>
                  <a:lnTo>
                    <a:pt x="883258" y="2031264"/>
                  </a:lnTo>
                  <a:cubicBezTo>
                    <a:pt x="883258" y="2106487"/>
                    <a:pt x="822278" y="2167467"/>
                    <a:pt x="747055" y="2167467"/>
                  </a:cubicBezTo>
                  <a:lnTo>
                    <a:pt x="136203" y="2167467"/>
                  </a:lnTo>
                  <a:cubicBezTo>
                    <a:pt x="100080" y="2167467"/>
                    <a:pt x="65436" y="2153117"/>
                    <a:pt x="39893" y="2127574"/>
                  </a:cubicBezTo>
                  <a:cubicBezTo>
                    <a:pt x="14350" y="2102031"/>
                    <a:pt x="0" y="2067387"/>
                    <a:pt x="0" y="2031264"/>
                  </a:cubicBezTo>
                  <a:lnTo>
                    <a:pt x="0" y="136203"/>
                  </a:lnTo>
                  <a:cubicBezTo>
                    <a:pt x="0" y="100080"/>
                    <a:pt x="14350" y="65436"/>
                    <a:pt x="39893" y="39893"/>
                  </a:cubicBezTo>
                  <a:cubicBezTo>
                    <a:pt x="65436" y="14350"/>
                    <a:pt x="100080" y="0"/>
                    <a:pt x="136203" y="0"/>
                  </a:cubicBezTo>
                  <a:close/>
                </a:path>
              </a:pathLst>
            </a:custGeom>
            <a:solidFill>
              <a:srgbClr val="E1EDF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0"/>
            <p:cNvSpPr txBox="1"/>
            <p:nvPr/>
          </p:nvSpPr>
          <p:spPr>
            <a:xfrm>
              <a:off x="0" y="-47625"/>
              <a:ext cx="883258" cy="2215092"/>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84" name="Google Shape;284;p10"/>
          <p:cNvGrpSpPr/>
          <p:nvPr/>
        </p:nvGrpSpPr>
        <p:grpSpPr>
          <a:xfrm>
            <a:off x="195714" y="140114"/>
            <a:ext cx="748473" cy="748473"/>
            <a:chOff x="0" y="0"/>
            <a:chExt cx="812800" cy="812800"/>
          </a:xfrm>
        </p:grpSpPr>
        <p:sp>
          <p:nvSpPr>
            <p:cNvPr id="285" name="Google Shape;285;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10"/>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87" name="Google Shape;287;p10"/>
          <p:cNvSpPr/>
          <p:nvPr/>
        </p:nvSpPr>
        <p:spPr>
          <a:xfrm>
            <a:off x="363734" y="305024"/>
            <a:ext cx="412431" cy="418653"/>
          </a:xfrm>
          <a:custGeom>
            <a:rect b="b" l="l" r="r" t="t"/>
            <a:pathLst>
              <a:path extrusionOk="0" h="837306" w="824861">
                <a:moveTo>
                  <a:pt x="0" y="0"/>
                </a:moveTo>
                <a:lnTo>
                  <a:pt x="824861" y="0"/>
                </a:lnTo>
                <a:lnTo>
                  <a:pt x="824861" y="837306"/>
                </a:lnTo>
                <a:lnTo>
                  <a:pt x="0" y="837306"/>
                </a:lnTo>
                <a:lnTo>
                  <a:pt x="0" y="0"/>
                </a:lnTo>
                <a:close/>
              </a:path>
            </a:pathLst>
          </a:custGeom>
          <a:blipFill rotWithShape="1">
            <a:blip r:embed="rId3">
              <a:alphaModFix/>
            </a:blip>
            <a:stretch>
              <a:fillRect b="0" l="0" r="0" t="0"/>
            </a:stretch>
          </a:blipFill>
          <a:ln>
            <a:noFill/>
          </a:ln>
        </p:spPr>
      </p:sp>
      <p:sp>
        <p:nvSpPr>
          <p:cNvPr id="288" name="Google Shape;288;p10"/>
          <p:cNvSpPr/>
          <p:nvPr/>
        </p:nvSpPr>
        <p:spPr>
          <a:xfrm>
            <a:off x="1092936" y="630560"/>
            <a:ext cx="5748969" cy="4512941"/>
          </a:xfrm>
          <a:custGeom>
            <a:rect b="b" l="l" r="r" t="t"/>
            <a:pathLst>
              <a:path extrusionOk="0" h="9025881" w="11497938">
                <a:moveTo>
                  <a:pt x="0" y="0"/>
                </a:moveTo>
                <a:lnTo>
                  <a:pt x="11497938" y="0"/>
                </a:lnTo>
                <a:lnTo>
                  <a:pt x="11497938" y="9025881"/>
                </a:lnTo>
                <a:lnTo>
                  <a:pt x="0" y="9025881"/>
                </a:lnTo>
                <a:lnTo>
                  <a:pt x="0" y="0"/>
                </a:lnTo>
                <a:close/>
              </a:path>
            </a:pathLst>
          </a:custGeom>
          <a:blipFill rotWithShape="1">
            <a:blip r:embed="rId4">
              <a:alphaModFix/>
            </a:blip>
            <a:stretch>
              <a:fillRect b="0" l="0" r="0" t="0"/>
            </a:stretch>
          </a:blipFill>
          <a:ln>
            <a:noFill/>
          </a:ln>
        </p:spPr>
      </p:sp>
      <p:sp>
        <p:nvSpPr>
          <p:cNvPr id="289" name="Google Shape;289;p10"/>
          <p:cNvSpPr/>
          <p:nvPr/>
        </p:nvSpPr>
        <p:spPr>
          <a:xfrm>
            <a:off x="636454" y="3783570"/>
            <a:ext cx="615464" cy="615464"/>
          </a:xfrm>
          <a:custGeom>
            <a:rect b="b" l="l" r="r" t="t"/>
            <a:pathLst>
              <a:path extrusionOk="0" h="1230927" w="1230927">
                <a:moveTo>
                  <a:pt x="0" y="0"/>
                </a:moveTo>
                <a:lnTo>
                  <a:pt x="1230927" y="0"/>
                </a:lnTo>
                <a:lnTo>
                  <a:pt x="1230927" y="1230927"/>
                </a:lnTo>
                <a:lnTo>
                  <a:pt x="0" y="1230927"/>
                </a:lnTo>
                <a:lnTo>
                  <a:pt x="0" y="0"/>
                </a:lnTo>
                <a:close/>
              </a:path>
            </a:pathLst>
          </a:custGeom>
          <a:blipFill rotWithShape="1">
            <a:blip r:embed="rId5">
              <a:alphaModFix/>
            </a:blip>
            <a:stretch>
              <a:fillRect b="0" l="0" r="0" t="0"/>
            </a:stretch>
          </a:blipFill>
          <a:ln>
            <a:noFill/>
          </a:ln>
        </p:spPr>
      </p:sp>
      <p:sp>
        <p:nvSpPr>
          <p:cNvPr id="290" name="Google Shape;290;p10"/>
          <p:cNvSpPr/>
          <p:nvPr/>
        </p:nvSpPr>
        <p:spPr>
          <a:xfrm>
            <a:off x="6778827" y="957101"/>
            <a:ext cx="4033328" cy="3229299"/>
          </a:xfrm>
          <a:custGeom>
            <a:rect b="b" l="l" r="r" t="t"/>
            <a:pathLst>
              <a:path extrusionOk="0" h="6458597" w="8066656">
                <a:moveTo>
                  <a:pt x="0" y="0"/>
                </a:moveTo>
                <a:lnTo>
                  <a:pt x="8066656" y="0"/>
                </a:lnTo>
                <a:lnTo>
                  <a:pt x="8066656" y="6458596"/>
                </a:lnTo>
                <a:lnTo>
                  <a:pt x="0" y="6458596"/>
                </a:lnTo>
                <a:lnTo>
                  <a:pt x="0" y="0"/>
                </a:lnTo>
                <a:close/>
              </a:path>
            </a:pathLst>
          </a:custGeom>
          <a:blipFill rotWithShape="1">
            <a:blip r:embed="rId6">
              <a:alphaModFix/>
            </a:blip>
            <a:stretch>
              <a:fillRect b="0" l="0" r="0" t="0"/>
            </a:stretch>
          </a:blipFill>
          <a:ln>
            <a:noFill/>
          </a:ln>
        </p:spPr>
      </p:sp>
      <p:sp>
        <p:nvSpPr>
          <p:cNvPr id="291" name="Google Shape;291;p10"/>
          <p:cNvSpPr txBox="1"/>
          <p:nvPr/>
        </p:nvSpPr>
        <p:spPr>
          <a:xfrm>
            <a:off x="1092937" y="131257"/>
            <a:ext cx="5628742" cy="895604"/>
          </a:xfrm>
          <a:prstGeom prst="rect">
            <a:avLst/>
          </a:prstGeom>
          <a:noFill/>
          <a:ln>
            <a:noFill/>
          </a:ln>
        </p:spPr>
        <p:txBody>
          <a:bodyPr anchorCtr="0" anchor="t" bIns="0" lIns="0" spcFirstLastPara="1" rIns="0" wrap="square" tIns="0">
            <a:spAutoFit/>
          </a:bodyPr>
          <a:lstStyle/>
          <a:p>
            <a:pPr indent="0" lvl="0" marL="0" marR="0" rtl="0" algn="l">
              <a:lnSpc>
                <a:spcPct val="127005"/>
              </a:lnSpc>
              <a:spcBef>
                <a:spcPts val="0"/>
              </a:spcBef>
              <a:spcAft>
                <a:spcPts val="0"/>
              </a:spcAft>
              <a:buClr>
                <a:srgbClr val="000000"/>
              </a:buClr>
              <a:buSzPts val="2600"/>
              <a:buFont typeface="Arial"/>
              <a:buNone/>
            </a:pPr>
            <a:r>
              <a:rPr b="1" i="0" lang="en" sz="2600" u="none" cap="none" strike="noStrike">
                <a:solidFill>
                  <a:srgbClr val="0E2F5F"/>
                </a:solidFill>
                <a:latin typeface="Arial"/>
                <a:ea typeface="Arial"/>
                <a:cs typeface="Arial"/>
                <a:sym typeface="Arial"/>
              </a:rPr>
              <a:t>Stakeholders and Applications</a:t>
            </a:r>
            <a:endParaRPr b="0" i="0" sz="700" u="none" cap="none" strike="noStrike">
              <a:solidFill>
                <a:srgbClr val="000000"/>
              </a:solidFill>
              <a:latin typeface="Arial"/>
              <a:ea typeface="Arial"/>
              <a:cs typeface="Arial"/>
              <a:sym typeface="Arial"/>
            </a:endParaRPr>
          </a:p>
          <a:p>
            <a:pPr indent="0" lvl="0" marL="0" marR="0" rtl="0" algn="l">
              <a:lnSpc>
                <a:spcPct val="127005"/>
              </a:lnSpc>
              <a:spcBef>
                <a:spcPts val="0"/>
              </a:spcBef>
              <a:spcAft>
                <a:spcPts val="0"/>
              </a:spcAft>
              <a:buClr>
                <a:srgbClr val="000000"/>
              </a:buClr>
              <a:buSzPts val="2600"/>
              <a:buFont typeface="Arial"/>
              <a:buNone/>
            </a:pPr>
            <a:r>
              <a:t/>
            </a:r>
            <a:endParaRPr b="1" i="0" sz="2600" u="none" cap="none" strike="noStrike">
              <a:solidFill>
                <a:srgbClr val="0E2F5F"/>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grpSp>
        <p:nvGrpSpPr>
          <p:cNvPr id="296" name="Google Shape;296;p11"/>
          <p:cNvGrpSpPr/>
          <p:nvPr/>
        </p:nvGrpSpPr>
        <p:grpSpPr>
          <a:xfrm>
            <a:off x="-284956" y="3214856"/>
            <a:ext cx="2825072" cy="1928644"/>
            <a:chOff x="0" y="-47625"/>
            <a:chExt cx="1488104" cy="1015911"/>
          </a:xfrm>
        </p:grpSpPr>
        <p:sp>
          <p:nvSpPr>
            <p:cNvPr id="297" name="Google Shape;297;p11"/>
            <p:cNvSpPr/>
            <p:nvPr/>
          </p:nvSpPr>
          <p:spPr>
            <a:xfrm>
              <a:off x="0" y="0"/>
              <a:ext cx="1488104" cy="968286"/>
            </a:xfrm>
            <a:custGeom>
              <a:rect b="b" l="l" r="r" t="t"/>
              <a:pathLst>
                <a:path extrusionOk="0" h="968286" w="1488104">
                  <a:moveTo>
                    <a:pt x="0" y="0"/>
                  </a:moveTo>
                  <a:lnTo>
                    <a:pt x="1488104" y="0"/>
                  </a:lnTo>
                  <a:lnTo>
                    <a:pt x="1488104" y="968286"/>
                  </a:lnTo>
                  <a:lnTo>
                    <a:pt x="0" y="968286"/>
                  </a:lnTo>
                  <a:close/>
                </a:path>
              </a:pathLst>
            </a:custGeom>
            <a:solidFill>
              <a:srgbClr val="E1EDFC"/>
            </a:solidFill>
            <a:ln>
              <a:noFill/>
            </a:ln>
          </p:spPr>
        </p:sp>
        <p:sp>
          <p:nvSpPr>
            <p:cNvPr id="298" name="Google Shape;298;p11"/>
            <p:cNvSpPr txBox="1"/>
            <p:nvPr/>
          </p:nvSpPr>
          <p:spPr>
            <a:xfrm>
              <a:off x="0" y="-47625"/>
              <a:ext cx="1488104" cy="1015911"/>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99" name="Google Shape;299;p11"/>
          <p:cNvGrpSpPr/>
          <p:nvPr/>
        </p:nvGrpSpPr>
        <p:grpSpPr>
          <a:xfrm>
            <a:off x="910464" y="2476811"/>
            <a:ext cx="2925091" cy="503514"/>
            <a:chOff x="0" y="-47625"/>
            <a:chExt cx="1295215" cy="222954"/>
          </a:xfrm>
        </p:grpSpPr>
        <p:sp>
          <p:nvSpPr>
            <p:cNvPr id="300" name="Google Shape;300;p11"/>
            <p:cNvSpPr/>
            <p:nvPr/>
          </p:nvSpPr>
          <p:spPr>
            <a:xfrm>
              <a:off x="0" y="0"/>
              <a:ext cx="1295215" cy="175329"/>
            </a:xfrm>
            <a:custGeom>
              <a:rect b="b" l="l" r="r" t="t"/>
              <a:pathLst>
                <a:path extrusionOk="0" h="175329" w="1295215">
                  <a:moveTo>
                    <a:pt x="67492" y="0"/>
                  </a:moveTo>
                  <a:lnTo>
                    <a:pt x="1227723" y="0"/>
                  </a:lnTo>
                  <a:cubicBezTo>
                    <a:pt x="1245623" y="0"/>
                    <a:pt x="1262790" y="7111"/>
                    <a:pt x="1275447" y="19768"/>
                  </a:cubicBezTo>
                  <a:cubicBezTo>
                    <a:pt x="1288104" y="32425"/>
                    <a:pt x="1295215" y="49592"/>
                    <a:pt x="1295215" y="67492"/>
                  </a:cubicBezTo>
                  <a:lnTo>
                    <a:pt x="1295215" y="107837"/>
                  </a:lnTo>
                  <a:cubicBezTo>
                    <a:pt x="1295215" y="125737"/>
                    <a:pt x="1288104" y="142904"/>
                    <a:pt x="1275447" y="155561"/>
                  </a:cubicBezTo>
                  <a:cubicBezTo>
                    <a:pt x="1262790" y="168218"/>
                    <a:pt x="1245623" y="175329"/>
                    <a:pt x="1227723" y="175329"/>
                  </a:cubicBezTo>
                  <a:lnTo>
                    <a:pt x="67492" y="175329"/>
                  </a:lnTo>
                  <a:cubicBezTo>
                    <a:pt x="49592" y="175329"/>
                    <a:pt x="32425" y="168218"/>
                    <a:pt x="19768" y="155561"/>
                  </a:cubicBezTo>
                  <a:cubicBezTo>
                    <a:pt x="7111" y="142904"/>
                    <a:pt x="0" y="125737"/>
                    <a:pt x="0" y="107837"/>
                  </a:cubicBezTo>
                  <a:lnTo>
                    <a:pt x="0" y="67492"/>
                  </a:lnTo>
                  <a:cubicBezTo>
                    <a:pt x="0" y="49592"/>
                    <a:pt x="7111" y="32425"/>
                    <a:pt x="19768" y="19768"/>
                  </a:cubicBezTo>
                  <a:cubicBezTo>
                    <a:pt x="32425" y="7111"/>
                    <a:pt x="49592" y="0"/>
                    <a:pt x="67492" y="0"/>
                  </a:cubicBezTo>
                  <a:close/>
                </a:path>
              </a:pathLst>
            </a:custGeom>
            <a:solidFill>
              <a:srgbClr val="3A577B"/>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11"/>
            <p:cNvSpPr txBox="1"/>
            <p:nvPr/>
          </p:nvSpPr>
          <p:spPr>
            <a:xfrm>
              <a:off x="0" y="-47625"/>
              <a:ext cx="1295215" cy="222954"/>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02" name="Google Shape;302;p11"/>
          <p:cNvGrpSpPr/>
          <p:nvPr/>
        </p:nvGrpSpPr>
        <p:grpSpPr>
          <a:xfrm>
            <a:off x="889178" y="3251079"/>
            <a:ext cx="2925091" cy="503514"/>
            <a:chOff x="0" y="-47625"/>
            <a:chExt cx="1295215" cy="222954"/>
          </a:xfrm>
        </p:grpSpPr>
        <p:sp>
          <p:nvSpPr>
            <p:cNvPr id="303" name="Google Shape;303;p11"/>
            <p:cNvSpPr/>
            <p:nvPr/>
          </p:nvSpPr>
          <p:spPr>
            <a:xfrm>
              <a:off x="0" y="0"/>
              <a:ext cx="1295215" cy="175329"/>
            </a:xfrm>
            <a:custGeom>
              <a:rect b="b" l="l" r="r" t="t"/>
              <a:pathLst>
                <a:path extrusionOk="0" h="175329" w="1295215">
                  <a:moveTo>
                    <a:pt x="67492" y="0"/>
                  </a:moveTo>
                  <a:lnTo>
                    <a:pt x="1227723" y="0"/>
                  </a:lnTo>
                  <a:cubicBezTo>
                    <a:pt x="1245623" y="0"/>
                    <a:pt x="1262790" y="7111"/>
                    <a:pt x="1275447" y="19768"/>
                  </a:cubicBezTo>
                  <a:cubicBezTo>
                    <a:pt x="1288104" y="32425"/>
                    <a:pt x="1295215" y="49592"/>
                    <a:pt x="1295215" y="67492"/>
                  </a:cubicBezTo>
                  <a:lnTo>
                    <a:pt x="1295215" y="107837"/>
                  </a:lnTo>
                  <a:cubicBezTo>
                    <a:pt x="1295215" y="125737"/>
                    <a:pt x="1288104" y="142904"/>
                    <a:pt x="1275447" y="155561"/>
                  </a:cubicBezTo>
                  <a:cubicBezTo>
                    <a:pt x="1262790" y="168218"/>
                    <a:pt x="1245623" y="175329"/>
                    <a:pt x="1227723" y="175329"/>
                  </a:cubicBezTo>
                  <a:lnTo>
                    <a:pt x="67492" y="175329"/>
                  </a:lnTo>
                  <a:cubicBezTo>
                    <a:pt x="49592" y="175329"/>
                    <a:pt x="32425" y="168218"/>
                    <a:pt x="19768" y="155561"/>
                  </a:cubicBezTo>
                  <a:cubicBezTo>
                    <a:pt x="7111" y="142904"/>
                    <a:pt x="0" y="125737"/>
                    <a:pt x="0" y="107837"/>
                  </a:cubicBezTo>
                  <a:lnTo>
                    <a:pt x="0" y="67492"/>
                  </a:lnTo>
                  <a:cubicBezTo>
                    <a:pt x="0" y="49592"/>
                    <a:pt x="7111" y="32425"/>
                    <a:pt x="19768" y="19768"/>
                  </a:cubicBezTo>
                  <a:cubicBezTo>
                    <a:pt x="32425" y="7111"/>
                    <a:pt x="49592" y="0"/>
                    <a:pt x="67492" y="0"/>
                  </a:cubicBezTo>
                  <a:close/>
                </a:path>
              </a:pathLst>
            </a:custGeom>
            <a:solidFill>
              <a:srgbClr val="3A577B"/>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1"/>
            <p:cNvSpPr txBox="1"/>
            <p:nvPr/>
          </p:nvSpPr>
          <p:spPr>
            <a:xfrm>
              <a:off x="0" y="-47625"/>
              <a:ext cx="1295215" cy="222954"/>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05" name="Google Shape;305;p11"/>
          <p:cNvGrpSpPr/>
          <p:nvPr/>
        </p:nvGrpSpPr>
        <p:grpSpPr>
          <a:xfrm>
            <a:off x="916549" y="1755671"/>
            <a:ext cx="2925091" cy="503514"/>
            <a:chOff x="0" y="-47625"/>
            <a:chExt cx="1295215" cy="222954"/>
          </a:xfrm>
        </p:grpSpPr>
        <p:sp>
          <p:nvSpPr>
            <p:cNvPr id="306" name="Google Shape;306;p11"/>
            <p:cNvSpPr/>
            <p:nvPr/>
          </p:nvSpPr>
          <p:spPr>
            <a:xfrm>
              <a:off x="0" y="0"/>
              <a:ext cx="1295215" cy="175329"/>
            </a:xfrm>
            <a:custGeom>
              <a:rect b="b" l="l" r="r" t="t"/>
              <a:pathLst>
                <a:path extrusionOk="0" h="175329" w="1295215">
                  <a:moveTo>
                    <a:pt x="67492" y="0"/>
                  </a:moveTo>
                  <a:lnTo>
                    <a:pt x="1227723" y="0"/>
                  </a:lnTo>
                  <a:cubicBezTo>
                    <a:pt x="1245623" y="0"/>
                    <a:pt x="1262790" y="7111"/>
                    <a:pt x="1275447" y="19768"/>
                  </a:cubicBezTo>
                  <a:cubicBezTo>
                    <a:pt x="1288104" y="32425"/>
                    <a:pt x="1295215" y="49592"/>
                    <a:pt x="1295215" y="67492"/>
                  </a:cubicBezTo>
                  <a:lnTo>
                    <a:pt x="1295215" y="107837"/>
                  </a:lnTo>
                  <a:cubicBezTo>
                    <a:pt x="1295215" y="125737"/>
                    <a:pt x="1288104" y="142904"/>
                    <a:pt x="1275447" y="155561"/>
                  </a:cubicBezTo>
                  <a:cubicBezTo>
                    <a:pt x="1262790" y="168218"/>
                    <a:pt x="1245623" y="175329"/>
                    <a:pt x="1227723" y="175329"/>
                  </a:cubicBezTo>
                  <a:lnTo>
                    <a:pt x="67492" y="175329"/>
                  </a:lnTo>
                  <a:cubicBezTo>
                    <a:pt x="49592" y="175329"/>
                    <a:pt x="32425" y="168218"/>
                    <a:pt x="19768" y="155561"/>
                  </a:cubicBezTo>
                  <a:cubicBezTo>
                    <a:pt x="7111" y="142904"/>
                    <a:pt x="0" y="125737"/>
                    <a:pt x="0" y="107837"/>
                  </a:cubicBezTo>
                  <a:lnTo>
                    <a:pt x="0" y="67492"/>
                  </a:lnTo>
                  <a:cubicBezTo>
                    <a:pt x="0" y="49592"/>
                    <a:pt x="7111" y="32425"/>
                    <a:pt x="19768" y="19768"/>
                  </a:cubicBezTo>
                  <a:cubicBezTo>
                    <a:pt x="32425" y="7111"/>
                    <a:pt x="49592" y="0"/>
                    <a:pt x="67492" y="0"/>
                  </a:cubicBezTo>
                  <a:close/>
                </a:path>
              </a:pathLst>
            </a:custGeom>
            <a:solidFill>
              <a:srgbClr val="3A577B"/>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11"/>
            <p:cNvSpPr txBox="1"/>
            <p:nvPr/>
          </p:nvSpPr>
          <p:spPr>
            <a:xfrm>
              <a:off x="0" y="-47625"/>
              <a:ext cx="1295215" cy="222954"/>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08" name="Google Shape;308;p11"/>
          <p:cNvSpPr/>
          <p:nvPr/>
        </p:nvSpPr>
        <p:spPr>
          <a:xfrm>
            <a:off x="390227" y="1863226"/>
            <a:ext cx="395959" cy="395959"/>
          </a:xfrm>
          <a:custGeom>
            <a:rect b="b" l="l" r="r" t="t"/>
            <a:pathLst>
              <a:path extrusionOk="0" h="791918" w="791918">
                <a:moveTo>
                  <a:pt x="0" y="0"/>
                </a:moveTo>
                <a:lnTo>
                  <a:pt x="791917" y="0"/>
                </a:lnTo>
                <a:lnTo>
                  <a:pt x="791917" y="791918"/>
                </a:lnTo>
                <a:lnTo>
                  <a:pt x="0" y="791918"/>
                </a:lnTo>
                <a:lnTo>
                  <a:pt x="0" y="0"/>
                </a:lnTo>
                <a:close/>
              </a:path>
            </a:pathLst>
          </a:custGeom>
          <a:blipFill rotWithShape="1">
            <a:blip r:embed="rId3">
              <a:alphaModFix/>
            </a:blip>
            <a:stretch>
              <a:fillRect b="0" l="0" r="0" t="0"/>
            </a:stretch>
          </a:blipFill>
          <a:ln>
            <a:noFill/>
          </a:ln>
        </p:spPr>
      </p:sp>
      <p:sp>
        <p:nvSpPr>
          <p:cNvPr id="309" name="Google Shape;309;p11"/>
          <p:cNvSpPr/>
          <p:nvPr/>
        </p:nvSpPr>
        <p:spPr>
          <a:xfrm>
            <a:off x="390227" y="2584366"/>
            <a:ext cx="395959" cy="395959"/>
          </a:xfrm>
          <a:custGeom>
            <a:rect b="b" l="l" r="r" t="t"/>
            <a:pathLst>
              <a:path extrusionOk="0" h="791918" w="791918">
                <a:moveTo>
                  <a:pt x="0" y="0"/>
                </a:moveTo>
                <a:lnTo>
                  <a:pt x="791917" y="0"/>
                </a:lnTo>
                <a:lnTo>
                  <a:pt x="791917" y="791917"/>
                </a:lnTo>
                <a:lnTo>
                  <a:pt x="0" y="791917"/>
                </a:lnTo>
                <a:lnTo>
                  <a:pt x="0" y="0"/>
                </a:lnTo>
                <a:close/>
              </a:path>
            </a:pathLst>
          </a:custGeom>
          <a:blipFill rotWithShape="1">
            <a:blip r:embed="rId3">
              <a:alphaModFix/>
            </a:blip>
            <a:stretch>
              <a:fillRect b="0" l="0" r="0" t="0"/>
            </a:stretch>
          </a:blipFill>
          <a:ln>
            <a:noFill/>
          </a:ln>
        </p:spPr>
      </p:sp>
      <p:sp>
        <p:nvSpPr>
          <p:cNvPr id="310" name="Google Shape;310;p11"/>
          <p:cNvSpPr/>
          <p:nvPr/>
        </p:nvSpPr>
        <p:spPr>
          <a:xfrm>
            <a:off x="390227" y="3361395"/>
            <a:ext cx="395959" cy="395959"/>
          </a:xfrm>
          <a:custGeom>
            <a:rect b="b" l="l" r="r" t="t"/>
            <a:pathLst>
              <a:path extrusionOk="0" h="791918" w="791918">
                <a:moveTo>
                  <a:pt x="0" y="0"/>
                </a:moveTo>
                <a:lnTo>
                  <a:pt x="791917" y="0"/>
                </a:lnTo>
                <a:lnTo>
                  <a:pt x="791917" y="791918"/>
                </a:lnTo>
                <a:lnTo>
                  <a:pt x="0" y="791918"/>
                </a:lnTo>
                <a:lnTo>
                  <a:pt x="0" y="0"/>
                </a:lnTo>
                <a:close/>
              </a:path>
            </a:pathLst>
          </a:custGeom>
          <a:blipFill rotWithShape="1">
            <a:blip r:embed="rId3">
              <a:alphaModFix/>
            </a:blip>
            <a:stretch>
              <a:fillRect b="0" l="0" r="0" t="0"/>
            </a:stretch>
          </a:blipFill>
          <a:ln>
            <a:noFill/>
          </a:ln>
        </p:spPr>
      </p:sp>
      <p:sp>
        <p:nvSpPr>
          <p:cNvPr id="311" name="Google Shape;311;p11"/>
          <p:cNvSpPr txBox="1"/>
          <p:nvPr/>
        </p:nvSpPr>
        <p:spPr>
          <a:xfrm>
            <a:off x="1021339" y="2659040"/>
            <a:ext cx="2730600" cy="4803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1300"/>
              <a:buFont typeface="Arial"/>
              <a:buNone/>
            </a:pPr>
            <a:r>
              <a:rPr b="1" i="0" lang="en" sz="1300" u="none" cap="none" strike="noStrike">
                <a:solidFill>
                  <a:srgbClr val="FFFFFF"/>
                </a:solidFill>
                <a:latin typeface="Bree Serif"/>
                <a:ea typeface="Bree Serif"/>
                <a:cs typeface="Bree Serif"/>
                <a:sym typeface="Bree Serif"/>
              </a:rPr>
              <a:t>Model Creation </a:t>
            </a:r>
            <a:endParaRPr b="0" i="0" sz="700" u="none" cap="none" strike="noStrike">
              <a:solidFill>
                <a:srgbClr val="000000"/>
              </a:solidFill>
              <a:latin typeface="Bree Serif"/>
              <a:ea typeface="Bree Serif"/>
              <a:cs typeface="Bree Serif"/>
              <a:sym typeface="Bree Serif"/>
            </a:endParaRPr>
          </a:p>
          <a:p>
            <a:pPr indent="0" lvl="0" marL="0" marR="0" rtl="0" algn="ctr">
              <a:lnSpc>
                <a:spcPct val="140007"/>
              </a:lnSpc>
              <a:spcBef>
                <a:spcPts val="0"/>
              </a:spcBef>
              <a:spcAft>
                <a:spcPts val="0"/>
              </a:spcAft>
              <a:buClr>
                <a:srgbClr val="000000"/>
              </a:buClr>
              <a:buSzPts val="1300"/>
              <a:buFont typeface="Arial"/>
              <a:buNone/>
            </a:pPr>
            <a:r>
              <a:t/>
            </a:r>
            <a:endParaRPr b="1" i="0" sz="1300" u="none" cap="none" strike="noStrike">
              <a:solidFill>
                <a:srgbClr val="FFFFFF"/>
              </a:solidFill>
              <a:latin typeface="Ultra"/>
              <a:ea typeface="Ultra"/>
              <a:cs typeface="Ultra"/>
              <a:sym typeface="Ultra"/>
            </a:endParaRPr>
          </a:p>
        </p:txBody>
      </p:sp>
      <p:sp>
        <p:nvSpPr>
          <p:cNvPr id="312" name="Google Shape;312;p11"/>
          <p:cNvSpPr txBox="1"/>
          <p:nvPr/>
        </p:nvSpPr>
        <p:spPr>
          <a:xfrm>
            <a:off x="1000054" y="3433307"/>
            <a:ext cx="2730600" cy="4803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1300"/>
              <a:buFont typeface="Arial"/>
              <a:buNone/>
            </a:pPr>
            <a:r>
              <a:rPr b="1" i="0" lang="en" sz="1300" u="none" cap="none" strike="noStrike">
                <a:solidFill>
                  <a:srgbClr val="FFFFFF"/>
                </a:solidFill>
                <a:latin typeface="Bree Serif"/>
                <a:ea typeface="Bree Serif"/>
                <a:cs typeface="Bree Serif"/>
                <a:sym typeface="Bree Serif"/>
              </a:rPr>
              <a:t>Prediction and Analysis</a:t>
            </a:r>
            <a:endParaRPr b="0" i="0" sz="700" u="none" cap="none" strike="noStrike">
              <a:solidFill>
                <a:srgbClr val="000000"/>
              </a:solidFill>
              <a:latin typeface="Bree Serif"/>
              <a:ea typeface="Bree Serif"/>
              <a:cs typeface="Bree Serif"/>
              <a:sym typeface="Bree Serif"/>
            </a:endParaRPr>
          </a:p>
          <a:p>
            <a:pPr indent="0" lvl="0" marL="0" marR="0" rtl="0" algn="ctr">
              <a:lnSpc>
                <a:spcPct val="140007"/>
              </a:lnSpc>
              <a:spcBef>
                <a:spcPts val="0"/>
              </a:spcBef>
              <a:spcAft>
                <a:spcPts val="0"/>
              </a:spcAft>
              <a:buClr>
                <a:srgbClr val="000000"/>
              </a:buClr>
              <a:buSzPts val="1300"/>
              <a:buFont typeface="Arial"/>
              <a:buNone/>
            </a:pPr>
            <a:r>
              <a:t/>
            </a:r>
            <a:endParaRPr b="1" i="0" sz="1300" u="none" cap="none" strike="noStrike">
              <a:solidFill>
                <a:srgbClr val="FFFFFF"/>
              </a:solidFill>
              <a:latin typeface="Ultra"/>
              <a:ea typeface="Ultra"/>
              <a:cs typeface="Ultra"/>
              <a:sym typeface="Ultra"/>
            </a:endParaRPr>
          </a:p>
        </p:txBody>
      </p:sp>
      <p:sp>
        <p:nvSpPr>
          <p:cNvPr id="313" name="Google Shape;313;p11"/>
          <p:cNvSpPr txBox="1"/>
          <p:nvPr/>
        </p:nvSpPr>
        <p:spPr>
          <a:xfrm>
            <a:off x="1434382" y="1925778"/>
            <a:ext cx="2166600" cy="4803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1300"/>
              <a:buFont typeface="Arial"/>
              <a:buNone/>
            </a:pPr>
            <a:r>
              <a:rPr b="1" i="0" lang="en" sz="1300" u="none" cap="none" strike="noStrike">
                <a:solidFill>
                  <a:srgbClr val="FFFFFF"/>
                </a:solidFill>
                <a:latin typeface="Bree Serif"/>
                <a:ea typeface="Bree Serif"/>
                <a:cs typeface="Bree Serif"/>
                <a:sym typeface="Bree Serif"/>
              </a:rPr>
              <a:t>Data Preprocessing</a:t>
            </a:r>
            <a:endParaRPr b="0" i="0" sz="700" u="none" cap="none" strike="noStrike">
              <a:solidFill>
                <a:srgbClr val="000000"/>
              </a:solidFill>
              <a:latin typeface="Bree Serif"/>
              <a:ea typeface="Bree Serif"/>
              <a:cs typeface="Bree Serif"/>
              <a:sym typeface="Bree Serif"/>
            </a:endParaRPr>
          </a:p>
          <a:p>
            <a:pPr indent="0" lvl="0" marL="0" marR="0" rtl="0" algn="ctr">
              <a:lnSpc>
                <a:spcPct val="140007"/>
              </a:lnSpc>
              <a:spcBef>
                <a:spcPts val="0"/>
              </a:spcBef>
              <a:spcAft>
                <a:spcPts val="0"/>
              </a:spcAft>
              <a:buClr>
                <a:srgbClr val="000000"/>
              </a:buClr>
              <a:buSzPts val="1300"/>
              <a:buFont typeface="Arial"/>
              <a:buNone/>
            </a:pPr>
            <a:r>
              <a:t/>
            </a:r>
            <a:endParaRPr b="1" i="0" sz="1300" u="none" cap="none" strike="noStrike">
              <a:solidFill>
                <a:srgbClr val="FFFFFF"/>
              </a:solidFill>
              <a:latin typeface="Ultra"/>
              <a:ea typeface="Ultra"/>
              <a:cs typeface="Ultra"/>
              <a:sym typeface="Ultra"/>
            </a:endParaRPr>
          </a:p>
        </p:txBody>
      </p:sp>
      <p:sp>
        <p:nvSpPr>
          <p:cNvPr id="314" name="Google Shape;314;p11"/>
          <p:cNvSpPr/>
          <p:nvPr/>
        </p:nvSpPr>
        <p:spPr>
          <a:xfrm>
            <a:off x="6183907" y="-602594"/>
            <a:ext cx="1845934" cy="1845934"/>
          </a:xfrm>
          <a:custGeom>
            <a:rect b="b" l="l" r="r" t="t"/>
            <a:pathLst>
              <a:path extrusionOk="0" h="3691868" w="3691868">
                <a:moveTo>
                  <a:pt x="0" y="0"/>
                </a:moveTo>
                <a:lnTo>
                  <a:pt x="3691867" y="0"/>
                </a:lnTo>
                <a:lnTo>
                  <a:pt x="3691867" y="3691868"/>
                </a:lnTo>
                <a:lnTo>
                  <a:pt x="0" y="3691868"/>
                </a:lnTo>
                <a:lnTo>
                  <a:pt x="0" y="0"/>
                </a:lnTo>
                <a:close/>
              </a:path>
            </a:pathLst>
          </a:custGeom>
          <a:blipFill rotWithShape="1">
            <a:blip r:embed="rId4">
              <a:alphaModFix/>
            </a:blip>
            <a:stretch>
              <a:fillRect b="0" l="0" r="0" t="0"/>
            </a:stretch>
          </a:blipFill>
          <a:ln>
            <a:noFill/>
          </a:ln>
        </p:spPr>
      </p:sp>
      <p:sp>
        <p:nvSpPr>
          <p:cNvPr id="315" name="Google Shape;315;p11"/>
          <p:cNvSpPr/>
          <p:nvPr/>
        </p:nvSpPr>
        <p:spPr>
          <a:xfrm>
            <a:off x="2080080" y="4860000"/>
            <a:ext cx="613230" cy="189544"/>
          </a:xfrm>
          <a:custGeom>
            <a:rect b="b" l="l" r="r" t="t"/>
            <a:pathLst>
              <a:path extrusionOk="0" h="379088" w="1226460">
                <a:moveTo>
                  <a:pt x="0" y="0"/>
                </a:moveTo>
                <a:lnTo>
                  <a:pt x="1226459" y="0"/>
                </a:lnTo>
                <a:lnTo>
                  <a:pt x="1226459" y="379088"/>
                </a:lnTo>
                <a:lnTo>
                  <a:pt x="0" y="379088"/>
                </a:lnTo>
                <a:lnTo>
                  <a:pt x="0" y="0"/>
                </a:lnTo>
                <a:close/>
              </a:path>
            </a:pathLst>
          </a:custGeom>
          <a:blipFill rotWithShape="1">
            <a:blip r:embed="rId5">
              <a:alphaModFix/>
            </a:blip>
            <a:stretch>
              <a:fillRect b="0" l="0" r="0" t="0"/>
            </a:stretch>
          </a:blipFill>
          <a:ln>
            <a:noFill/>
          </a:ln>
        </p:spPr>
      </p:sp>
      <p:sp>
        <p:nvSpPr>
          <p:cNvPr id="316" name="Google Shape;316;p11"/>
          <p:cNvSpPr/>
          <p:nvPr/>
        </p:nvSpPr>
        <p:spPr>
          <a:xfrm>
            <a:off x="7802670" y="225601"/>
            <a:ext cx="613230" cy="189544"/>
          </a:xfrm>
          <a:custGeom>
            <a:rect b="b" l="l" r="r" t="t"/>
            <a:pathLst>
              <a:path extrusionOk="0" h="379088" w="1226460">
                <a:moveTo>
                  <a:pt x="0" y="0"/>
                </a:moveTo>
                <a:lnTo>
                  <a:pt x="1226460" y="0"/>
                </a:lnTo>
                <a:lnTo>
                  <a:pt x="1226460" y="379088"/>
                </a:lnTo>
                <a:lnTo>
                  <a:pt x="0" y="379088"/>
                </a:lnTo>
                <a:lnTo>
                  <a:pt x="0" y="0"/>
                </a:lnTo>
                <a:close/>
              </a:path>
            </a:pathLst>
          </a:custGeom>
          <a:blipFill rotWithShape="1">
            <a:blip r:embed="rId5">
              <a:alphaModFix/>
            </a:blip>
            <a:stretch>
              <a:fillRect b="0" l="0" r="0" t="0"/>
            </a:stretch>
          </a:blipFill>
          <a:ln>
            <a:noFill/>
          </a:ln>
        </p:spPr>
      </p:sp>
      <p:sp>
        <p:nvSpPr>
          <p:cNvPr id="317" name="Google Shape;317;p11"/>
          <p:cNvSpPr/>
          <p:nvPr/>
        </p:nvSpPr>
        <p:spPr>
          <a:xfrm>
            <a:off x="4174275" y="1389679"/>
            <a:ext cx="4782328" cy="3017676"/>
          </a:xfrm>
          <a:custGeom>
            <a:rect b="b" l="l" r="r" t="t"/>
            <a:pathLst>
              <a:path extrusionOk="0" h="6035352" w="9564656">
                <a:moveTo>
                  <a:pt x="0" y="0"/>
                </a:moveTo>
                <a:lnTo>
                  <a:pt x="9564656" y="0"/>
                </a:lnTo>
                <a:lnTo>
                  <a:pt x="9564656" y="6035352"/>
                </a:lnTo>
                <a:lnTo>
                  <a:pt x="0" y="6035352"/>
                </a:lnTo>
                <a:lnTo>
                  <a:pt x="0" y="0"/>
                </a:lnTo>
                <a:close/>
              </a:path>
            </a:pathLst>
          </a:custGeom>
          <a:blipFill rotWithShape="1">
            <a:blip r:embed="rId6">
              <a:alphaModFix/>
            </a:blip>
            <a:stretch>
              <a:fillRect b="0" l="0" r="0" t="-2456"/>
            </a:stretch>
          </a:blipFill>
          <a:ln>
            <a:noFill/>
          </a:ln>
        </p:spPr>
      </p:sp>
      <p:sp>
        <p:nvSpPr>
          <p:cNvPr id="318" name="Google Shape;318;p11"/>
          <p:cNvSpPr txBox="1"/>
          <p:nvPr/>
        </p:nvSpPr>
        <p:spPr>
          <a:xfrm>
            <a:off x="1000054" y="338945"/>
            <a:ext cx="3776179" cy="508064"/>
          </a:xfrm>
          <a:prstGeom prst="rect">
            <a:avLst/>
          </a:prstGeom>
          <a:noFill/>
          <a:ln>
            <a:noFill/>
          </a:ln>
        </p:spPr>
        <p:txBody>
          <a:bodyPr anchorCtr="0" anchor="t" bIns="0" lIns="0" spcFirstLastPara="1" rIns="0" wrap="square" tIns="0">
            <a:spAutoFit/>
          </a:bodyPr>
          <a:lstStyle/>
          <a:p>
            <a:pPr indent="0" lvl="0" marL="0" marR="0" rtl="0" algn="l">
              <a:lnSpc>
                <a:spcPct val="127004"/>
              </a:lnSpc>
              <a:spcBef>
                <a:spcPts val="0"/>
              </a:spcBef>
              <a:spcAft>
                <a:spcPts val="0"/>
              </a:spcAft>
              <a:buClr>
                <a:srgbClr val="000000"/>
              </a:buClr>
              <a:buSzPts val="2800"/>
              <a:buFont typeface="Arial"/>
              <a:buNone/>
            </a:pPr>
            <a:r>
              <a:rPr b="1" i="0" lang="en" sz="2800" u="none" cap="none" strike="noStrike">
                <a:solidFill>
                  <a:srgbClr val="0E2F5F"/>
                </a:solidFill>
                <a:latin typeface="Arial"/>
                <a:ea typeface="Arial"/>
                <a:cs typeface="Arial"/>
                <a:sym typeface="Arial"/>
              </a:rPr>
              <a:t>Analytic Approach</a:t>
            </a:r>
            <a:endParaRPr b="0" i="0" sz="700" u="none" cap="none" strike="noStrike">
              <a:solidFill>
                <a:srgbClr val="000000"/>
              </a:solidFill>
              <a:latin typeface="Arial"/>
              <a:ea typeface="Arial"/>
              <a:cs typeface="Arial"/>
              <a:sym typeface="Arial"/>
            </a:endParaRPr>
          </a:p>
        </p:txBody>
      </p:sp>
      <p:grpSp>
        <p:nvGrpSpPr>
          <p:cNvPr id="319" name="Google Shape;319;p11"/>
          <p:cNvGrpSpPr/>
          <p:nvPr/>
        </p:nvGrpSpPr>
        <p:grpSpPr>
          <a:xfrm>
            <a:off x="343650" y="367759"/>
            <a:ext cx="489113" cy="504157"/>
            <a:chOff x="0" y="0"/>
            <a:chExt cx="788546" cy="812800"/>
          </a:xfrm>
        </p:grpSpPr>
        <p:sp>
          <p:nvSpPr>
            <p:cNvPr id="320" name="Google Shape;320;p11"/>
            <p:cNvSpPr/>
            <p:nvPr/>
          </p:nvSpPr>
          <p:spPr>
            <a:xfrm>
              <a:off x="0" y="0"/>
              <a:ext cx="788546" cy="812800"/>
            </a:xfrm>
            <a:custGeom>
              <a:rect b="b" l="l" r="r" t="t"/>
              <a:pathLst>
                <a:path extrusionOk="0" h="812800" w="788546">
                  <a:moveTo>
                    <a:pt x="394273" y="0"/>
                  </a:moveTo>
                  <a:cubicBezTo>
                    <a:pt x="176522" y="0"/>
                    <a:pt x="0" y="181951"/>
                    <a:pt x="0" y="406400"/>
                  </a:cubicBezTo>
                  <a:cubicBezTo>
                    <a:pt x="0" y="630849"/>
                    <a:pt x="176522" y="812800"/>
                    <a:pt x="394273" y="812800"/>
                  </a:cubicBezTo>
                  <a:cubicBezTo>
                    <a:pt x="612024" y="812800"/>
                    <a:pt x="788546" y="630849"/>
                    <a:pt x="788546" y="406400"/>
                  </a:cubicBezTo>
                  <a:cubicBezTo>
                    <a:pt x="788546" y="181951"/>
                    <a:pt x="612024" y="0"/>
                    <a:pt x="394273" y="0"/>
                  </a:cubicBezTo>
                  <a:close/>
                </a:path>
              </a:pathLst>
            </a:custGeom>
            <a:solidFill>
              <a:srgbClr val="5188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11"/>
            <p:cNvSpPr txBox="1"/>
            <p:nvPr/>
          </p:nvSpPr>
          <p:spPr>
            <a:xfrm>
              <a:off x="73926" y="28575"/>
              <a:ext cx="640694"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22" name="Google Shape;322;p11"/>
          <p:cNvSpPr/>
          <p:nvPr/>
        </p:nvSpPr>
        <p:spPr>
          <a:xfrm>
            <a:off x="509771" y="502573"/>
            <a:ext cx="156872" cy="234528"/>
          </a:xfrm>
          <a:custGeom>
            <a:rect b="b" l="l" r="r" t="t"/>
            <a:pathLst>
              <a:path extrusionOk="0" h="469057" w="313744">
                <a:moveTo>
                  <a:pt x="0" y="0"/>
                </a:moveTo>
                <a:lnTo>
                  <a:pt x="313743" y="0"/>
                </a:lnTo>
                <a:lnTo>
                  <a:pt x="313743" y="469057"/>
                </a:lnTo>
                <a:lnTo>
                  <a:pt x="0" y="469057"/>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cxnSp>
        <p:nvCxnSpPr>
          <p:cNvPr id="327" name="Google Shape;327;p12"/>
          <p:cNvCxnSpPr/>
          <p:nvPr/>
        </p:nvCxnSpPr>
        <p:spPr>
          <a:xfrm>
            <a:off x="4346155" y="1500830"/>
            <a:ext cx="4649908" cy="0"/>
          </a:xfrm>
          <a:prstGeom prst="straightConnector1">
            <a:avLst/>
          </a:prstGeom>
          <a:noFill/>
          <a:ln cap="flat" cmpd="sng" w="38100">
            <a:solidFill>
              <a:srgbClr val="5188CC"/>
            </a:solidFill>
            <a:prstDash val="solid"/>
            <a:round/>
            <a:headEnd len="sm" w="sm" type="none"/>
            <a:tailEnd len="sm" w="sm" type="none"/>
          </a:ln>
        </p:spPr>
      </p:cxnSp>
      <p:grpSp>
        <p:nvGrpSpPr>
          <p:cNvPr id="328" name="Google Shape;328;p12"/>
          <p:cNvGrpSpPr/>
          <p:nvPr/>
        </p:nvGrpSpPr>
        <p:grpSpPr>
          <a:xfrm>
            <a:off x="4756623" y="676219"/>
            <a:ext cx="334639" cy="334639"/>
            <a:chOff x="0" y="0"/>
            <a:chExt cx="812800" cy="812800"/>
          </a:xfrm>
        </p:grpSpPr>
        <p:sp>
          <p:nvSpPr>
            <p:cNvPr id="329" name="Google Shape;329;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2"/>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31" name="Google Shape;331;p12"/>
          <p:cNvGrpSpPr/>
          <p:nvPr/>
        </p:nvGrpSpPr>
        <p:grpSpPr>
          <a:xfrm>
            <a:off x="-169650" y="-614377"/>
            <a:ext cx="1676777" cy="2915835"/>
            <a:chOff x="0" y="-47625"/>
            <a:chExt cx="883258" cy="1600173"/>
          </a:xfrm>
        </p:grpSpPr>
        <p:sp>
          <p:nvSpPr>
            <p:cNvPr id="332" name="Google Shape;332;p12"/>
            <p:cNvSpPr/>
            <p:nvPr/>
          </p:nvSpPr>
          <p:spPr>
            <a:xfrm>
              <a:off x="0" y="0"/>
              <a:ext cx="883258" cy="1552548"/>
            </a:xfrm>
            <a:custGeom>
              <a:rect b="b" l="l" r="r" t="t"/>
              <a:pathLst>
                <a:path extrusionOk="0" h="1552548" w="883258">
                  <a:moveTo>
                    <a:pt x="136203" y="0"/>
                  </a:moveTo>
                  <a:lnTo>
                    <a:pt x="747055" y="0"/>
                  </a:lnTo>
                  <a:cubicBezTo>
                    <a:pt x="822278" y="0"/>
                    <a:pt x="883258" y="60980"/>
                    <a:pt x="883258" y="136203"/>
                  </a:cubicBezTo>
                  <a:lnTo>
                    <a:pt x="883258" y="1416345"/>
                  </a:lnTo>
                  <a:cubicBezTo>
                    <a:pt x="883258" y="1452468"/>
                    <a:pt x="868908" y="1487112"/>
                    <a:pt x="843365" y="1512655"/>
                  </a:cubicBezTo>
                  <a:cubicBezTo>
                    <a:pt x="817822" y="1538198"/>
                    <a:pt x="783178" y="1552548"/>
                    <a:pt x="747055" y="1552548"/>
                  </a:cubicBezTo>
                  <a:lnTo>
                    <a:pt x="136203" y="1552548"/>
                  </a:lnTo>
                  <a:cubicBezTo>
                    <a:pt x="100080" y="1552548"/>
                    <a:pt x="65436" y="1538198"/>
                    <a:pt x="39893" y="1512655"/>
                  </a:cubicBezTo>
                  <a:cubicBezTo>
                    <a:pt x="14350" y="1487112"/>
                    <a:pt x="0" y="1452468"/>
                    <a:pt x="0" y="1416345"/>
                  </a:cubicBezTo>
                  <a:lnTo>
                    <a:pt x="0" y="136203"/>
                  </a:lnTo>
                  <a:cubicBezTo>
                    <a:pt x="0" y="100080"/>
                    <a:pt x="14350" y="65436"/>
                    <a:pt x="39893" y="39893"/>
                  </a:cubicBezTo>
                  <a:cubicBezTo>
                    <a:pt x="65436" y="14350"/>
                    <a:pt x="100080" y="0"/>
                    <a:pt x="136203" y="0"/>
                  </a:cubicBezTo>
                  <a:close/>
                </a:path>
              </a:pathLst>
            </a:custGeom>
            <a:solidFill>
              <a:srgbClr val="E1EDF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12"/>
            <p:cNvSpPr txBox="1"/>
            <p:nvPr/>
          </p:nvSpPr>
          <p:spPr>
            <a:xfrm>
              <a:off x="0" y="-47625"/>
              <a:ext cx="883258" cy="1600173"/>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34" name="Google Shape;334;p12"/>
          <p:cNvSpPr/>
          <p:nvPr/>
        </p:nvSpPr>
        <p:spPr>
          <a:xfrm rot="5400000">
            <a:off x="4861433" y="779468"/>
            <a:ext cx="125018" cy="125018"/>
          </a:xfrm>
          <a:custGeom>
            <a:rect b="b" l="l" r="r" t="t"/>
            <a:pathLst>
              <a:path extrusionOk="0" h="250037" w="250037">
                <a:moveTo>
                  <a:pt x="0" y="0"/>
                </a:moveTo>
                <a:lnTo>
                  <a:pt x="250037" y="0"/>
                </a:lnTo>
                <a:lnTo>
                  <a:pt x="250037" y="250036"/>
                </a:lnTo>
                <a:lnTo>
                  <a:pt x="0" y="250036"/>
                </a:lnTo>
                <a:lnTo>
                  <a:pt x="0" y="0"/>
                </a:lnTo>
                <a:close/>
              </a:path>
            </a:pathLst>
          </a:custGeom>
          <a:blipFill rotWithShape="1">
            <a:blip r:embed="rId3">
              <a:alphaModFix/>
            </a:blip>
            <a:stretch>
              <a:fillRect b="0" l="0" r="0" t="0"/>
            </a:stretch>
          </a:blipFill>
          <a:ln>
            <a:noFill/>
          </a:ln>
        </p:spPr>
      </p:sp>
      <p:sp>
        <p:nvSpPr>
          <p:cNvPr id="335" name="Google Shape;335;p12"/>
          <p:cNvSpPr/>
          <p:nvPr/>
        </p:nvSpPr>
        <p:spPr>
          <a:xfrm>
            <a:off x="7526510" y="-345107"/>
            <a:ext cx="1845934" cy="1845934"/>
          </a:xfrm>
          <a:custGeom>
            <a:rect b="b" l="l" r="r" t="t"/>
            <a:pathLst>
              <a:path extrusionOk="0" h="3691868" w="3691868">
                <a:moveTo>
                  <a:pt x="0" y="0"/>
                </a:moveTo>
                <a:lnTo>
                  <a:pt x="3691867" y="0"/>
                </a:lnTo>
                <a:lnTo>
                  <a:pt x="3691867" y="3691868"/>
                </a:lnTo>
                <a:lnTo>
                  <a:pt x="0" y="3691868"/>
                </a:lnTo>
                <a:lnTo>
                  <a:pt x="0" y="0"/>
                </a:lnTo>
                <a:close/>
              </a:path>
            </a:pathLst>
          </a:custGeom>
          <a:blipFill rotWithShape="1">
            <a:blip r:embed="rId4">
              <a:alphaModFix/>
            </a:blip>
            <a:stretch>
              <a:fillRect b="0" l="0" r="0" t="0"/>
            </a:stretch>
          </a:blipFill>
          <a:ln>
            <a:noFill/>
          </a:ln>
        </p:spPr>
      </p:sp>
      <p:sp>
        <p:nvSpPr>
          <p:cNvPr id="336" name="Google Shape;336;p12"/>
          <p:cNvSpPr/>
          <p:nvPr/>
        </p:nvSpPr>
        <p:spPr>
          <a:xfrm>
            <a:off x="3816922" y="415988"/>
            <a:ext cx="323739" cy="323739"/>
          </a:xfrm>
          <a:custGeom>
            <a:rect b="b" l="l" r="r" t="t"/>
            <a:pathLst>
              <a:path extrusionOk="0" h="647477" w="647477">
                <a:moveTo>
                  <a:pt x="0" y="0"/>
                </a:moveTo>
                <a:lnTo>
                  <a:pt x="647477" y="0"/>
                </a:lnTo>
                <a:lnTo>
                  <a:pt x="647477" y="647477"/>
                </a:lnTo>
                <a:lnTo>
                  <a:pt x="0" y="647477"/>
                </a:lnTo>
                <a:lnTo>
                  <a:pt x="0" y="0"/>
                </a:lnTo>
                <a:close/>
              </a:path>
            </a:pathLst>
          </a:custGeom>
          <a:blipFill rotWithShape="1">
            <a:blip r:embed="rId5">
              <a:alphaModFix/>
            </a:blip>
            <a:stretch>
              <a:fillRect b="0" l="0" r="0" t="0"/>
            </a:stretch>
          </a:blipFill>
          <a:ln>
            <a:noFill/>
          </a:ln>
        </p:spPr>
      </p:sp>
      <p:sp>
        <p:nvSpPr>
          <p:cNvPr id="337" name="Google Shape;337;p12"/>
          <p:cNvSpPr/>
          <p:nvPr/>
        </p:nvSpPr>
        <p:spPr>
          <a:xfrm>
            <a:off x="553375" y="600025"/>
            <a:ext cx="3473759" cy="1590518"/>
          </a:xfrm>
          <a:custGeom>
            <a:rect b="b" l="l" r="r" t="t"/>
            <a:pathLst>
              <a:path extrusionOk="0" h="3348458" w="6745164">
                <a:moveTo>
                  <a:pt x="0" y="0"/>
                </a:moveTo>
                <a:lnTo>
                  <a:pt x="6745164" y="0"/>
                </a:lnTo>
                <a:lnTo>
                  <a:pt x="6745164" y="3348458"/>
                </a:lnTo>
                <a:lnTo>
                  <a:pt x="0" y="3348458"/>
                </a:lnTo>
                <a:lnTo>
                  <a:pt x="0" y="0"/>
                </a:lnTo>
                <a:close/>
              </a:path>
            </a:pathLst>
          </a:custGeom>
          <a:blipFill rotWithShape="1">
            <a:blip r:embed="rId6">
              <a:alphaModFix/>
            </a:blip>
            <a:stretch>
              <a:fillRect b="0" l="0" r="0" t="0"/>
            </a:stretch>
          </a:blipFill>
          <a:ln>
            <a:noFill/>
          </a:ln>
        </p:spPr>
      </p:sp>
      <p:sp>
        <p:nvSpPr>
          <p:cNvPr id="338" name="Google Shape;338;p12"/>
          <p:cNvSpPr/>
          <p:nvPr/>
        </p:nvSpPr>
        <p:spPr>
          <a:xfrm>
            <a:off x="5563901" y="3199975"/>
            <a:ext cx="3339778" cy="1790788"/>
          </a:xfrm>
          <a:custGeom>
            <a:rect b="b" l="l" r="r" t="t"/>
            <a:pathLst>
              <a:path extrusionOk="0" h="4621388" w="7812346">
                <a:moveTo>
                  <a:pt x="0" y="0"/>
                </a:moveTo>
                <a:lnTo>
                  <a:pt x="7812346" y="0"/>
                </a:lnTo>
                <a:lnTo>
                  <a:pt x="7812346" y="4621388"/>
                </a:lnTo>
                <a:lnTo>
                  <a:pt x="0" y="4621388"/>
                </a:lnTo>
                <a:lnTo>
                  <a:pt x="0" y="0"/>
                </a:lnTo>
                <a:close/>
              </a:path>
            </a:pathLst>
          </a:custGeom>
          <a:blipFill rotWithShape="1">
            <a:blip r:embed="rId7">
              <a:alphaModFix/>
            </a:blip>
            <a:stretch>
              <a:fillRect b="0" l="0" r="0" t="0"/>
            </a:stretch>
          </a:blipFill>
          <a:ln>
            <a:noFill/>
          </a:ln>
        </p:spPr>
      </p:sp>
      <p:sp>
        <p:nvSpPr>
          <p:cNvPr id="339" name="Google Shape;339;p12"/>
          <p:cNvSpPr txBox="1"/>
          <p:nvPr/>
        </p:nvSpPr>
        <p:spPr>
          <a:xfrm>
            <a:off x="4923942" y="600019"/>
            <a:ext cx="3855300" cy="1377600"/>
          </a:xfrm>
          <a:prstGeom prst="rect">
            <a:avLst/>
          </a:prstGeom>
          <a:noFill/>
          <a:ln>
            <a:noFill/>
          </a:ln>
        </p:spPr>
        <p:txBody>
          <a:bodyPr anchorCtr="0" anchor="t" bIns="0" lIns="0" spcFirstLastPara="1" rIns="0" wrap="square" tIns="0">
            <a:spAutoFit/>
          </a:bodyPr>
          <a:lstStyle/>
          <a:p>
            <a:pPr indent="0" lvl="0" marL="0" marR="0" rtl="0" algn="r">
              <a:lnSpc>
                <a:spcPct val="127005"/>
              </a:lnSpc>
              <a:spcBef>
                <a:spcPts val="0"/>
              </a:spcBef>
              <a:spcAft>
                <a:spcPts val="0"/>
              </a:spcAft>
              <a:buClr>
                <a:srgbClr val="000000"/>
              </a:buClr>
              <a:buSzPts val="2500"/>
              <a:buFont typeface="Arial"/>
              <a:buNone/>
            </a:pPr>
            <a:r>
              <a:rPr b="1" i="0" lang="en" sz="2500" u="none" cap="none" strike="noStrike">
                <a:solidFill>
                  <a:srgbClr val="0E2F5F"/>
                </a:solidFill>
                <a:latin typeface="Arial"/>
                <a:ea typeface="Arial"/>
                <a:cs typeface="Arial"/>
                <a:sym typeface="Arial"/>
              </a:rPr>
              <a:t>Data Preprocessing and Feature Handling</a:t>
            </a:r>
            <a:endParaRPr b="0" i="0" sz="600" u="none" cap="none" strike="noStrike">
              <a:solidFill>
                <a:srgbClr val="000000"/>
              </a:solidFill>
              <a:latin typeface="Arial"/>
              <a:ea typeface="Arial"/>
              <a:cs typeface="Arial"/>
              <a:sym typeface="Arial"/>
            </a:endParaRPr>
          </a:p>
          <a:p>
            <a:pPr indent="0" lvl="0" marL="0" marR="0" rtl="0" algn="r">
              <a:lnSpc>
                <a:spcPct val="127005"/>
              </a:lnSpc>
              <a:spcBef>
                <a:spcPts val="0"/>
              </a:spcBef>
              <a:spcAft>
                <a:spcPts val="0"/>
              </a:spcAft>
              <a:buClr>
                <a:srgbClr val="000000"/>
              </a:buClr>
              <a:buSzPts val="2600"/>
              <a:buFont typeface="Arial"/>
              <a:buNone/>
            </a:pPr>
            <a:r>
              <a:t/>
            </a:r>
            <a:endParaRPr b="1" i="0" sz="2600" u="none" cap="none" strike="noStrike">
              <a:solidFill>
                <a:srgbClr val="0E2F5F"/>
              </a:solidFill>
              <a:latin typeface="Arial"/>
              <a:ea typeface="Arial"/>
              <a:cs typeface="Arial"/>
              <a:sym typeface="Arial"/>
            </a:endParaRPr>
          </a:p>
        </p:txBody>
      </p:sp>
      <p:sp>
        <p:nvSpPr>
          <p:cNvPr id="340" name="Google Shape;340;p12"/>
          <p:cNvSpPr txBox="1"/>
          <p:nvPr/>
        </p:nvSpPr>
        <p:spPr>
          <a:xfrm>
            <a:off x="5563900" y="1611463"/>
            <a:ext cx="4128300" cy="1739400"/>
          </a:xfrm>
          <a:prstGeom prst="rect">
            <a:avLst/>
          </a:prstGeom>
          <a:noFill/>
          <a:ln>
            <a:noFill/>
          </a:ln>
        </p:spPr>
        <p:txBody>
          <a:bodyPr anchorCtr="0" anchor="t" bIns="0" lIns="0" spcFirstLastPara="1" rIns="0" wrap="square" tIns="0">
            <a:spAutoFit/>
          </a:bodyPr>
          <a:lstStyle/>
          <a:p>
            <a:pPr indent="0" lvl="0" marL="0" marR="0" rtl="0" algn="just">
              <a:lnSpc>
                <a:spcPct val="140006"/>
              </a:lnSpc>
              <a:spcBef>
                <a:spcPts val="0"/>
              </a:spcBef>
              <a:spcAft>
                <a:spcPts val="0"/>
              </a:spcAft>
              <a:buClr>
                <a:srgbClr val="000000"/>
              </a:buClr>
              <a:buSzPts val="1000"/>
              <a:buFont typeface="Arial"/>
              <a:buNone/>
            </a:pPr>
            <a:r>
              <a:rPr b="1" i="0" lang="en" sz="1000" u="none" cap="none" strike="noStrike">
                <a:solidFill>
                  <a:srgbClr val="021828"/>
                </a:solidFill>
                <a:latin typeface="Arial"/>
                <a:ea typeface="Arial"/>
                <a:cs typeface="Arial"/>
                <a:sym typeface="Arial"/>
              </a:rPr>
              <a:t>Total of 60 Features:</a:t>
            </a:r>
            <a:endParaRPr b="0" i="0" sz="200" u="none" cap="none" strike="noStrike">
              <a:solidFill>
                <a:srgbClr val="000000"/>
              </a:solidFill>
              <a:latin typeface="Arial"/>
              <a:ea typeface="Arial"/>
              <a:cs typeface="Arial"/>
              <a:sym typeface="Arial"/>
            </a:endParaRPr>
          </a:p>
          <a:p>
            <a:pPr indent="0" lvl="0" marL="0" marR="0" rtl="0" algn="just">
              <a:lnSpc>
                <a:spcPct val="140006"/>
              </a:lnSpc>
              <a:spcBef>
                <a:spcPts val="0"/>
              </a:spcBef>
              <a:spcAft>
                <a:spcPts val="0"/>
              </a:spcAft>
              <a:buClr>
                <a:srgbClr val="000000"/>
              </a:buClr>
              <a:buSzPts val="1000"/>
              <a:buFont typeface="Arial"/>
              <a:buNone/>
            </a:pPr>
            <a:r>
              <a:rPr b="1" i="0" lang="en" sz="1000" u="none" cap="none" strike="noStrike">
                <a:solidFill>
                  <a:srgbClr val="021828"/>
                </a:solidFill>
                <a:latin typeface="Arial"/>
                <a:ea typeface="Arial"/>
                <a:cs typeface="Arial"/>
                <a:sym typeface="Arial"/>
              </a:rPr>
              <a:t>35 Categorical Features </a:t>
            </a:r>
            <a:endParaRPr b="0" i="0" sz="200" u="none" cap="none" strike="noStrike">
              <a:solidFill>
                <a:srgbClr val="000000"/>
              </a:solidFill>
              <a:latin typeface="Arial"/>
              <a:ea typeface="Arial"/>
              <a:cs typeface="Arial"/>
              <a:sym typeface="Arial"/>
            </a:endParaRPr>
          </a:p>
          <a:p>
            <a:pPr indent="0" lvl="0" marL="0" marR="0" rtl="0" algn="just">
              <a:lnSpc>
                <a:spcPct val="140006"/>
              </a:lnSpc>
              <a:spcBef>
                <a:spcPts val="0"/>
              </a:spcBef>
              <a:spcAft>
                <a:spcPts val="0"/>
              </a:spcAft>
              <a:buClr>
                <a:srgbClr val="000000"/>
              </a:buClr>
              <a:buSzPts val="1000"/>
              <a:buFont typeface="Arial"/>
              <a:buNone/>
            </a:pPr>
            <a:r>
              <a:rPr b="1" i="0" lang="en" sz="1000" u="none" cap="none" strike="noStrike">
                <a:solidFill>
                  <a:srgbClr val="021828"/>
                </a:solidFill>
                <a:latin typeface="Arial"/>
                <a:ea typeface="Arial"/>
                <a:cs typeface="Arial"/>
                <a:sym typeface="Arial"/>
              </a:rPr>
              <a:t>25 Numerical Features </a:t>
            </a:r>
            <a:endParaRPr b="0" i="0" sz="200" u="none" cap="none" strike="noStrike">
              <a:solidFill>
                <a:srgbClr val="000000"/>
              </a:solidFill>
              <a:latin typeface="Arial"/>
              <a:ea typeface="Arial"/>
              <a:cs typeface="Arial"/>
              <a:sym typeface="Arial"/>
            </a:endParaRPr>
          </a:p>
          <a:p>
            <a:pPr indent="-127000" lvl="1" marL="317500" marR="0" rtl="0" algn="just">
              <a:lnSpc>
                <a:spcPct val="140006"/>
              </a:lnSpc>
              <a:spcBef>
                <a:spcPts val="0"/>
              </a:spcBef>
              <a:spcAft>
                <a:spcPts val="0"/>
              </a:spcAft>
              <a:buClr>
                <a:srgbClr val="021828"/>
              </a:buClr>
              <a:buSzPts val="1000"/>
              <a:buFont typeface="Arial"/>
              <a:buChar char="•"/>
            </a:pPr>
            <a:r>
              <a:rPr b="1" i="0" lang="en" sz="1000" u="none" cap="none" strike="noStrike">
                <a:solidFill>
                  <a:srgbClr val="021828"/>
                </a:solidFill>
                <a:latin typeface="Arial"/>
                <a:ea typeface="Arial"/>
                <a:cs typeface="Arial"/>
                <a:sym typeface="Arial"/>
              </a:rPr>
              <a:t>Handling categorical &amp; missing values</a:t>
            </a:r>
            <a:endParaRPr b="0" i="0" sz="200" u="none" cap="none" strike="noStrike">
              <a:solidFill>
                <a:srgbClr val="000000"/>
              </a:solidFill>
              <a:latin typeface="Arial"/>
              <a:ea typeface="Arial"/>
              <a:cs typeface="Arial"/>
              <a:sym typeface="Arial"/>
            </a:endParaRPr>
          </a:p>
          <a:p>
            <a:pPr indent="-127000" lvl="1" marL="317500" marR="0" rtl="0" algn="just">
              <a:lnSpc>
                <a:spcPct val="140006"/>
              </a:lnSpc>
              <a:spcBef>
                <a:spcPts val="0"/>
              </a:spcBef>
              <a:spcAft>
                <a:spcPts val="0"/>
              </a:spcAft>
              <a:buClr>
                <a:srgbClr val="021828"/>
              </a:buClr>
              <a:buSzPts val="1000"/>
              <a:buFont typeface="Arial"/>
              <a:buChar char="•"/>
            </a:pPr>
            <a:r>
              <a:rPr b="1" i="0" lang="en" sz="1000" u="none" cap="none" strike="noStrike">
                <a:solidFill>
                  <a:srgbClr val="021828"/>
                </a:solidFill>
                <a:latin typeface="Arial"/>
                <a:ea typeface="Arial"/>
                <a:cs typeface="Arial"/>
                <a:sym typeface="Arial"/>
              </a:rPr>
              <a:t>One-hot encoding &amp; ordinal encoding</a:t>
            </a:r>
            <a:endParaRPr b="0" i="0" sz="200" u="none" cap="none" strike="noStrike">
              <a:solidFill>
                <a:srgbClr val="000000"/>
              </a:solidFill>
              <a:latin typeface="Arial"/>
              <a:ea typeface="Arial"/>
              <a:cs typeface="Arial"/>
              <a:sym typeface="Arial"/>
            </a:endParaRPr>
          </a:p>
          <a:p>
            <a:pPr indent="-127000" lvl="1" marL="317500" marR="0" rtl="0" algn="just">
              <a:lnSpc>
                <a:spcPct val="140006"/>
              </a:lnSpc>
              <a:spcBef>
                <a:spcPts val="0"/>
              </a:spcBef>
              <a:spcAft>
                <a:spcPts val="0"/>
              </a:spcAft>
              <a:buClr>
                <a:srgbClr val="021828"/>
              </a:buClr>
              <a:buSzPts val="1000"/>
              <a:buFont typeface="Arial"/>
              <a:buChar char="•"/>
            </a:pPr>
            <a:r>
              <a:rPr b="1" i="0" lang="en" sz="1000" u="none" cap="none" strike="noStrike">
                <a:solidFill>
                  <a:srgbClr val="021828"/>
                </a:solidFill>
                <a:latin typeface="Arial"/>
                <a:ea typeface="Arial"/>
                <a:cs typeface="Arial"/>
                <a:sym typeface="Arial"/>
              </a:rPr>
              <a:t>Removing highly correlated features</a:t>
            </a:r>
            <a:endParaRPr b="0" i="0" sz="200" u="none" cap="none" strike="noStrike">
              <a:solidFill>
                <a:srgbClr val="000000"/>
              </a:solidFill>
              <a:latin typeface="Arial"/>
              <a:ea typeface="Arial"/>
              <a:cs typeface="Arial"/>
              <a:sym typeface="Arial"/>
            </a:endParaRPr>
          </a:p>
          <a:p>
            <a:pPr indent="-127000" lvl="1" marL="317500" marR="0" rtl="0" algn="just">
              <a:lnSpc>
                <a:spcPct val="140006"/>
              </a:lnSpc>
              <a:spcBef>
                <a:spcPts val="0"/>
              </a:spcBef>
              <a:spcAft>
                <a:spcPts val="0"/>
              </a:spcAft>
              <a:buClr>
                <a:srgbClr val="021828"/>
              </a:buClr>
              <a:buSzPts val="1000"/>
              <a:buFont typeface="Arial"/>
              <a:buChar char="•"/>
            </a:pPr>
            <a:r>
              <a:rPr b="1" i="0" lang="en" sz="1000" u="none" cap="none" strike="noStrike">
                <a:solidFill>
                  <a:srgbClr val="021828"/>
                </a:solidFill>
                <a:latin typeface="Arial"/>
                <a:ea typeface="Arial"/>
                <a:cs typeface="Arial"/>
                <a:sym typeface="Arial"/>
              </a:rPr>
              <a:t>Standardization of numerical features</a:t>
            </a:r>
            <a:endParaRPr b="0" i="0" sz="200" u="none" cap="none" strike="noStrike">
              <a:solidFill>
                <a:srgbClr val="000000"/>
              </a:solidFill>
              <a:latin typeface="Arial"/>
              <a:ea typeface="Arial"/>
              <a:cs typeface="Arial"/>
              <a:sym typeface="Arial"/>
            </a:endParaRPr>
          </a:p>
          <a:p>
            <a:pPr indent="0" lvl="0" marL="0" marR="0" rtl="0" algn="just">
              <a:lnSpc>
                <a:spcPct val="140006"/>
              </a:lnSpc>
              <a:spcBef>
                <a:spcPts val="0"/>
              </a:spcBef>
              <a:spcAft>
                <a:spcPts val="0"/>
              </a:spcAft>
              <a:buClr>
                <a:srgbClr val="000000"/>
              </a:buClr>
              <a:buSzPts val="1500"/>
              <a:buFont typeface="Arial"/>
              <a:buNone/>
            </a:pPr>
            <a:r>
              <a:t/>
            </a:r>
            <a:endParaRPr b="1" i="0" sz="1500" u="none" cap="none" strike="noStrike">
              <a:solidFill>
                <a:srgbClr val="021828"/>
              </a:solidFill>
              <a:latin typeface="Arial"/>
              <a:ea typeface="Arial"/>
              <a:cs typeface="Arial"/>
              <a:sym typeface="Arial"/>
            </a:endParaRPr>
          </a:p>
        </p:txBody>
      </p:sp>
      <p:sp>
        <p:nvSpPr>
          <p:cNvPr id="341" name="Google Shape;341;p12"/>
          <p:cNvSpPr txBox="1"/>
          <p:nvPr/>
        </p:nvSpPr>
        <p:spPr>
          <a:xfrm>
            <a:off x="155550" y="2330400"/>
            <a:ext cx="5140200" cy="2275800"/>
          </a:xfrm>
          <a:prstGeom prst="rect">
            <a:avLst/>
          </a:prstGeom>
          <a:noFill/>
          <a:ln>
            <a:noFill/>
          </a:ln>
        </p:spPr>
        <p:txBody>
          <a:bodyPr anchorCtr="0" anchor="t" bIns="91425" lIns="91425" spcFirstLastPara="1" rIns="91425" wrap="square" tIns="91425">
            <a:noAutofit/>
          </a:bodyPr>
          <a:lstStyle/>
          <a:p>
            <a:pPr indent="-292100" lvl="0" marL="457200" marR="0" rtl="0" algn="just">
              <a:lnSpc>
                <a:spcPct val="140006"/>
              </a:lnSpc>
              <a:spcBef>
                <a:spcPts val="0"/>
              </a:spcBef>
              <a:spcAft>
                <a:spcPts val="0"/>
              </a:spcAft>
              <a:buClr>
                <a:srgbClr val="021828"/>
              </a:buClr>
              <a:buSzPts val="1000"/>
              <a:buFont typeface="Arial"/>
              <a:buChar char="-"/>
            </a:pPr>
            <a:r>
              <a:rPr b="1" i="0" lang="en" sz="1000" u="none" cap="none" strike="noStrike">
                <a:solidFill>
                  <a:srgbClr val="021828"/>
                </a:solidFill>
                <a:latin typeface="Arial"/>
                <a:ea typeface="Arial"/>
                <a:cs typeface="Arial"/>
                <a:sym typeface="Arial"/>
              </a:rPr>
              <a:t>Nulls were handled and added in a separate unknown category. </a:t>
            </a:r>
            <a:br>
              <a:rPr b="1" i="0" lang="en" sz="1000" u="none" cap="none" strike="noStrike">
                <a:solidFill>
                  <a:srgbClr val="021828"/>
                </a:solidFill>
                <a:latin typeface="Arial"/>
                <a:ea typeface="Arial"/>
                <a:cs typeface="Arial"/>
                <a:sym typeface="Arial"/>
              </a:rPr>
            </a:br>
            <a:r>
              <a:rPr b="1" i="0" lang="en" sz="1000" u="none" cap="none" strike="noStrike">
                <a:solidFill>
                  <a:srgbClr val="021828"/>
                </a:solidFill>
                <a:latin typeface="Arial"/>
                <a:ea typeface="Arial"/>
                <a:cs typeface="Arial"/>
                <a:sym typeface="Arial"/>
              </a:rPr>
              <a:t>These null values aren’t evenly distributed across efs and ranked them as -1. </a:t>
            </a:r>
            <a:br>
              <a:rPr b="1" i="0" lang="en" sz="1000" u="none" cap="none" strike="noStrike">
                <a:solidFill>
                  <a:srgbClr val="021828"/>
                </a:solidFill>
                <a:latin typeface="Arial"/>
                <a:ea typeface="Arial"/>
                <a:cs typeface="Arial"/>
                <a:sym typeface="Arial"/>
              </a:rPr>
            </a:br>
            <a:endParaRPr b="1" i="0" sz="1000" u="none" cap="none" strike="noStrike">
              <a:solidFill>
                <a:srgbClr val="021828"/>
              </a:solidFill>
              <a:latin typeface="Arial"/>
              <a:ea typeface="Arial"/>
              <a:cs typeface="Arial"/>
              <a:sym typeface="Arial"/>
            </a:endParaRPr>
          </a:p>
          <a:p>
            <a:pPr indent="-292100" lvl="0" marL="457200" marR="0" rtl="0" algn="just">
              <a:lnSpc>
                <a:spcPct val="140006"/>
              </a:lnSpc>
              <a:spcBef>
                <a:spcPts val="0"/>
              </a:spcBef>
              <a:spcAft>
                <a:spcPts val="0"/>
              </a:spcAft>
              <a:buClr>
                <a:srgbClr val="021828"/>
              </a:buClr>
              <a:buSzPts val="1000"/>
              <a:buFont typeface="Arial"/>
              <a:buChar char="-"/>
            </a:pPr>
            <a:r>
              <a:rPr b="1" i="0" lang="en" sz="1000" u="none" cap="none" strike="noStrike">
                <a:solidFill>
                  <a:srgbClr val="021828"/>
                </a:solidFill>
                <a:latin typeface="Arial"/>
                <a:ea typeface="Arial"/>
                <a:cs typeface="Arial"/>
                <a:sym typeface="Arial"/>
              </a:rPr>
              <a:t>A predefined mapping strategy was used to convert our simpler categorical data into numerical data while handling missing values as -1 as well, and One hot encoding to provide binary (0-1) values for categorical features which had high cardinality (over 5 different values). </a:t>
            </a:r>
            <a:br>
              <a:rPr b="1" i="0" lang="en" sz="1000" u="none" cap="none" strike="noStrike">
                <a:solidFill>
                  <a:srgbClr val="021828"/>
                </a:solidFill>
                <a:latin typeface="Arial"/>
                <a:ea typeface="Arial"/>
                <a:cs typeface="Arial"/>
                <a:sym typeface="Arial"/>
              </a:rPr>
            </a:br>
            <a:endParaRPr b="1" i="0" sz="1000" u="none" cap="none" strike="noStrike">
              <a:solidFill>
                <a:srgbClr val="021828"/>
              </a:solidFill>
              <a:latin typeface="Arial"/>
              <a:ea typeface="Arial"/>
              <a:cs typeface="Arial"/>
              <a:sym typeface="Arial"/>
            </a:endParaRPr>
          </a:p>
          <a:p>
            <a:pPr indent="-292100" lvl="0" marL="457200" marR="0" rtl="0" algn="just">
              <a:lnSpc>
                <a:spcPct val="140006"/>
              </a:lnSpc>
              <a:spcBef>
                <a:spcPts val="0"/>
              </a:spcBef>
              <a:spcAft>
                <a:spcPts val="0"/>
              </a:spcAft>
              <a:buClr>
                <a:srgbClr val="021828"/>
              </a:buClr>
              <a:buSzPts val="1000"/>
              <a:buFont typeface="Arial"/>
              <a:buChar char="-"/>
            </a:pPr>
            <a:r>
              <a:rPr b="1" i="0" lang="en" sz="1000" u="none" cap="none" strike="noStrike">
                <a:solidFill>
                  <a:srgbClr val="021828"/>
                </a:solidFill>
                <a:latin typeface="Arial"/>
                <a:ea typeface="Arial"/>
                <a:cs typeface="Arial"/>
                <a:sym typeface="Arial"/>
              </a:rPr>
              <a:t>After conducting one hot encoding and ordinal encoding the total features were 132 and due to the lack of an SME, we decided to include all features into our models and backtrack them to find the most important features.</a:t>
            </a:r>
            <a:endParaRPr b="1" i="0" sz="1000" u="none" cap="none" strike="noStrike">
              <a:solidFill>
                <a:srgbClr val="021828"/>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grpSp>
        <p:nvGrpSpPr>
          <p:cNvPr id="346" name="Google Shape;346;p13"/>
          <p:cNvGrpSpPr/>
          <p:nvPr/>
        </p:nvGrpSpPr>
        <p:grpSpPr>
          <a:xfrm>
            <a:off x="-2080836" y="2571758"/>
            <a:ext cx="2825017" cy="1928605"/>
            <a:chOff x="0" y="-47625"/>
            <a:chExt cx="1488104" cy="1015911"/>
          </a:xfrm>
        </p:grpSpPr>
        <p:sp>
          <p:nvSpPr>
            <p:cNvPr id="347" name="Google Shape;347;p13"/>
            <p:cNvSpPr/>
            <p:nvPr/>
          </p:nvSpPr>
          <p:spPr>
            <a:xfrm>
              <a:off x="0" y="0"/>
              <a:ext cx="1488104" cy="968286"/>
            </a:xfrm>
            <a:custGeom>
              <a:rect b="b" l="l" r="r" t="t"/>
              <a:pathLst>
                <a:path extrusionOk="0" h="968286" w="1488104">
                  <a:moveTo>
                    <a:pt x="0" y="0"/>
                  </a:moveTo>
                  <a:lnTo>
                    <a:pt x="1488104" y="0"/>
                  </a:lnTo>
                  <a:lnTo>
                    <a:pt x="1488104" y="968286"/>
                  </a:lnTo>
                  <a:lnTo>
                    <a:pt x="0" y="968286"/>
                  </a:lnTo>
                  <a:close/>
                </a:path>
              </a:pathLst>
            </a:custGeom>
            <a:solidFill>
              <a:srgbClr val="E1EDFC"/>
            </a:solidFill>
            <a:ln>
              <a:noFill/>
            </a:ln>
          </p:spPr>
        </p:sp>
        <p:sp>
          <p:nvSpPr>
            <p:cNvPr id="348" name="Google Shape;348;p13"/>
            <p:cNvSpPr txBox="1"/>
            <p:nvPr/>
          </p:nvSpPr>
          <p:spPr>
            <a:xfrm>
              <a:off x="0" y="-47625"/>
              <a:ext cx="1488104" cy="1015911"/>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49" name="Google Shape;349;p13"/>
          <p:cNvSpPr/>
          <p:nvPr/>
        </p:nvSpPr>
        <p:spPr>
          <a:xfrm>
            <a:off x="7677862" y="1036919"/>
            <a:ext cx="1845934" cy="1845934"/>
          </a:xfrm>
          <a:custGeom>
            <a:rect b="b" l="l" r="r" t="t"/>
            <a:pathLst>
              <a:path extrusionOk="0" h="3691868" w="3691868">
                <a:moveTo>
                  <a:pt x="0" y="0"/>
                </a:moveTo>
                <a:lnTo>
                  <a:pt x="3691868" y="0"/>
                </a:lnTo>
                <a:lnTo>
                  <a:pt x="3691868" y="3691867"/>
                </a:lnTo>
                <a:lnTo>
                  <a:pt x="0" y="3691867"/>
                </a:lnTo>
                <a:lnTo>
                  <a:pt x="0" y="0"/>
                </a:lnTo>
                <a:close/>
              </a:path>
            </a:pathLst>
          </a:custGeom>
          <a:blipFill rotWithShape="1">
            <a:blip r:embed="rId3">
              <a:alphaModFix/>
            </a:blip>
            <a:stretch>
              <a:fillRect b="0" l="0" r="0" t="0"/>
            </a:stretch>
          </a:blipFill>
          <a:ln>
            <a:noFill/>
          </a:ln>
        </p:spPr>
      </p:sp>
      <p:sp>
        <p:nvSpPr>
          <p:cNvPr id="350" name="Google Shape;350;p13"/>
          <p:cNvSpPr/>
          <p:nvPr/>
        </p:nvSpPr>
        <p:spPr>
          <a:xfrm>
            <a:off x="197731" y="4441878"/>
            <a:ext cx="613230" cy="189544"/>
          </a:xfrm>
          <a:custGeom>
            <a:rect b="b" l="l" r="r" t="t"/>
            <a:pathLst>
              <a:path extrusionOk="0" h="379088" w="1226460">
                <a:moveTo>
                  <a:pt x="0" y="0"/>
                </a:moveTo>
                <a:lnTo>
                  <a:pt x="1226460" y="0"/>
                </a:lnTo>
                <a:lnTo>
                  <a:pt x="1226460" y="379088"/>
                </a:lnTo>
                <a:lnTo>
                  <a:pt x="0" y="379088"/>
                </a:lnTo>
                <a:lnTo>
                  <a:pt x="0" y="0"/>
                </a:lnTo>
                <a:close/>
              </a:path>
            </a:pathLst>
          </a:custGeom>
          <a:blipFill rotWithShape="1">
            <a:blip r:embed="rId4">
              <a:alphaModFix/>
            </a:blip>
            <a:stretch>
              <a:fillRect b="0" l="0" r="0" t="0"/>
            </a:stretch>
          </a:blipFill>
          <a:ln>
            <a:noFill/>
          </a:ln>
        </p:spPr>
      </p:sp>
      <p:sp>
        <p:nvSpPr>
          <p:cNvPr id="351" name="Google Shape;351;p13"/>
          <p:cNvSpPr/>
          <p:nvPr/>
        </p:nvSpPr>
        <p:spPr>
          <a:xfrm>
            <a:off x="7158497" y="0"/>
            <a:ext cx="613230" cy="189544"/>
          </a:xfrm>
          <a:custGeom>
            <a:rect b="b" l="l" r="r" t="t"/>
            <a:pathLst>
              <a:path extrusionOk="0" h="379088" w="1226460">
                <a:moveTo>
                  <a:pt x="0" y="0"/>
                </a:moveTo>
                <a:lnTo>
                  <a:pt x="1226460" y="0"/>
                </a:lnTo>
                <a:lnTo>
                  <a:pt x="1226460" y="379088"/>
                </a:lnTo>
                <a:lnTo>
                  <a:pt x="0" y="379088"/>
                </a:lnTo>
                <a:lnTo>
                  <a:pt x="0" y="0"/>
                </a:lnTo>
                <a:close/>
              </a:path>
            </a:pathLst>
          </a:custGeom>
          <a:blipFill rotWithShape="1">
            <a:blip r:embed="rId4">
              <a:alphaModFix/>
            </a:blip>
            <a:stretch>
              <a:fillRect b="0" l="0" r="0" t="0"/>
            </a:stretch>
          </a:blipFill>
          <a:ln>
            <a:noFill/>
          </a:ln>
        </p:spPr>
      </p:sp>
      <p:sp>
        <p:nvSpPr>
          <p:cNvPr id="352" name="Google Shape;352;p13"/>
          <p:cNvSpPr txBox="1"/>
          <p:nvPr/>
        </p:nvSpPr>
        <p:spPr>
          <a:xfrm>
            <a:off x="937686" y="351583"/>
            <a:ext cx="7060872" cy="761378"/>
          </a:xfrm>
          <a:prstGeom prst="rect">
            <a:avLst/>
          </a:prstGeom>
          <a:noFill/>
          <a:ln>
            <a:noFill/>
          </a:ln>
        </p:spPr>
        <p:txBody>
          <a:bodyPr anchorCtr="0" anchor="t" bIns="0" lIns="0" spcFirstLastPara="1" rIns="0" wrap="square" tIns="0">
            <a:spAutoFit/>
          </a:bodyPr>
          <a:lstStyle/>
          <a:p>
            <a:pPr indent="0" lvl="0" marL="0" marR="0" rtl="0" algn="l">
              <a:lnSpc>
                <a:spcPct val="127004"/>
              </a:lnSpc>
              <a:spcBef>
                <a:spcPts val="0"/>
              </a:spcBef>
              <a:spcAft>
                <a:spcPts val="0"/>
              </a:spcAft>
              <a:buClr>
                <a:srgbClr val="000000"/>
              </a:buClr>
              <a:buSzPts val="2700"/>
              <a:buFont typeface="Arial"/>
              <a:buNone/>
            </a:pPr>
            <a:r>
              <a:rPr b="1" i="0" lang="en" sz="2700" u="none" cap="none" strike="noStrike">
                <a:solidFill>
                  <a:srgbClr val="0E2F5F"/>
                </a:solidFill>
                <a:latin typeface="Arial"/>
                <a:ea typeface="Arial"/>
                <a:cs typeface="Arial"/>
                <a:sym typeface="Arial"/>
              </a:rPr>
              <a:t>Models : </a:t>
            </a:r>
            <a:endParaRPr b="0" i="0" sz="700" u="none" cap="none" strike="noStrike">
              <a:solidFill>
                <a:srgbClr val="000000"/>
              </a:solidFill>
              <a:latin typeface="Arial"/>
              <a:ea typeface="Arial"/>
              <a:cs typeface="Arial"/>
              <a:sym typeface="Arial"/>
            </a:endParaRPr>
          </a:p>
          <a:p>
            <a:pPr indent="0" lvl="0" marL="0" marR="0" rtl="0" algn="l">
              <a:lnSpc>
                <a:spcPct val="127007"/>
              </a:lnSpc>
              <a:spcBef>
                <a:spcPts val="0"/>
              </a:spcBef>
              <a:spcAft>
                <a:spcPts val="0"/>
              </a:spcAft>
              <a:buClr>
                <a:srgbClr val="000000"/>
              </a:buClr>
              <a:buSzPts val="1700"/>
              <a:buFont typeface="Arial"/>
              <a:buNone/>
            </a:pPr>
            <a:r>
              <a:rPr b="1" i="0" lang="en" sz="1700" u="none" cap="none" strike="noStrike">
                <a:solidFill>
                  <a:srgbClr val="0E2F5F"/>
                </a:solidFill>
                <a:latin typeface="Arial"/>
                <a:ea typeface="Arial"/>
                <a:cs typeface="Arial"/>
                <a:sym typeface="Arial"/>
              </a:rPr>
              <a:t>Kaplan Meier Curve, CoxPH, XGBoost, DeepSurv</a:t>
            </a:r>
            <a:endParaRPr b="0" i="0" sz="700" u="none" cap="none" strike="noStrike">
              <a:solidFill>
                <a:srgbClr val="000000"/>
              </a:solidFill>
              <a:latin typeface="Arial"/>
              <a:ea typeface="Arial"/>
              <a:cs typeface="Arial"/>
              <a:sym typeface="Arial"/>
            </a:endParaRPr>
          </a:p>
        </p:txBody>
      </p:sp>
      <p:sp>
        <p:nvSpPr>
          <p:cNvPr id="353" name="Google Shape;353;p13"/>
          <p:cNvSpPr txBox="1"/>
          <p:nvPr/>
        </p:nvSpPr>
        <p:spPr>
          <a:xfrm>
            <a:off x="1036944" y="1376750"/>
            <a:ext cx="6019800" cy="3768900"/>
          </a:xfrm>
          <a:prstGeom prst="rect">
            <a:avLst/>
          </a:prstGeom>
          <a:noFill/>
          <a:ln>
            <a:noFill/>
          </a:ln>
        </p:spPr>
        <p:txBody>
          <a:bodyPr anchorCtr="0" anchor="t" bIns="0" lIns="0" spcFirstLastPara="1" rIns="0" wrap="square" tIns="0">
            <a:spAutoFit/>
          </a:bodyPr>
          <a:lstStyle/>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Calculated the Kaplan Meier Curve to understand our survival time</a:t>
            </a:r>
            <a:endParaRPr b="0" i="0" sz="500" u="none" cap="none" strike="noStrike">
              <a:solidFill>
                <a:srgbClr val="000000"/>
              </a:solidFill>
              <a:latin typeface="Arial"/>
              <a:ea typeface="Arial"/>
              <a:cs typeface="Arial"/>
              <a:sym typeface="Arial"/>
            </a:endParaRPr>
          </a:p>
          <a:p>
            <a:pPr indent="-133350" lvl="1" marL="279400" marR="0" rtl="0" algn="just">
              <a:lnSpc>
                <a:spcPct val="140038"/>
              </a:lnSpc>
              <a:spcBef>
                <a:spcPts val="0"/>
              </a:spcBef>
              <a:spcAft>
                <a:spcPts val="0"/>
              </a:spcAft>
              <a:buClr>
                <a:srgbClr val="021828"/>
              </a:buClr>
              <a:buSzPts val="1300"/>
              <a:buFont typeface="Arial"/>
              <a:buChar char="•"/>
            </a:pPr>
            <a:r>
              <a:rPr b="1" i="0" lang="en" sz="1100" u="none" cap="none" strike="noStrike">
                <a:solidFill>
                  <a:srgbClr val="021828"/>
                </a:solidFill>
                <a:latin typeface="Arial"/>
                <a:ea typeface="Arial"/>
                <a:cs typeface="Arial"/>
                <a:sym typeface="Arial"/>
              </a:rPr>
              <a:t>Converted predicted survival to risk score</a:t>
            </a:r>
            <a:endParaRPr b="0" i="0" sz="500" u="none" cap="none" strike="noStrike">
              <a:solidFill>
                <a:srgbClr val="000000"/>
              </a:solidFill>
              <a:latin typeface="Arial"/>
              <a:ea typeface="Arial"/>
              <a:cs typeface="Arial"/>
              <a:sym typeface="Arial"/>
            </a:endParaRPr>
          </a:p>
          <a:p>
            <a:pPr indent="0" lvl="0" marL="0" marR="0" rtl="0" algn="just">
              <a:lnSpc>
                <a:spcPct val="140038"/>
              </a:lnSpc>
              <a:spcBef>
                <a:spcPts val="0"/>
              </a:spcBef>
              <a:spcAft>
                <a:spcPts val="0"/>
              </a:spcAft>
              <a:buClr>
                <a:srgbClr val="000000"/>
              </a:buClr>
              <a:buSzPts val="1100"/>
              <a:buFont typeface="Arial"/>
              <a:buNone/>
            </a:pPr>
            <a:r>
              <a:t/>
            </a:r>
            <a:endParaRPr b="1" i="0" sz="1100" u="none" cap="none" strike="noStrike">
              <a:solidFill>
                <a:srgbClr val="021828"/>
              </a:solidFill>
              <a:latin typeface="Arial"/>
              <a:ea typeface="Arial"/>
              <a:cs typeface="Arial"/>
              <a:sym typeface="Arial"/>
            </a:endParaRPr>
          </a:p>
          <a:p>
            <a:pPr indent="0" lvl="0" marL="0" marR="0" rtl="0" algn="just">
              <a:lnSpc>
                <a:spcPct val="140038"/>
              </a:lnSpc>
              <a:spcBef>
                <a:spcPts val="0"/>
              </a:spcBef>
              <a:spcAft>
                <a:spcPts val="0"/>
              </a:spcAft>
              <a:buClr>
                <a:srgbClr val="000000"/>
              </a:buClr>
              <a:buSzPts val="1100"/>
              <a:buFont typeface="Arial"/>
              <a:buNone/>
            </a:pPr>
            <a:r>
              <a:rPr b="1" i="0" lang="en" sz="1100" u="none" cap="none" strike="noStrike">
                <a:solidFill>
                  <a:srgbClr val="021828"/>
                </a:solidFill>
                <a:latin typeface="Arial"/>
                <a:ea typeface="Arial"/>
                <a:cs typeface="Arial"/>
                <a:sym typeface="Arial"/>
              </a:rPr>
              <a:t>Used  different models and received a Concordance index of ~0.67:</a:t>
            </a:r>
            <a:endParaRPr b="0" i="0" sz="500" u="none" cap="none" strike="noStrike">
              <a:solidFill>
                <a:srgbClr val="000000"/>
              </a:solidFill>
              <a:latin typeface="Arial"/>
              <a:ea typeface="Arial"/>
              <a:cs typeface="Arial"/>
              <a:sym typeface="Arial"/>
            </a:endParaRPr>
          </a:p>
          <a:p>
            <a:pPr indent="0" lvl="0" marL="0" marR="0" rtl="0" algn="just">
              <a:lnSpc>
                <a:spcPct val="140038"/>
              </a:lnSpc>
              <a:spcBef>
                <a:spcPts val="0"/>
              </a:spcBef>
              <a:spcAft>
                <a:spcPts val="0"/>
              </a:spcAft>
              <a:buClr>
                <a:srgbClr val="000000"/>
              </a:buClr>
              <a:buSzPts val="1100"/>
              <a:buFont typeface="Arial"/>
              <a:buNone/>
            </a:pPr>
            <a:r>
              <a:rPr b="1" i="0" lang="en" sz="1100" u="none" cap="none" strike="noStrike">
                <a:solidFill>
                  <a:srgbClr val="021828"/>
                </a:solidFill>
                <a:latin typeface="Arial"/>
                <a:ea typeface="Arial"/>
                <a:cs typeface="Arial"/>
                <a:sym typeface="Arial"/>
              </a:rPr>
              <a:t>CoxPH </a:t>
            </a:r>
            <a:endParaRPr b="0" i="0" sz="500" u="none" cap="none" strike="noStrike">
              <a:solidFill>
                <a:srgbClr val="000000"/>
              </a:solidFill>
              <a:latin typeface="Arial"/>
              <a:ea typeface="Arial"/>
              <a:cs typeface="Arial"/>
              <a:sym typeface="Arial"/>
            </a:endParaRPr>
          </a:p>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L1 = 0.01</a:t>
            </a:r>
            <a:endParaRPr b="0" i="0" sz="500" u="none" cap="none" strike="noStrike">
              <a:solidFill>
                <a:srgbClr val="000000"/>
              </a:solidFill>
              <a:latin typeface="Arial"/>
              <a:ea typeface="Arial"/>
              <a:cs typeface="Arial"/>
              <a:sym typeface="Arial"/>
            </a:endParaRPr>
          </a:p>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Removed columns displaying high collinearity</a:t>
            </a:r>
            <a:endParaRPr b="0" i="0" sz="500" u="none" cap="none" strike="noStrike">
              <a:solidFill>
                <a:srgbClr val="000000"/>
              </a:solidFill>
              <a:latin typeface="Arial"/>
              <a:ea typeface="Arial"/>
              <a:cs typeface="Arial"/>
              <a:sym typeface="Arial"/>
            </a:endParaRPr>
          </a:p>
          <a:p>
            <a:pPr indent="0" lvl="0" marL="0" marR="0" rtl="0" algn="just">
              <a:lnSpc>
                <a:spcPct val="140038"/>
              </a:lnSpc>
              <a:spcBef>
                <a:spcPts val="0"/>
              </a:spcBef>
              <a:spcAft>
                <a:spcPts val="0"/>
              </a:spcAft>
              <a:buClr>
                <a:srgbClr val="000000"/>
              </a:buClr>
              <a:buSzPts val="1100"/>
              <a:buFont typeface="Arial"/>
              <a:buNone/>
            </a:pPr>
            <a:r>
              <a:t/>
            </a:r>
            <a:endParaRPr b="1" i="0" sz="1100" u="none" cap="none" strike="noStrike">
              <a:solidFill>
                <a:srgbClr val="021828"/>
              </a:solidFill>
              <a:latin typeface="Arial"/>
              <a:ea typeface="Arial"/>
              <a:cs typeface="Arial"/>
              <a:sym typeface="Arial"/>
            </a:endParaRPr>
          </a:p>
          <a:p>
            <a:pPr indent="0" lvl="0" marL="0" marR="0" rtl="0" algn="just">
              <a:lnSpc>
                <a:spcPct val="140038"/>
              </a:lnSpc>
              <a:spcBef>
                <a:spcPts val="0"/>
              </a:spcBef>
              <a:spcAft>
                <a:spcPts val="0"/>
              </a:spcAft>
              <a:buClr>
                <a:srgbClr val="000000"/>
              </a:buClr>
              <a:buSzPts val="1100"/>
              <a:buFont typeface="Arial"/>
              <a:buNone/>
            </a:pPr>
            <a:r>
              <a:rPr b="1" i="0" lang="en" sz="1100" u="none" cap="none" strike="noStrike">
                <a:solidFill>
                  <a:srgbClr val="021828"/>
                </a:solidFill>
                <a:latin typeface="Arial"/>
                <a:ea typeface="Arial"/>
                <a:cs typeface="Arial"/>
                <a:sym typeface="Arial"/>
              </a:rPr>
              <a:t>XGboost</a:t>
            </a:r>
            <a:endParaRPr b="0" i="0" sz="500" u="none" cap="none" strike="noStrike">
              <a:solidFill>
                <a:srgbClr val="000000"/>
              </a:solidFill>
              <a:latin typeface="Arial"/>
              <a:ea typeface="Arial"/>
              <a:cs typeface="Arial"/>
              <a:sym typeface="Arial"/>
            </a:endParaRPr>
          </a:p>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Added AFT bounds for train/test data</a:t>
            </a:r>
            <a:endParaRPr b="0" i="0" sz="500" u="none" cap="none" strike="noStrike">
              <a:solidFill>
                <a:srgbClr val="000000"/>
              </a:solidFill>
              <a:latin typeface="Arial"/>
              <a:ea typeface="Arial"/>
              <a:cs typeface="Arial"/>
              <a:sym typeface="Arial"/>
            </a:endParaRPr>
          </a:p>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Used objective = survival:aft and evaluation metric = aft-nloglik</a:t>
            </a:r>
            <a:endParaRPr b="0" i="0" sz="500" u="none" cap="none" strike="noStrike">
              <a:solidFill>
                <a:srgbClr val="000000"/>
              </a:solidFill>
              <a:latin typeface="Arial"/>
              <a:ea typeface="Arial"/>
              <a:cs typeface="Arial"/>
              <a:sym typeface="Arial"/>
            </a:endParaRPr>
          </a:p>
          <a:p>
            <a:pPr indent="0" lvl="0" marL="0" marR="0" rtl="0" algn="just">
              <a:lnSpc>
                <a:spcPct val="140038"/>
              </a:lnSpc>
              <a:spcBef>
                <a:spcPts val="0"/>
              </a:spcBef>
              <a:spcAft>
                <a:spcPts val="0"/>
              </a:spcAft>
              <a:buClr>
                <a:srgbClr val="000000"/>
              </a:buClr>
              <a:buSzPts val="1100"/>
              <a:buFont typeface="Arial"/>
              <a:buNone/>
            </a:pPr>
            <a:r>
              <a:t/>
            </a:r>
            <a:endParaRPr b="1" i="0" sz="1100" u="none" cap="none" strike="noStrike">
              <a:solidFill>
                <a:srgbClr val="021828"/>
              </a:solidFill>
              <a:latin typeface="Arial"/>
              <a:ea typeface="Arial"/>
              <a:cs typeface="Arial"/>
              <a:sym typeface="Arial"/>
            </a:endParaRPr>
          </a:p>
          <a:p>
            <a:pPr indent="0" lvl="0" marL="0" marR="0" rtl="0" algn="just">
              <a:lnSpc>
                <a:spcPct val="140038"/>
              </a:lnSpc>
              <a:spcBef>
                <a:spcPts val="0"/>
              </a:spcBef>
              <a:spcAft>
                <a:spcPts val="0"/>
              </a:spcAft>
              <a:buClr>
                <a:srgbClr val="000000"/>
              </a:buClr>
              <a:buSzPts val="1100"/>
              <a:buFont typeface="Arial"/>
              <a:buNone/>
            </a:pPr>
            <a:r>
              <a:rPr b="1" i="0" lang="en" sz="1100" u="none" cap="none" strike="noStrike">
                <a:solidFill>
                  <a:srgbClr val="021828"/>
                </a:solidFill>
                <a:latin typeface="Arial"/>
                <a:ea typeface="Arial"/>
                <a:cs typeface="Arial"/>
                <a:sym typeface="Arial"/>
              </a:rPr>
              <a:t>DeepSurv</a:t>
            </a:r>
            <a:endParaRPr b="0" i="0" sz="500" u="none" cap="none" strike="noStrike">
              <a:solidFill>
                <a:srgbClr val="000000"/>
              </a:solidFill>
              <a:latin typeface="Arial"/>
              <a:ea typeface="Arial"/>
              <a:cs typeface="Arial"/>
              <a:sym typeface="Arial"/>
            </a:endParaRPr>
          </a:p>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Imported top 30 features from xgboost</a:t>
            </a:r>
            <a:endParaRPr b="0" i="0" sz="500" u="none" cap="none" strike="noStrike">
              <a:solidFill>
                <a:srgbClr val="000000"/>
              </a:solidFill>
              <a:latin typeface="Arial"/>
              <a:ea typeface="Arial"/>
              <a:cs typeface="Arial"/>
              <a:sym typeface="Arial"/>
            </a:endParaRPr>
          </a:p>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Used Adam optimizer with learning rate = 0.005 </a:t>
            </a:r>
            <a:endParaRPr b="0" i="0" sz="500" u="none" cap="none" strike="noStrike">
              <a:solidFill>
                <a:srgbClr val="000000"/>
              </a:solidFill>
              <a:latin typeface="Arial"/>
              <a:ea typeface="Arial"/>
              <a:cs typeface="Arial"/>
              <a:sym typeface="Arial"/>
            </a:endParaRPr>
          </a:p>
          <a:p>
            <a:pPr indent="0" lvl="0" marL="0" marR="0" rtl="0" algn="just">
              <a:lnSpc>
                <a:spcPct val="114312"/>
              </a:lnSpc>
              <a:spcBef>
                <a:spcPts val="0"/>
              </a:spcBef>
              <a:spcAft>
                <a:spcPts val="0"/>
              </a:spcAft>
              <a:buClr>
                <a:srgbClr val="000000"/>
              </a:buClr>
              <a:buSzPts val="1100"/>
              <a:buFont typeface="Arial"/>
              <a:buNone/>
            </a:pPr>
            <a:r>
              <a:t/>
            </a:r>
            <a:endParaRPr b="1" i="0" sz="1100" u="none" cap="none" strike="noStrike">
              <a:solidFill>
                <a:srgbClr val="021828"/>
              </a:solidFill>
              <a:latin typeface="Arial"/>
              <a:ea typeface="Arial"/>
              <a:cs typeface="Arial"/>
              <a:sym typeface="Arial"/>
            </a:endParaRPr>
          </a:p>
        </p:txBody>
      </p:sp>
      <p:cxnSp>
        <p:nvCxnSpPr>
          <p:cNvPr id="354" name="Google Shape;354;p13"/>
          <p:cNvCxnSpPr/>
          <p:nvPr/>
        </p:nvCxnSpPr>
        <p:spPr>
          <a:xfrm flipH="1" rot="10800000">
            <a:off x="197726" y="1136108"/>
            <a:ext cx="6342601" cy="26387"/>
          </a:xfrm>
          <a:prstGeom prst="straightConnector1">
            <a:avLst/>
          </a:prstGeom>
          <a:noFill/>
          <a:ln cap="flat" cmpd="sng" w="38100">
            <a:solidFill>
              <a:srgbClr val="5188CC"/>
            </a:solidFill>
            <a:prstDash val="solid"/>
            <a:round/>
            <a:headEnd len="sm" w="sm" type="none"/>
            <a:tailEnd len="sm" w="sm" type="none"/>
          </a:ln>
        </p:spPr>
      </p:cxnSp>
      <p:grpSp>
        <p:nvGrpSpPr>
          <p:cNvPr id="355" name="Google Shape;355;p13"/>
          <p:cNvGrpSpPr/>
          <p:nvPr/>
        </p:nvGrpSpPr>
        <p:grpSpPr>
          <a:xfrm>
            <a:off x="514350" y="456498"/>
            <a:ext cx="334639" cy="334639"/>
            <a:chOff x="0" y="0"/>
            <a:chExt cx="812800" cy="812800"/>
          </a:xfrm>
        </p:grpSpPr>
        <p:sp>
          <p:nvSpPr>
            <p:cNvPr id="356" name="Google Shape;356;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13"/>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58" name="Google Shape;358;p13"/>
          <p:cNvSpPr/>
          <p:nvPr/>
        </p:nvSpPr>
        <p:spPr>
          <a:xfrm rot="5400000">
            <a:off x="619160" y="559747"/>
            <a:ext cx="125019" cy="125018"/>
          </a:xfrm>
          <a:custGeom>
            <a:rect b="b" l="l" r="r" t="t"/>
            <a:pathLst>
              <a:path extrusionOk="0" h="250037" w="250037">
                <a:moveTo>
                  <a:pt x="0" y="0"/>
                </a:moveTo>
                <a:lnTo>
                  <a:pt x="250037" y="0"/>
                </a:lnTo>
                <a:lnTo>
                  <a:pt x="250037" y="250037"/>
                </a:lnTo>
                <a:lnTo>
                  <a:pt x="0" y="250037"/>
                </a:lnTo>
                <a:lnTo>
                  <a:pt x="0" y="0"/>
                </a:lnTo>
                <a:close/>
              </a:path>
            </a:pathLst>
          </a:custGeom>
          <a:blipFill rotWithShape="1">
            <a:blip r:embed="rId5">
              <a:alphaModFix/>
            </a:blip>
            <a:stretch>
              <a:fillRect b="0" l="0" r="0" t="0"/>
            </a:stretch>
          </a:blipFill>
          <a:ln>
            <a:noFill/>
          </a:ln>
        </p:spPr>
      </p:sp>
      <p:pic>
        <p:nvPicPr>
          <p:cNvPr id="359" name="Google Shape;359;p13"/>
          <p:cNvPicPr preferRelativeResize="0"/>
          <p:nvPr/>
        </p:nvPicPr>
        <p:blipFill rotWithShape="1">
          <a:blip r:embed="rId6">
            <a:alphaModFix/>
          </a:blip>
          <a:srcRect b="0" l="0" r="10369" t="0"/>
          <a:stretch/>
        </p:blipFill>
        <p:spPr>
          <a:xfrm>
            <a:off x="5886388" y="2153375"/>
            <a:ext cx="2961901" cy="2765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cxnSp>
        <p:nvCxnSpPr>
          <p:cNvPr id="364" name="Google Shape;364;p14"/>
          <p:cNvCxnSpPr/>
          <p:nvPr/>
        </p:nvCxnSpPr>
        <p:spPr>
          <a:xfrm>
            <a:off x="5674119" y="1257682"/>
            <a:ext cx="3340648" cy="0"/>
          </a:xfrm>
          <a:prstGeom prst="straightConnector1">
            <a:avLst/>
          </a:prstGeom>
          <a:noFill/>
          <a:ln cap="flat" cmpd="sng" w="38100">
            <a:solidFill>
              <a:srgbClr val="5188CC"/>
            </a:solidFill>
            <a:prstDash val="solid"/>
            <a:round/>
            <a:headEnd len="sm" w="sm" type="none"/>
            <a:tailEnd len="sm" w="sm" type="none"/>
          </a:ln>
        </p:spPr>
      </p:cxnSp>
      <p:grpSp>
        <p:nvGrpSpPr>
          <p:cNvPr id="365" name="Google Shape;365;p14"/>
          <p:cNvGrpSpPr/>
          <p:nvPr/>
        </p:nvGrpSpPr>
        <p:grpSpPr>
          <a:xfrm>
            <a:off x="5963952" y="689681"/>
            <a:ext cx="334639" cy="334639"/>
            <a:chOff x="0" y="0"/>
            <a:chExt cx="812800" cy="812800"/>
          </a:xfrm>
        </p:grpSpPr>
        <p:sp>
          <p:nvSpPr>
            <p:cNvPr id="366" name="Google Shape;366;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14"/>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68" name="Google Shape;368;p14"/>
          <p:cNvGrpSpPr/>
          <p:nvPr/>
        </p:nvGrpSpPr>
        <p:grpSpPr>
          <a:xfrm>
            <a:off x="183531" y="2192769"/>
            <a:ext cx="4082733" cy="2950731"/>
            <a:chOff x="0" y="-47625"/>
            <a:chExt cx="2150575" cy="1554295"/>
          </a:xfrm>
        </p:grpSpPr>
        <p:sp>
          <p:nvSpPr>
            <p:cNvPr id="369" name="Google Shape;369;p14"/>
            <p:cNvSpPr/>
            <p:nvPr/>
          </p:nvSpPr>
          <p:spPr>
            <a:xfrm>
              <a:off x="0" y="0"/>
              <a:ext cx="2150575" cy="1506670"/>
            </a:xfrm>
            <a:custGeom>
              <a:rect b="b" l="l" r="r" t="t"/>
              <a:pathLst>
                <a:path extrusionOk="0" h="1506670" w="2150575">
                  <a:moveTo>
                    <a:pt x="55940" y="0"/>
                  </a:moveTo>
                  <a:lnTo>
                    <a:pt x="2094636" y="0"/>
                  </a:lnTo>
                  <a:cubicBezTo>
                    <a:pt x="2125530" y="0"/>
                    <a:pt x="2150575" y="25045"/>
                    <a:pt x="2150575" y="55940"/>
                  </a:cubicBezTo>
                  <a:lnTo>
                    <a:pt x="2150575" y="1450730"/>
                  </a:lnTo>
                  <a:cubicBezTo>
                    <a:pt x="2150575" y="1465566"/>
                    <a:pt x="2144682" y="1479795"/>
                    <a:pt x="2134191" y="1490285"/>
                  </a:cubicBezTo>
                  <a:cubicBezTo>
                    <a:pt x="2123700" y="1500776"/>
                    <a:pt x="2109472" y="1506670"/>
                    <a:pt x="2094636" y="1506670"/>
                  </a:cubicBezTo>
                  <a:lnTo>
                    <a:pt x="55940" y="1506670"/>
                  </a:lnTo>
                  <a:cubicBezTo>
                    <a:pt x="41104" y="1506670"/>
                    <a:pt x="26875" y="1500776"/>
                    <a:pt x="16384" y="1490285"/>
                  </a:cubicBezTo>
                  <a:cubicBezTo>
                    <a:pt x="5894" y="1479795"/>
                    <a:pt x="0" y="1465566"/>
                    <a:pt x="0" y="1450730"/>
                  </a:cubicBezTo>
                  <a:lnTo>
                    <a:pt x="0" y="55940"/>
                  </a:lnTo>
                  <a:cubicBezTo>
                    <a:pt x="0" y="41104"/>
                    <a:pt x="5894" y="26875"/>
                    <a:pt x="16384" y="16384"/>
                  </a:cubicBezTo>
                  <a:cubicBezTo>
                    <a:pt x="26875" y="5894"/>
                    <a:pt x="41104" y="0"/>
                    <a:pt x="55940" y="0"/>
                  </a:cubicBezTo>
                  <a:close/>
                </a:path>
              </a:pathLst>
            </a:custGeom>
            <a:solidFill>
              <a:srgbClr val="E1EDF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14"/>
            <p:cNvSpPr txBox="1"/>
            <p:nvPr/>
          </p:nvSpPr>
          <p:spPr>
            <a:xfrm>
              <a:off x="0" y="-47625"/>
              <a:ext cx="2150575" cy="155429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71" name="Google Shape;371;p14"/>
          <p:cNvSpPr/>
          <p:nvPr/>
        </p:nvSpPr>
        <p:spPr>
          <a:xfrm rot="5400000">
            <a:off x="6068762" y="792930"/>
            <a:ext cx="125018" cy="125018"/>
          </a:xfrm>
          <a:custGeom>
            <a:rect b="b" l="l" r="r" t="t"/>
            <a:pathLst>
              <a:path extrusionOk="0" h="250037" w="250037">
                <a:moveTo>
                  <a:pt x="0" y="0"/>
                </a:moveTo>
                <a:lnTo>
                  <a:pt x="250037" y="0"/>
                </a:lnTo>
                <a:lnTo>
                  <a:pt x="250037" y="250037"/>
                </a:lnTo>
                <a:lnTo>
                  <a:pt x="0" y="250037"/>
                </a:lnTo>
                <a:lnTo>
                  <a:pt x="0" y="0"/>
                </a:lnTo>
                <a:close/>
              </a:path>
            </a:pathLst>
          </a:custGeom>
          <a:blipFill rotWithShape="1">
            <a:blip r:embed="rId3">
              <a:alphaModFix/>
            </a:blip>
            <a:stretch>
              <a:fillRect b="0" l="0" r="0" t="0"/>
            </a:stretch>
          </a:blipFill>
          <a:ln>
            <a:noFill/>
          </a:ln>
        </p:spPr>
      </p:sp>
      <p:sp>
        <p:nvSpPr>
          <p:cNvPr id="372" name="Google Shape;372;p14"/>
          <p:cNvSpPr/>
          <p:nvPr/>
        </p:nvSpPr>
        <p:spPr>
          <a:xfrm>
            <a:off x="2022210" y="-924107"/>
            <a:ext cx="1845934" cy="1845934"/>
          </a:xfrm>
          <a:custGeom>
            <a:rect b="b" l="l" r="r" t="t"/>
            <a:pathLst>
              <a:path extrusionOk="0" h="3691868" w="3691868">
                <a:moveTo>
                  <a:pt x="0" y="0"/>
                </a:moveTo>
                <a:lnTo>
                  <a:pt x="3691867" y="0"/>
                </a:lnTo>
                <a:lnTo>
                  <a:pt x="3691867" y="3691868"/>
                </a:lnTo>
                <a:lnTo>
                  <a:pt x="0" y="3691868"/>
                </a:lnTo>
                <a:lnTo>
                  <a:pt x="0" y="0"/>
                </a:lnTo>
                <a:close/>
              </a:path>
            </a:pathLst>
          </a:custGeom>
          <a:blipFill rotWithShape="1">
            <a:blip r:embed="rId4">
              <a:alphaModFix/>
            </a:blip>
            <a:stretch>
              <a:fillRect b="0" l="0" r="0" t="0"/>
            </a:stretch>
          </a:blipFill>
          <a:ln>
            <a:noFill/>
          </a:ln>
        </p:spPr>
      </p:sp>
      <p:sp>
        <p:nvSpPr>
          <p:cNvPr id="373" name="Google Shape;373;p14"/>
          <p:cNvSpPr/>
          <p:nvPr/>
        </p:nvSpPr>
        <p:spPr>
          <a:xfrm>
            <a:off x="1698472" y="514350"/>
            <a:ext cx="323738" cy="323739"/>
          </a:xfrm>
          <a:custGeom>
            <a:rect b="b" l="l" r="r" t="t"/>
            <a:pathLst>
              <a:path extrusionOk="0" h="647477" w="647477">
                <a:moveTo>
                  <a:pt x="0" y="0"/>
                </a:moveTo>
                <a:lnTo>
                  <a:pt x="647477" y="0"/>
                </a:lnTo>
                <a:lnTo>
                  <a:pt x="647477" y="647477"/>
                </a:lnTo>
                <a:lnTo>
                  <a:pt x="0" y="647477"/>
                </a:lnTo>
                <a:lnTo>
                  <a:pt x="0" y="0"/>
                </a:lnTo>
                <a:close/>
              </a:path>
            </a:pathLst>
          </a:custGeom>
          <a:blipFill rotWithShape="1">
            <a:blip r:embed="rId5">
              <a:alphaModFix/>
            </a:blip>
            <a:stretch>
              <a:fillRect b="0" l="0" r="0" t="0"/>
            </a:stretch>
          </a:blipFill>
          <a:ln>
            <a:noFill/>
          </a:ln>
        </p:spPr>
      </p:sp>
      <p:sp>
        <p:nvSpPr>
          <p:cNvPr id="374" name="Google Shape;374;p14"/>
          <p:cNvSpPr/>
          <p:nvPr/>
        </p:nvSpPr>
        <p:spPr>
          <a:xfrm>
            <a:off x="197378" y="1010858"/>
            <a:ext cx="4068885" cy="2056799"/>
          </a:xfrm>
          <a:custGeom>
            <a:rect b="b" l="l" r="r" t="t"/>
            <a:pathLst>
              <a:path extrusionOk="0" h="4113598" w="8137770">
                <a:moveTo>
                  <a:pt x="0" y="0"/>
                </a:moveTo>
                <a:lnTo>
                  <a:pt x="8137770" y="0"/>
                </a:lnTo>
                <a:lnTo>
                  <a:pt x="8137770" y="4113598"/>
                </a:lnTo>
                <a:lnTo>
                  <a:pt x="0" y="4113598"/>
                </a:lnTo>
                <a:lnTo>
                  <a:pt x="0" y="0"/>
                </a:lnTo>
                <a:close/>
              </a:path>
            </a:pathLst>
          </a:custGeom>
          <a:blipFill rotWithShape="1">
            <a:blip r:embed="rId6">
              <a:alphaModFix/>
            </a:blip>
            <a:stretch>
              <a:fillRect b="0" l="0" r="0" t="0"/>
            </a:stretch>
          </a:blipFill>
          <a:ln>
            <a:noFill/>
          </a:ln>
        </p:spPr>
      </p:sp>
      <p:sp>
        <p:nvSpPr>
          <p:cNvPr id="375" name="Google Shape;375;p14"/>
          <p:cNvSpPr/>
          <p:nvPr/>
        </p:nvSpPr>
        <p:spPr>
          <a:xfrm>
            <a:off x="4572000" y="1609160"/>
            <a:ext cx="4057650" cy="2104181"/>
          </a:xfrm>
          <a:custGeom>
            <a:rect b="b" l="l" r="r" t="t"/>
            <a:pathLst>
              <a:path extrusionOk="0" h="4208363" w="8115300">
                <a:moveTo>
                  <a:pt x="0" y="0"/>
                </a:moveTo>
                <a:lnTo>
                  <a:pt x="8115300" y="0"/>
                </a:lnTo>
                <a:lnTo>
                  <a:pt x="8115300" y="4208363"/>
                </a:lnTo>
                <a:lnTo>
                  <a:pt x="0" y="4208363"/>
                </a:lnTo>
                <a:lnTo>
                  <a:pt x="0" y="0"/>
                </a:lnTo>
                <a:close/>
              </a:path>
            </a:pathLst>
          </a:custGeom>
          <a:blipFill rotWithShape="1">
            <a:blip r:embed="rId7">
              <a:alphaModFix/>
            </a:blip>
            <a:stretch>
              <a:fillRect b="0" l="0" r="0" t="0"/>
            </a:stretch>
          </a:blipFill>
          <a:ln>
            <a:noFill/>
          </a:ln>
        </p:spPr>
      </p:sp>
      <p:sp>
        <p:nvSpPr>
          <p:cNvPr id="376" name="Google Shape;376;p14"/>
          <p:cNvSpPr txBox="1"/>
          <p:nvPr/>
        </p:nvSpPr>
        <p:spPr>
          <a:xfrm>
            <a:off x="6068761" y="613481"/>
            <a:ext cx="2555429" cy="891286"/>
          </a:xfrm>
          <a:prstGeom prst="rect">
            <a:avLst/>
          </a:prstGeom>
          <a:noFill/>
          <a:ln>
            <a:noFill/>
          </a:ln>
        </p:spPr>
        <p:txBody>
          <a:bodyPr anchorCtr="0" anchor="t" bIns="0" lIns="0" spcFirstLastPara="1" rIns="0" wrap="square" tIns="0">
            <a:spAutoFit/>
          </a:bodyPr>
          <a:lstStyle/>
          <a:p>
            <a:pPr indent="0" lvl="0" marL="0" marR="0" rtl="0" algn="r">
              <a:lnSpc>
                <a:spcPct val="127005"/>
              </a:lnSpc>
              <a:spcBef>
                <a:spcPts val="0"/>
              </a:spcBef>
              <a:spcAft>
                <a:spcPts val="0"/>
              </a:spcAft>
              <a:buClr>
                <a:srgbClr val="000000"/>
              </a:buClr>
              <a:buSzPts val="2600"/>
              <a:buFont typeface="Arial"/>
              <a:buNone/>
            </a:pPr>
            <a:r>
              <a:rPr b="1" i="0" lang="en" sz="2600" u="none" cap="none" strike="noStrike">
                <a:solidFill>
                  <a:srgbClr val="0E2F5F"/>
                </a:solidFill>
                <a:latin typeface="Arial"/>
                <a:ea typeface="Arial"/>
                <a:cs typeface="Arial"/>
                <a:sym typeface="Arial"/>
              </a:rPr>
              <a:t>Deep Models</a:t>
            </a:r>
            <a:endParaRPr b="0" i="0" sz="700" u="none" cap="none" strike="noStrike">
              <a:solidFill>
                <a:srgbClr val="000000"/>
              </a:solidFill>
              <a:latin typeface="Arial"/>
              <a:ea typeface="Arial"/>
              <a:cs typeface="Arial"/>
              <a:sym typeface="Arial"/>
            </a:endParaRPr>
          </a:p>
          <a:p>
            <a:pPr indent="0" lvl="0" marL="0" marR="0" rtl="0" algn="r">
              <a:lnSpc>
                <a:spcPct val="127005"/>
              </a:lnSpc>
              <a:spcBef>
                <a:spcPts val="0"/>
              </a:spcBef>
              <a:spcAft>
                <a:spcPts val="0"/>
              </a:spcAft>
              <a:buClr>
                <a:srgbClr val="000000"/>
              </a:buClr>
              <a:buSzPts val="2600"/>
              <a:buFont typeface="Arial"/>
              <a:buNone/>
            </a:pPr>
            <a:r>
              <a:t/>
            </a:r>
            <a:endParaRPr b="1" i="0" sz="2600" u="none" cap="none" strike="noStrike">
              <a:solidFill>
                <a:srgbClr val="0E2F5F"/>
              </a:solidFill>
              <a:latin typeface="Arial"/>
              <a:ea typeface="Arial"/>
              <a:cs typeface="Arial"/>
              <a:sym typeface="Arial"/>
            </a:endParaRPr>
          </a:p>
        </p:txBody>
      </p:sp>
      <p:sp>
        <p:nvSpPr>
          <p:cNvPr id="377" name="Google Shape;377;p14"/>
          <p:cNvSpPr txBox="1"/>
          <p:nvPr/>
        </p:nvSpPr>
        <p:spPr>
          <a:xfrm>
            <a:off x="309043" y="3156677"/>
            <a:ext cx="4128300" cy="2601000"/>
          </a:xfrm>
          <a:prstGeom prst="rect">
            <a:avLst/>
          </a:prstGeom>
          <a:noFill/>
          <a:ln>
            <a:noFill/>
          </a:ln>
        </p:spPr>
        <p:txBody>
          <a:bodyPr anchorCtr="0" anchor="t" bIns="0" lIns="0" spcFirstLastPara="1" rIns="0" wrap="square" tIns="0">
            <a:spAutoFit/>
          </a:bodyPr>
          <a:lstStyle/>
          <a:p>
            <a:pPr indent="0" lvl="0" marL="0" marR="0" rtl="0" algn="just">
              <a:lnSpc>
                <a:spcPct val="140007"/>
              </a:lnSpc>
              <a:spcBef>
                <a:spcPts val="0"/>
              </a:spcBef>
              <a:spcAft>
                <a:spcPts val="0"/>
              </a:spcAft>
              <a:buClr>
                <a:srgbClr val="000000"/>
              </a:buClr>
              <a:buSzPts val="1300"/>
              <a:buFont typeface="Arial"/>
              <a:buNone/>
            </a:pPr>
            <a:r>
              <a:rPr b="1" i="0" lang="en" sz="1300" u="sng" cap="none" strike="noStrike">
                <a:solidFill>
                  <a:srgbClr val="021828"/>
                </a:solidFill>
                <a:latin typeface="Arial"/>
                <a:ea typeface="Arial"/>
                <a:cs typeface="Arial"/>
                <a:sym typeface="Arial"/>
              </a:rPr>
              <a:t>DeepSurv</a:t>
            </a:r>
            <a:endParaRPr b="0" i="0" sz="700" u="none" cap="none" strike="noStrike">
              <a:solidFill>
                <a:srgbClr val="000000"/>
              </a:solidFill>
              <a:latin typeface="Arial"/>
              <a:ea typeface="Arial"/>
              <a:cs typeface="Arial"/>
              <a:sym typeface="Arial"/>
            </a:endParaRPr>
          </a:p>
          <a:p>
            <a:pPr indent="0" lvl="0" marL="0" marR="0" rtl="0" algn="just">
              <a:lnSpc>
                <a:spcPct val="140008"/>
              </a:lnSpc>
              <a:spcBef>
                <a:spcPts val="0"/>
              </a:spcBef>
              <a:spcAft>
                <a:spcPts val="0"/>
              </a:spcAft>
              <a:buClr>
                <a:srgbClr val="000000"/>
              </a:buClr>
              <a:buSzPts val="1200"/>
              <a:buFont typeface="Arial"/>
              <a:buNone/>
            </a:pPr>
            <a:r>
              <a:rPr b="0" i="0" lang="en" sz="1200" u="none" cap="none" strike="noStrike">
                <a:solidFill>
                  <a:srgbClr val="021828"/>
                </a:solidFill>
                <a:latin typeface="Arial"/>
                <a:ea typeface="Arial"/>
                <a:cs typeface="Arial"/>
                <a:sym typeface="Arial"/>
              </a:rPr>
              <a:t>Adjustments (from 63% to 6</a:t>
            </a:r>
            <a:r>
              <a:rPr lang="en" sz="1200">
                <a:solidFill>
                  <a:srgbClr val="021828"/>
                </a:solidFill>
              </a:rPr>
              <a:t>5</a:t>
            </a:r>
            <a:r>
              <a:rPr b="0" i="0" lang="en" sz="1200" u="none" cap="none" strike="noStrike">
                <a:solidFill>
                  <a:srgbClr val="021828"/>
                </a:solidFill>
                <a:latin typeface="Arial"/>
                <a:ea typeface="Arial"/>
                <a:cs typeface="Arial"/>
                <a:sym typeface="Arial"/>
              </a:rPr>
              <a:t>%)</a:t>
            </a:r>
            <a:endParaRPr b="0" i="0" sz="1200" u="none" cap="none" strike="noStrike">
              <a:solidFill>
                <a:srgbClr val="021828"/>
              </a:solidFill>
              <a:latin typeface="Arial"/>
              <a:ea typeface="Arial"/>
              <a:cs typeface="Arial"/>
              <a:sym typeface="Arial"/>
            </a:endParaRPr>
          </a:p>
          <a:p>
            <a:pPr indent="-127000" lvl="1" marL="254000" marR="0" rtl="0" algn="just">
              <a:lnSpc>
                <a:spcPct val="140008"/>
              </a:lnSpc>
              <a:spcBef>
                <a:spcPts val="0"/>
              </a:spcBef>
              <a:spcAft>
                <a:spcPts val="0"/>
              </a:spcAft>
              <a:buClr>
                <a:srgbClr val="021828"/>
              </a:buClr>
              <a:buSzPts val="1200"/>
              <a:buFont typeface="Arial"/>
              <a:buChar char="•"/>
            </a:pPr>
            <a:r>
              <a:rPr b="0" i="0" lang="en" sz="1200" u="none" cap="none" strike="noStrike">
                <a:solidFill>
                  <a:srgbClr val="021828"/>
                </a:solidFill>
                <a:latin typeface="Arial"/>
                <a:ea typeface="Arial"/>
                <a:cs typeface="Arial"/>
                <a:sym typeface="Arial"/>
              </a:rPr>
              <a:t>Relu and Silu work better than leakyrelu </a:t>
            </a:r>
            <a:endParaRPr b="0" i="0" sz="700" u="none" cap="none" strike="noStrike">
              <a:solidFill>
                <a:srgbClr val="000000"/>
              </a:solidFill>
              <a:latin typeface="Arial"/>
              <a:ea typeface="Arial"/>
              <a:cs typeface="Arial"/>
              <a:sym typeface="Arial"/>
            </a:endParaRPr>
          </a:p>
          <a:p>
            <a:pPr indent="-127000" lvl="1" marL="254000" marR="0" rtl="0" algn="just">
              <a:lnSpc>
                <a:spcPct val="140008"/>
              </a:lnSpc>
              <a:spcBef>
                <a:spcPts val="0"/>
              </a:spcBef>
              <a:spcAft>
                <a:spcPts val="0"/>
              </a:spcAft>
              <a:buClr>
                <a:srgbClr val="021828"/>
              </a:buClr>
              <a:buSzPts val="1200"/>
              <a:buFont typeface="Arial"/>
              <a:buChar char="•"/>
            </a:pPr>
            <a:r>
              <a:rPr b="0" i="0" lang="en" sz="1200" u="none" cap="none" strike="noStrike">
                <a:solidFill>
                  <a:srgbClr val="021828"/>
                </a:solidFill>
                <a:latin typeface="Arial"/>
                <a:ea typeface="Arial"/>
                <a:cs typeface="Arial"/>
                <a:sym typeface="Arial"/>
              </a:rPr>
              <a:t>A very low learning rate doesn't work </a:t>
            </a:r>
            <a:endParaRPr b="0" i="0" sz="700" u="none" cap="none" strike="noStrike">
              <a:solidFill>
                <a:srgbClr val="000000"/>
              </a:solidFill>
              <a:latin typeface="Arial"/>
              <a:ea typeface="Arial"/>
              <a:cs typeface="Arial"/>
              <a:sym typeface="Arial"/>
            </a:endParaRPr>
          </a:p>
          <a:p>
            <a:pPr indent="-127000" lvl="1" marL="254000" marR="0" rtl="0" algn="just">
              <a:lnSpc>
                <a:spcPct val="140008"/>
              </a:lnSpc>
              <a:spcBef>
                <a:spcPts val="0"/>
              </a:spcBef>
              <a:spcAft>
                <a:spcPts val="0"/>
              </a:spcAft>
              <a:buClr>
                <a:srgbClr val="021828"/>
              </a:buClr>
              <a:buSzPts val="1200"/>
              <a:buFont typeface="Arial"/>
              <a:buChar char="•"/>
            </a:pPr>
            <a:r>
              <a:rPr b="0" i="0" lang="en" sz="1200" u="none" cap="none" strike="noStrike">
                <a:solidFill>
                  <a:srgbClr val="021828"/>
                </a:solidFill>
                <a:latin typeface="Arial"/>
                <a:ea typeface="Arial"/>
                <a:cs typeface="Arial"/>
                <a:sym typeface="Arial"/>
              </a:rPr>
              <a:t>Simpler network is better</a:t>
            </a:r>
            <a:endParaRPr b="0" i="0" sz="700" u="none" cap="none" strike="noStrike">
              <a:solidFill>
                <a:srgbClr val="000000"/>
              </a:solidFill>
              <a:latin typeface="Arial"/>
              <a:ea typeface="Arial"/>
              <a:cs typeface="Arial"/>
              <a:sym typeface="Arial"/>
            </a:endParaRPr>
          </a:p>
          <a:p>
            <a:pPr indent="-127000" lvl="1" marL="254000" marR="0" rtl="0" algn="just">
              <a:lnSpc>
                <a:spcPct val="140008"/>
              </a:lnSpc>
              <a:spcBef>
                <a:spcPts val="0"/>
              </a:spcBef>
              <a:spcAft>
                <a:spcPts val="0"/>
              </a:spcAft>
              <a:buClr>
                <a:srgbClr val="021828"/>
              </a:buClr>
              <a:buSzPts val="1200"/>
              <a:buFont typeface="Arial"/>
              <a:buChar char="•"/>
            </a:pPr>
            <a:r>
              <a:rPr b="0" i="0" lang="en" sz="1200" u="none" cap="none" strike="noStrike">
                <a:solidFill>
                  <a:srgbClr val="021828"/>
                </a:solidFill>
                <a:latin typeface="Arial"/>
                <a:ea typeface="Arial"/>
                <a:cs typeface="Arial"/>
                <a:sym typeface="Arial"/>
              </a:rPr>
              <a:t>Bigger the number of epochs the better</a:t>
            </a:r>
            <a:endParaRPr b="0" i="0" sz="700" u="none" cap="none" strike="noStrike">
              <a:solidFill>
                <a:srgbClr val="000000"/>
              </a:solidFill>
              <a:latin typeface="Arial"/>
              <a:ea typeface="Arial"/>
              <a:cs typeface="Arial"/>
              <a:sym typeface="Arial"/>
            </a:endParaRPr>
          </a:p>
          <a:p>
            <a:pPr indent="-127000" lvl="1" marL="254000" marR="0" rtl="0" algn="just">
              <a:lnSpc>
                <a:spcPct val="140008"/>
              </a:lnSpc>
              <a:spcBef>
                <a:spcPts val="0"/>
              </a:spcBef>
              <a:spcAft>
                <a:spcPts val="0"/>
              </a:spcAft>
              <a:buClr>
                <a:srgbClr val="021828"/>
              </a:buClr>
              <a:buSzPts val="1200"/>
              <a:buFont typeface="Arial"/>
              <a:buChar char="•"/>
            </a:pPr>
            <a:r>
              <a:rPr b="0" i="0" lang="en" sz="1200" u="none" cap="none" strike="noStrike">
                <a:solidFill>
                  <a:srgbClr val="021828"/>
                </a:solidFill>
                <a:latin typeface="Arial"/>
                <a:ea typeface="Arial"/>
                <a:cs typeface="Arial"/>
                <a:sym typeface="Arial"/>
              </a:rPr>
              <a:t>First 30 features from xgboost</a:t>
            </a:r>
            <a:endParaRPr b="0" i="0" sz="1200" u="none" cap="none" strike="noStrike">
              <a:solidFill>
                <a:srgbClr val="021828"/>
              </a:solidFill>
              <a:latin typeface="Arial"/>
              <a:ea typeface="Arial"/>
              <a:cs typeface="Arial"/>
              <a:sym typeface="Arial"/>
            </a:endParaRPr>
          </a:p>
          <a:p>
            <a:pPr indent="-127000" lvl="1" marL="254000" marR="0" rtl="0" algn="just">
              <a:lnSpc>
                <a:spcPct val="140008"/>
              </a:lnSpc>
              <a:spcBef>
                <a:spcPts val="0"/>
              </a:spcBef>
              <a:spcAft>
                <a:spcPts val="0"/>
              </a:spcAft>
              <a:buClr>
                <a:srgbClr val="021828"/>
              </a:buClr>
              <a:buSzPts val="1200"/>
              <a:buFont typeface="Arial"/>
              <a:buChar char="•"/>
            </a:pPr>
            <a:r>
              <a:rPr b="0" i="0" lang="en" sz="1200" u="none" cap="none" strike="noStrike">
                <a:solidFill>
                  <a:srgbClr val="021828"/>
                </a:solidFill>
                <a:latin typeface="Arial"/>
                <a:ea typeface="Arial"/>
                <a:cs typeface="Arial"/>
                <a:sym typeface="Arial"/>
              </a:rPr>
              <a:t>K-fold helps stabilize the cv</a:t>
            </a:r>
            <a:endParaRPr b="0" i="0" sz="1200" u="none" cap="none" strike="noStrike">
              <a:solidFill>
                <a:srgbClr val="021828"/>
              </a:solidFill>
              <a:latin typeface="Arial"/>
              <a:ea typeface="Arial"/>
              <a:cs typeface="Arial"/>
              <a:sym typeface="Arial"/>
            </a:endParaRPr>
          </a:p>
          <a:p>
            <a:pPr indent="0" lvl="0" marL="0" marR="0" rtl="0" algn="just">
              <a:lnSpc>
                <a:spcPct val="176419"/>
              </a:lnSpc>
              <a:spcBef>
                <a:spcPts val="0"/>
              </a:spcBef>
              <a:spcAft>
                <a:spcPts val="0"/>
              </a:spcAft>
              <a:buClr>
                <a:srgbClr val="000000"/>
              </a:buClr>
              <a:buSzPts val="1200"/>
              <a:buFont typeface="Arial"/>
              <a:buNone/>
            </a:pPr>
            <a:r>
              <a:t/>
            </a:r>
            <a:endParaRPr b="0" i="0" sz="1200" u="none" cap="none" strike="noStrike">
              <a:solidFill>
                <a:srgbClr val="021828"/>
              </a:solidFill>
              <a:latin typeface="Arial"/>
              <a:ea typeface="Arial"/>
              <a:cs typeface="Arial"/>
              <a:sym typeface="Arial"/>
            </a:endParaRPr>
          </a:p>
          <a:p>
            <a:pPr indent="0" lvl="0" marL="0" marR="0" rtl="0" algn="just">
              <a:lnSpc>
                <a:spcPct val="176419"/>
              </a:lnSpc>
              <a:spcBef>
                <a:spcPts val="0"/>
              </a:spcBef>
              <a:spcAft>
                <a:spcPts val="0"/>
              </a:spcAft>
              <a:buClr>
                <a:srgbClr val="000000"/>
              </a:buClr>
              <a:buSzPts val="1200"/>
              <a:buFont typeface="Arial"/>
              <a:buNone/>
            </a:pPr>
            <a:r>
              <a:t/>
            </a:r>
            <a:endParaRPr b="0" i="0" sz="1200" u="none" cap="none" strike="noStrike">
              <a:solidFill>
                <a:srgbClr val="021828"/>
              </a:solidFill>
              <a:latin typeface="Arial"/>
              <a:ea typeface="Arial"/>
              <a:cs typeface="Arial"/>
              <a:sym typeface="Arial"/>
            </a:endParaRPr>
          </a:p>
        </p:txBody>
      </p:sp>
      <p:sp>
        <p:nvSpPr>
          <p:cNvPr id="378" name="Google Shape;378;p14"/>
          <p:cNvSpPr txBox="1"/>
          <p:nvPr/>
        </p:nvSpPr>
        <p:spPr>
          <a:xfrm>
            <a:off x="4986452" y="3913136"/>
            <a:ext cx="3700249" cy="1230364"/>
          </a:xfrm>
          <a:prstGeom prst="rect">
            <a:avLst/>
          </a:prstGeom>
          <a:noFill/>
          <a:ln>
            <a:noFill/>
          </a:ln>
        </p:spPr>
        <p:txBody>
          <a:bodyPr anchorCtr="0" anchor="t" bIns="0" lIns="0" spcFirstLastPara="1" rIns="0" wrap="square" tIns="0">
            <a:spAutoFit/>
          </a:bodyPr>
          <a:lstStyle/>
          <a:p>
            <a:pPr indent="0" lvl="0" marL="0" marR="0" rtl="0" algn="just">
              <a:lnSpc>
                <a:spcPct val="139965"/>
              </a:lnSpc>
              <a:spcBef>
                <a:spcPts val="0"/>
              </a:spcBef>
              <a:spcAft>
                <a:spcPts val="0"/>
              </a:spcAft>
              <a:buClr>
                <a:srgbClr val="000000"/>
              </a:buClr>
              <a:buSzPts val="1200"/>
              <a:buFont typeface="Arial"/>
              <a:buNone/>
            </a:pPr>
            <a:r>
              <a:rPr b="1" i="0" lang="en" sz="1200" u="none" cap="none" strike="noStrike">
                <a:solidFill>
                  <a:srgbClr val="021828"/>
                </a:solidFill>
                <a:latin typeface="Arial"/>
                <a:ea typeface="Arial"/>
                <a:cs typeface="Arial"/>
                <a:sym typeface="Arial"/>
              </a:rPr>
              <a:t>GNN</a:t>
            </a:r>
            <a:endParaRPr b="0" i="0" sz="700" u="none" cap="none" strike="noStrike">
              <a:solidFill>
                <a:srgbClr val="000000"/>
              </a:solidFill>
              <a:latin typeface="Arial"/>
              <a:ea typeface="Arial"/>
              <a:cs typeface="Arial"/>
              <a:sym typeface="Arial"/>
            </a:endParaRPr>
          </a:p>
          <a:p>
            <a:pPr indent="0" lvl="0" marL="0" marR="0" rtl="0" algn="just">
              <a:lnSpc>
                <a:spcPct val="139965"/>
              </a:lnSpc>
              <a:spcBef>
                <a:spcPts val="0"/>
              </a:spcBef>
              <a:spcAft>
                <a:spcPts val="0"/>
              </a:spcAft>
              <a:buClr>
                <a:srgbClr val="000000"/>
              </a:buClr>
              <a:buSzPts val="1200"/>
              <a:buFont typeface="Arial"/>
              <a:buNone/>
            </a:pPr>
            <a:r>
              <a:rPr b="0" i="0" lang="en" sz="1200" u="none" cap="none" strike="noStrike">
                <a:solidFill>
                  <a:srgbClr val="021828"/>
                </a:solidFill>
                <a:latin typeface="Arial"/>
                <a:ea typeface="Arial"/>
                <a:cs typeface="Arial"/>
                <a:sym typeface="Arial"/>
              </a:rPr>
              <a:t>58%</a:t>
            </a:r>
            <a:endParaRPr b="0" i="0" sz="700" u="none" cap="none" strike="noStrike">
              <a:solidFill>
                <a:srgbClr val="000000"/>
              </a:solidFill>
              <a:latin typeface="Arial"/>
              <a:ea typeface="Arial"/>
              <a:cs typeface="Arial"/>
              <a:sym typeface="Arial"/>
            </a:endParaRPr>
          </a:p>
          <a:p>
            <a:pPr indent="-114300" lvl="1" marL="228600" marR="0" rtl="0" algn="just">
              <a:lnSpc>
                <a:spcPct val="139990"/>
              </a:lnSpc>
              <a:spcBef>
                <a:spcPts val="0"/>
              </a:spcBef>
              <a:spcAft>
                <a:spcPts val="0"/>
              </a:spcAft>
              <a:buClr>
                <a:srgbClr val="021828"/>
              </a:buClr>
              <a:buSzPts val="1000"/>
              <a:buFont typeface="Arial"/>
              <a:buChar char="•"/>
            </a:pPr>
            <a:r>
              <a:rPr b="0" i="0" lang="en" sz="1000" u="none" cap="none" strike="noStrike">
                <a:solidFill>
                  <a:srgbClr val="021828"/>
                </a:solidFill>
                <a:latin typeface="Arial"/>
                <a:ea typeface="Arial"/>
                <a:cs typeface="Arial"/>
                <a:sym typeface="Arial"/>
              </a:rPr>
              <a:t>Used Cosine similarity to build the edges (find close nodes), the </a:t>
            </a:r>
            <a:r>
              <a:rPr b="0" i="0" lang="en" sz="1000" u="sng" cap="none" strike="noStrike">
                <a:solidFill>
                  <a:schemeClr val="hlink"/>
                </a:solidFill>
                <a:latin typeface="Arial"/>
                <a:ea typeface="Arial"/>
                <a:cs typeface="Arial"/>
                <a:sym typeface="Arial"/>
                <a:hlinkClick r:id="rId8"/>
              </a:rPr>
              <a:t>winner</a:t>
            </a:r>
            <a:r>
              <a:rPr b="0" i="0" lang="en" sz="1000" u="none" cap="none" strike="noStrike">
                <a:solidFill>
                  <a:srgbClr val="021828"/>
                </a:solidFill>
                <a:latin typeface="Arial"/>
                <a:ea typeface="Arial"/>
                <a:cs typeface="Arial"/>
                <a:sym typeface="Arial"/>
              </a:rPr>
              <a:t> used KNN</a:t>
            </a:r>
            <a:endParaRPr b="0" i="0" sz="700" u="none" cap="none" strike="noStrike">
              <a:solidFill>
                <a:srgbClr val="000000"/>
              </a:solidFill>
              <a:latin typeface="Arial"/>
              <a:ea typeface="Arial"/>
              <a:cs typeface="Arial"/>
              <a:sym typeface="Arial"/>
            </a:endParaRPr>
          </a:p>
          <a:p>
            <a:pPr indent="0" lvl="0" marL="0" marR="0" rtl="0" algn="just">
              <a:lnSpc>
                <a:spcPct val="176402"/>
              </a:lnSpc>
              <a:spcBef>
                <a:spcPts val="0"/>
              </a:spcBef>
              <a:spcAft>
                <a:spcPts val="0"/>
              </a:spcAft>
              <a:buClr>
                <a:srgbClr val="000000"/>
              </a:buClr>
              <a:buSzPts val="1000"/>
              <a:buFont typeface="Arial"/>
              <a:buNone/>
            </a:pPr>
            <a:r>
              <a:t/>
            </a:r>
            <a:endParaRPr b="0" i="0" sz="1000" u="none" cap="none" strike="noStrike">
              <a:solidFill>
                <a:srgbClr val="021828"/>
              </a:solidFill>
              <a:latin typeface="Arial"/>
              <a:ea typeface="Arial"/>
              <a:cs typeface="Arial"/>
              <a:sym typeface="Arial"/>
            </a:endParaRPr>
          </a:p>
          <a:p>
            <a:pPr indent="0" lvl="0" marL="0" marR="0" rtl="0" algn="just">
              <a:lnSpc>
                <a:spcPct val="176402"/>
              </a:lnSpc>
              <a:spcBef>
                <a:spcPts val="0"/>
              </a:spcBef>
              <a:spcAft>
                <a:spcPts val="0"/>
              </a:spcAft>
              <a:buClr>
                <a:srgbClr val="000000"/>
              </a:buClr>
              <a:buSzPts val="1000"/>
              <a:buFont typeface="Arial"/>
              <a:buNone/>
            </a:pPr>
            <a:r>
              <a:t/>
            </a:r>
            <a:endParaRPr b="0" i="0" sz="1000" u="none" cap="none" strike="noStrike">
              <a:solidFill>
                <a:srgbClr val="021828"/>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15"/>
          <p:cNvSpPr/>
          <p:nvPr/>
        </p:nvSpPr>
        <p:spPr>
          <a:xfrm>
            <a:off x="4890233" y="514350"/>
            <a:ext cx="1538229" cy="1538229"/>
          </a:xfrm>
          <a:custGeom>
            <a:rect b="b" l="l" r="r" t="t"/>
            <a:pathLst>
              <a:path extrusionOk="0" h="3076459" w="3076459">
                <a:moveTo>
                  <a:pt x="0" y="0"/>
                </a:moveTo>
                <a:lnTo>
                  <a:pt x="3076459" y="0"/>
                </a:lnTo>
                <a:lnTo>
                  <a:pt x="3076459" y="3076459"/>
                </a:lnTo>
                <a:lnTo>
                  <a:pt x="0" y="3076459"/>
                </a:lnTo>
                <a:lnTo>
                  <a:pt x="0" y="0"/>
                </a:lnTo>
                <a:close/>
              </a:path>
            </a:pathLst>
          </a:custGeom>
          <a:blipFill rotWithShape="1">
            <a:blip r:embed="rId3">
              <a:alphaModFix/>
            </a:blip>
            <a:stretch>
              <a:fillRect b="0" l="0" r="0" t="0"/>
            </a:stretch>
          </a:blipFill>
          <a:ln>
            <a:noFill/>
          </a:ln>
        </p:spPr>
      </p:sp>
      <p:grpSp>
        <p:nvGrpSpPr>
          <p:cNvPr id="384" name="Google Shape;384;p15"/>
          <p:cNvGrpSpPr/>
          <p:nvPr/>
        </p:nvGrpSpPr>
        <p:grpSpPr>
          <a:xfrm>
            <a:off x="5907584" y="1332070"/>
            <a:ext cx="2764553" cy="3811430"/>
            <a:chOff x="0" y="-47625"/>
            <a:chExt cx="1456225" cy="2007667"/>
          </a:xfrm>
        </p:grpSpPr>
        <p:sp>
          <p:nvSpPr>
            <p:cNvPr id="385" name="Google Shape;385;p15"/>
            <p:cNvSpPr/>
            <p:nvPr/>
          </p:nvSpPr>
          <p:spPr>
            <a:xfrm>
              <a:off x="0" y="0"/>
              <a:ext cx="1456225" cy="1960042"/>
            </a:xfrm>
            <a:custGeom>
              <a:rect b="b" l="l" r="r" t="t"/>
              <a:pathLst>
                <a:path extrusionOk="0" h="1960042" w="1456225">
                  <a:moveTo>
                    <a:pt x="0" y="0"/>
                  </a:moveTo>
                  <a:lnTo>
                    <a:pt x="1456225" y="0"/>
                  </a:lnTo>
                  <a:lnTo>
                    <a:pt x="1456225" y="1960042"/>
                  </a:lnTo>
                  <a:lnTo>
                    <a:pt x="0" y="1960042"/>
                  </a:lnTo>
                  <a:close/>
                </a:path>
              </a:pathLst>
            </a:custGeom>
            <a:solidFill>
              <a:srgbClr val="E1EDFC"/>
            </a:solidFill>
            <a:ln>
              <a:noFill/>
            </a:ln>
          </p:spPr>
        </p:sp>
        <p:sp>
          <p:nvSpPr>
            <p:cNvPr id="386" name="Google Shape;386;p15"/>
            <p:cNvSpPr txBox="1"/>
            <p:nvPr/>
          </p:nvSpPr>
          <p:spPr>
            <a:xfrm>
              <a:off x="0" y="-47625"/>
              <a:ext cx="1456225" cy="2007667"/>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87" name="Google Shape;387;p15"/>
          <p:cNvSpPr txBox="1"/>
          <p:nvPr/>
        </p:nvSpPr>
        <p:spPr>
          <a:xfrm>
            <a:off x="624040" y="1085436"/>
            <a:ext cx="4104300" cy="41991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100"/>
              <a:buFont typeface="Arial"/>
              <a:buNone/>
            </a:pPr>
            <a:r>
              <a:rPr b="1" i="0" lang="en" sz="1100" u="none" cap="none" strike="noStrike">
                <a:solidFill>
                  <a:srgbClr val="021828"/>
                </a:solidFill>
                <a:latin typeface="Arial"/>
                <a:ea typeface="Arial"/>
                <a:cs typeface="Arial"/>
                <a:sym typeface="Arial"/>
              </a:rPr>
              <a:t>Predicted Risk Scores:</a:t>
            </a:r>
            <a:endParaRPr b="0" i="0" sz="500" u="none" cap="none" strike="noStrike">
              <a:solidFill>
                <a:srgbClr val="000000"/>
              </a:solidFill>
              <a:latin typeface="Arial"/>
              <a:ea typeface="Arial"/>
              <a:cs typeface="Arial"/>
              <a:sym typeface="Arial"/>
            </a:endParaRPr>
          </a:p>
          <a:p>
            <a:pPr indent="-120650" lvl="1" marL="266700" marR="0" rtl="0" algn="just">
              <a:lnSpc>
                <a:spcPct val="140000"/>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Patients with higher predicted risk scores showed a tendency towards worse survival outcomes.</a:t>
            </a:r>
            <a:endParaRPr b="0" i="0" sz="5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100"/>
              <a:buFont typeface="Arial"/>
              <a:buNone/>
            </a:pPr>
            <a:r>
              <a:t/>
            </a:r>
            <a:endParaRPr b="1" i="0" sz="1100" u="none" cap="none" strike="noStrike">
              <a:solidFill>
                <a:srgbClr val="021828"/>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100"/>
              <a:buFont typeface="Arial"/>
              <a:buNone/>
            </a:pPr>
            <a:r>
              <a:rPr b="1" i="0" lang="en" sz="1100" u="none" cap="none" strike="noStrike">
                <a:solidFill>
                  <a:srgbClr val="021828"/>
                </a:solidFill>
                <a:latin typeface="Arial"/>
                <a:ea typeface="Arial"/>
                <a:cs typeface="Arial"/>
                <a:sym typeface="Arial"/>
              </a:rPr>
              <a:t>Median Survival Time: </a:t>
            </a:r>
            <a:endParaRPr b="0" i="0" sz="500" u="none" cap="none" strike="noStrike">
              <a:solidFill>
                <a:srgbClr val="000000"/>
              </a:solidFill>
              <a:latin typeface="Arial"/>
              <a:ea typeface="Arial"/>
              <a:cs typeface="Arial"/>
              <a:sym typeface="Arial"/>
            </a:endParaRPr>
          </a:p>
          <a:p>
            <a:pPr indent="-120650" lvl="1" marL="266700" marR="0" rtl="0" algn="just">
              <a:lnSpc>
                <a:spcPct val="140000"/>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9.98 months, highlighting a critical threshold for patient survival following HCT.</a:t>
            </a:r>
            <a:endParaRPr b="0" i="0" sz="5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100"/>
              <a:buFont typeface="Arial"/>
              <a:buNone/>
            </a:pPr>
            <a:r>
              <a:t/>
            </a:r>
            <a:endParaRPr b="1" i="0" sz="1100" u="none" cap="none" strike="noStrike">
              <a:solidFill>
                <a:srgbClr val="021828"/>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100"/>
              <a:buFont typeface="Arial"/>
              <a:buNone/>
            </a:pPr>
            <a:r>
              <a:rPr b="1" i="0" lang="en" sz="1100" u="none" cap="none" strike="noStrike">
                <a:solidFill>
                  <a:srgbClr val="021828"/>
                </a:solidFill>
                <a:latin typeface="Arial"/>
                <a:ea typeface="Arial"/>
                <a:cs typeface="Arial"/>
                <a:sym typeface="Arial"/>
              </a:rPr>
              <a:t>Model Sensitivity: </a:t>
            </a:r>
            <a:endParaRPr b="0" i="0" sz="500" u="none" cap="none" strike="noStrike">
              <a:solidFill>
                <a:srgbClr val="000000"/>
              </a:solidFill>
              <a:latin typeface="Arial"/>
              <a:ea typeface="Arial"/>
              <a:cs typeface="Arial"/>
              <a:sym typeface="Arial"/>
            </a:endParaRPr>
          </a:p>
          <a:p>
            <a:pPr indent="-120650" lvl="1" marL="266700" marR="0" rtl="0" algn="just">
              <a:lnSpc>
                <a:spcPct val="140000"/>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We were able to achieve ~66% accuracy with DeepSurv, ~66% accuracy with CoxPH and ~67% accuracy with XGBoost models</a:t>
            </a:r>
            <a:endParaRPr b="0" i="0" sz="5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100"/>
              <a:buFont typeface="Arial"/>
              <a:buNone/>
            </a:pPr>
            <a:r>
              <a:t/>
            </a:r>
            <a:endParaRPr b="1" i="0" sz="1100" u="none" cap="none" strike="noStrike">
              <a:solidFill>
                <a:srgbClr val="021828"/>
              </a:solidFill>
              <a:latin typeface="Arial"/>
              <a:ea typeface="Arial"/>
              <a:cs typeface="Arial"/>
              <a:sym typeface="Arial"/>
            </a:endParaRPr>
          </a:p>
          <a:p>
            <a:pPr indent="-120650" lvl="1" marL="266700" marR="0" rtl="0" algn="just">
              <a:lnSpc>
                <a:spcPct val="140000"/>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While the C-index of 0.67 suggests moderate accuracy, there is room for improvement. Future iterations could explore model tuning or the inclusion of additional data to refine predictions.</a:t>
            </a:r>
            <a:endParaRPr b="0" i="0" sz="5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100"/>
              <a:buFont typeface="Arial"/>
              <a:buNone/>
            </a:pPr>
            <a:r>
              <a:t/>
            </a:r>
            <a:endParaRPr b="1" i="0" sz="1100" u="none" cap="none" strike="noStrike">
              <a:solidFill>
                <a:srgbClr val="021828"/>
              </a:solidFill>
              <a:latin typeface="Arial"/>
              <a:ea typeface="Arial"/>
              <a:cs typeface="Arial"/>
              <a:sym typeface="Arial"/>
            </a:endParaRPr>
          </a:p>
        </p:txBody>
      </p:sp>
      <p:sp>
        <p:nvSpPr>
          <p:cNvPr id="388" name="Google Shape;388;p15"/>
          <p:cNvSpPr txBox="1"/>
          <p:nvPr/>
        </p:nvSpPr>
        <p:spPr>
          <a:xfrm>
            <a:off x="1083517" y="438150"/>
            <a:ext cx="4904117" cy="984334"/>
          </a:xfrm>
          <a:prstGeom prst="rect">
            <a:avLst/>
          </a:prstGeom>
          <a:noFill/>
          <a:ln>
            <a:noFill/>
          </a:ln>
        </p:spPr>
        <p:txBody>
          <a:bodyPr anchorCtr="0" anchor="t" bIns="0" lIns="0" spcFirstLastPara="1" rIns="0" wrap="square" tIns="0">
            <a:spAutoFit/>
          </a:bodyPr>
          <a:lstStyle/>
          <a:p>
            <a:pPr indent="0" lvl="0" marL="0" marR="0" rtl="0" algn="l">
              <a:lnSpc>
                <a:spcPct val="126998"/>
              </a:lnSpc>
              <a:spcBef>
                <a:spcPts val="0"/>
              </a:spcBef>
              <a:spcAft>
                <a:spcPts val="0"/>
              </a:spcAft>
              <a:buClr>
                <a:srgbClr val="000000"/>
              </a:buClr>
              <a:buSzPts val="2900"/>
              <a:buFont typeface="Arial"/>
              <a:buNone/>
            </a:pPr>
            <a:r>
              <a:rPr b="1" i="0" lang="en" sz="2900" u="none" cap="none" strike="noStrike">
                <a:solidFill>
                  <a:srgbClr val="0E2F5F"/>
                </a:solidFill>
                <a:latin typeface="Arial"/>
                <a:ea typeface="Arial"/>
                <a:cs typeface="Arial"/>
                <a:sym typeface="Arial"/>
              </a:rPr>
              <a:t>Prediction and Analysis </a:t>
            </a:r>
            <a:endParaRPr b="0" i="0" sz="700" u="none" cap="none" strike="noStrike">
              <a:solidFill>
                <a:srgbClr val="000000"/>
              </a:solidFill>
              <a:latin typeface="Arial"/>
              <a:ea typeface="Arial"/>
              <a:cs typeface="Arial"/>
              <a:sym typeface="Arial"/>
            </a:endParaRPr>
          </a:p>
          <a:p>
            <a:pPr indent="0" lvl="0" marL="0" marR="0" rtl="0" algn="l">
              <a:lnSpc>
                <a:spcPct val="126998"/>
              </a:lnSpc>
              <a:spcBef>
                <a:spcPts val="0"/>
              </a:spcBef>
              <a:spcAft>
                <a:spcPts val="0"/>
              </a:spcAft>
              <a:buClr>
                <a:srgbClr val="000000"/>
              </a:buClr>
              <a:buSzPts val="2900"/>
              <a:buFont typeface="Arial"/>
              <a:buNone/>
            </a:pPr>
            <a:r>
              <a:t/>
            </a:r>
            <a:endParaRPr b="1" i="0" sz="2900" u="none" cap="none" strike="noStrike">
              <a:solidFill>
                <a:srgbClr val="0E2F5F"/>
              </a:solidFill>
              <a:latin typeface="Arial"/>
              <a:ea typeface="Arial"/>
              <a:cs typeface="Arial"/>
              <a:sym typeface="Arial"/>
            </a:endParaRPr>
          </a:p>
        </p:txBody>
      </p:sp>
      <p:sp>
        <p:nvSpPr>
          <p:cNvPr id="389" name="Google Shape;389;p15"/>
          <p:cNvSpPr/>
          <p:nvPr/>
        </p:nvSpPr>
        <p:spPr>
          <a:xfrm>
            <a:off x="208094" y="153298"/>
            <a:ext cx="645774" cy="645774"/>
          </a:xfrm>
          <a:custGeom>
            <a:rect b="b" l="l" r="r" t="t"/>
            <a:pathLst>
              <a:path extrusionOk="0" h="1291547" w="1291547">
                <a:moveTo>
                  <a:pt x="0" y="0"/>
                </a:moveTo>
                <a:lnTo>
                  <a:pt x="1291547" y="0"/>
                </a:lnTo>
                <a:lnTo>
                  <a:pt x="1291547" y="1291547"/>
                </a:lnTo>
                <a:lnTo>
                  <a:pt x="0" y="1291547"/>
                </a:lnTo>
                <a:lnTo>
                  <a:pt x="0" y="0"/>
                </a:lnTo>
                <a:close/>
              </a:path>
            </a:pathLst>
          </a:custGeom>
          <a:blipFill rotWithShape="1">
            <a:blip r:embed="rId4">
              <a:alphaModFix/>
            </a:blip>
            <a:stretch>
              <a:fillRect b="0" l="0" r="0" t="0"/>
            </a:stretch>
          </a:blipFill>
          <a:ln>
            <a:noFill/>
          </a:ln>
        </p:spPr>
      </p:sp>
      <p:sp>
        <p:nvSpPr>
          <p:cNvPr id="390" name="Google Shape;390;p15"/>
          <p:cNvSpPr/>
          <p:nvPr/>
        </p:nvSpPr>
        <p:spPr>
          <a:xfrm>
            <a:off x="5607802" y="564267"/>
            <a:ext cx="759664" cy="234805"/>
          </a:xfrm>
          <a:custGeom>
            <a:rect b="b" l="l" r="r" t="t"/>
            <a:pathLst>
              <a:path extrusionOk="0" h="469610" w="1519327">
                <a:moveTo>
                  <a:pt x="0" y="0"/>
                </a:moveTo>
                <a:lnTo>
                  <a:pt x="1519327" y="0"/>
                </a:lnTo>
                <a:lnTo>
                  <a:pt x="1519327" y="469610"/>
                </a:lnTo>
                <a:lnTo>
                  <a:pt x="0" y="469610"/>
                </a:lnTo>
                <a:lnTo>
                  <a:pt x="0" y="0"/>
                </a:lnTo>
                <a:close/>
              </a:path>
            </a:pathLst>
          </a:custGeom>
          <a:blipFill rotWithShape="1">
            <a:blip r:embed="rId5">
              <a:alphaModFix/>
            </a:blip>
            <a:stretch>
              <a:fillRect b="0" l="0" r="0" t="0"/>
            </a:stretch>
          </a:blipFill>
          <a:ln>
            <a:noFill/>
          </a:ln>
        </p:spPr>
      </p:sp>
      <p:sp>
        <p:nvSpPr>
          <p:cNvPr id="391" name="Google Shape;391;p15"/>
          <p:cNvSpPr/>
          <p:nvPr/>
        </p:nvSpPr>
        <p:spPr>
          <a:xfrm>
            <a:off x="8249818" y="5025610"/>
            <a:ext cx="759663" cy="234805"/>
          </a:xfrm>
          <a:custGeom>
            <a:rect b="b" l="l" r="r" t="t"/>
            <a:pathLst>
              <a:path extrusionOk="0" h="469610" w="1519327">
                <a:moveTo>
                  <a:pt x="0" y="0"/>
                </a:moveTo>
                <a:lnTo>
                  <a:pt x="1519328" y="0"/>
                </a:lnTo>
                <a:lnTo>
                  <a:pt x="1519328" y="469610"/>
                </a:lnTo>
                <a:lnTo>
                  <a:pt x="0" y="469610"/>
                </a:lnTo>
                <a:lnTo>
                  <a:pt x="0" y="0"/>
                </a:lnTo>
                <a:close/>
              </a:path>
            </a:pathLst>
          </a:custGeom>
          <a:blipFill rotWithShape="1">
            <a:blip r:embed="rId5">
              <a:alphaModFix/>
            </a:blip>
            <a:stretch>
              <a:fillRect b="0" l="0" r="0" t="0"/>
            </a:stretch>
          </a:blipFill>
          <a:ln>
            <a:noFill/>
          </a:ln>
        </p:spPr>
      </p:sp>
      <p:grpSp>
        <p:nvGrpSpPr>
          <p:cNvPr id="392" name="Google Shape;392;p15"/>
          <p:cNvGrpSpPr/>
          <p:nvPr/>
        </p:nvGrpSpPr>
        <p:grpSpPr>
          <a:xfrm>
            <a:off x="624040" y="514350"/>
            <a:ext cx="334639" cy="334639"/>
            <a:chOff x="0" y="0"/>
            <a:chExt cx="812800" cy="812800"/>
          </a:xfrm>
        </p:grpSpPr>
        <p:sp>
          <p:nvSpPr>
            <p:cNvPr id="393" name="Google Shape;393;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15"/>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95" name="Google Shape;395;p15"/>
          <p:cNvSpPr/>
          <p:nvPr/>
        </p:nvSpPr>
        <p:spPr>
          <a:xfrm rot="5400000">
            <a:off x="728850" y="617599"/>
            <a:ext cx="125019" cy="125018"/>
          </a:xfrm>
          <a:custGeom>
            <a:rect b="b" l="l" r="r" t="t"/>
            <a:pathLst>
              <a:path extrusionOk="0" h="250037" w="250037">
                <a:moveTo>
                  <a:pt x="0" y="0"/>
                </a:moveTo>
                <a:lnTo>
                  <a:pt x="250037" y="0"/>
                </a:lnTo>
                <a:lnTo>
                  <a:pt x="250037" y="250037"/>
                </a:lnTo>
                <a:lnTo>
                  <a:pt x="0" y="250037"/>
                </a:lnTo>
                <a:lnTo>
                  <a:pt x="0" y="0"/>
                </a:lnTo>
                <a:close/>
              </a:path>
            </a:pathLst>
          </a:custGeom>
          <a:blipFill rotWithShape="1">
            <a:blip r:embed="rId6">
              <a:alphaModFix/>
            </a:blip>
            <a:stretch>
              <a:fillRect b="0" l="0" r="0" t="0"/>
            </a:stretch>
          </a:blipFill>
          <a:ln>
            <a:noFill/>
          </a:ln>
        </p:spPr>
      </p:sp>
      <p:sp>
        <p:nvSpPr>
          <p:cNvPr id="396" name="Google Shape;396;p15"/>
          <p:cNvSpPr/>
          <p:nvPr/>
        </p:nvSpPr>
        <p:spPr>
          <a:xfrm>
            <a:off x="5607802" y="1178941"/>
            <a:ext cx="2850487" cy="3781740"/>
          </a:xfrm>
          <a:custGeom>
            <a:rect b="b" l="l" r="r" t="t"/>
            <a:pathLst>
              <a:path extrusionOk="0" h="7563480" w="5700973">
                <a:moveTo>
                  <a:pt x="0" y="0"/>
                </a:moveTo>
                <a:lnTo>
                  <a:pt x="5700973" y="0"/>
                </a:lnTo>
                <a:lnTo>
                  <a:pt x="5700973" y="7563480"/>
                </a:lnTo>
                <a:lnTo>
                  <a:pt x="0" y="7563480"/>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grpSp>
        <p:nvGrpSpPr>
          <p:cNvPr id="401" name="Google Shape;401;p16"/>
          <p:cNvGrpSpPr/>
          <p:nvPr/>
        </p:nvGrpSpPr>
        <p:grpSpPr>
          <a:xfrm>
            <a:off x="8046351" y="1850223"/>
            <a:ext cx="1749878" cy="3382560"/>
            <a:chOff x="0" y="-47625"/>
            <a:chExt cx="1079239" cy="1847485"/>
          </a:xfrm>
        </p:grpSpPr>
        <p:sp>
          <p:nvSpPr>
            <p:cNvPr id="402" name="Google Shape;402;p16"/>
            <p:cNvSpPr/>
            <p:nvPr/>
          </p:nvSpPr>
          <p:spPr>
            <a:xfrm>
              <a:off x="0" y="0"/>
              <a:ext cx="1079239" cy="1799860"/>
            </a:xfrm>
            <a:custGeom>
              <a:rect b="b" l="l" r="r" t="t"/>
              <a:pathLst>
                <a:path extrusionOk="0" h="1799860" w="1079239">
                  <a:moveTo>
                    <a:pt x="0" y="0"/>
                  </a:moveTo>
                  <a:lnTo>
                    <a:pt x="1079239" y="0"/>
                  </a:lnTo>
                  <a:lnTo>
                    <a:pt x="1079239" y="1799860"/>
                  </a:lnTo>
                  <a:lnTo>
                    <a:pt x="0" y="1799860"/>
                  </a:lnTo>
                  <a:close/>
                </a:path>
              </a:pathLst>
            </a:custGeom>
            <a:solidFill>
              <a:srgbClr val="E1EDFC"/>
            </a:solidFill>
            <a:ln>
              <a:noFill/>
            </a:ln>
          </p:spPr>
        </p:sp>
        <p:sp>
          <p:nvSpPr>
            <p:cNvPr id="403" name="Google Shape;403;p16"/>
            <p:cNvSpPr txBox="1"/>
            <p:nvPr/>
          </p:nvSpPr>
          <p:spPr>
            <a:xfrm>
              <a:off x="0" y="-47625"/>
              <a:ext cx="1079239" cy="184748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404" name="Google Shape;404;p16"/>
          <p:cNvSpPr/>
          <p:nvPr/>
        </p:nvSpPr>
        <p:spPr>
          <a:xfrm>
            <a:off x="7399325" y="1238550"/>
            <a:ext cx="1554480" cy="1643888"/>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3">
              <a:alphaModFix/>
            </a:blip>
            <a:stretch>
              <a:fillRect b="0" l="0" r="0" t="0"/>
            </a:stretch>
          </a:blip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16"/>
          <p:cNvSpPr/>
          <p:nvPr/>
        </p:nvSpPr>
        <p:spPr>
          <a:xfrm>
            <a:off x="-34278" y="-58280"/>
            <a:ext cx="645774" cy="645774"/>
          </a:xfrm>
          <a:custGeom>
            <a:rect b="b" l="l" r="r" t="t"/>
            <a:pathLst>
              <a:path extrusionOk="0" h="1291547" w="1291547">
                <a:moveTo>
                  <a:pt x="0" y="0"/>
                </a:moveTo>
                <a:lnTo>
                  <a:pt x="1291548" y="0"/>
                </a:lnTo>
                <a:lnTo>
                  <a:pt x="1291548" y="1291547"/>
                </a:lnTo>
                <a:lnTo>
                  <a:pt x="0" y="1291547"/>
                </a:lnTo>
                <a:lnTo>
                  <a:pt x="0" y="0"/>
                </a:lnTo>
                <a:close/>
              </a:path>
            </a:pathLst>
          </a:custGeom>
          <a:blipFill rotWithShape="1">
            <a:blip r:embed="rId4">
              <a:alphaModFix/>
            </a:blip>
            <a:stretch>
              <a:fillRect b="0" l="0" r="0" t="0"/>
            </a:stretch>
          </a:blipFill>
          <a:ln>
            <a:noFill/>
          </a:ln>
        </p:spPr>
      </p:sp>
      <p:sp>
        <p:nvSpPr>
          <p:cNvPr id="406" name="Google Shape;406;p16"/>
          <p:cNvSpPr txBox="1"/>
          <p:nvPr/>
        </p:nvSpPr>
        <p:spPr>
          <a:xfrm>
            <a:off x="288609" y="178882"/>
            <a:ext cx="6044461" cy="1104583"/>
          </a:xfrm>
          <a:prstGeom prst="rect">
            <a:avLst/>
          </a:prstGeom>
          <a:noFill/>
          <a:ln>
            <a:noFill/>
          </a:ln>
        </p:spPr>
        <p:txBody>
          <a:bodyPr anchorCtr="0" anchor="t" bIns="0" lIns="0" spcFirstLastPara="1" rIns="0" wrap="square" tIns="0">
            <a:spAutoFit/>
          </a:bodyPr>
          <a:lstStyle/>
          <a:p>
            <a:pPr indent="0" lvl="0" marL="0" marR="0" rtl="0" algn="l">
              <a:lnSpc>
                <a:spcPct val="127004"/>
              </a:lnSpc>
              <a:spcBef>
                <a:spcPts val="0"/>
              </a:spcBef>
              <a:spcAft>
                <a:spcPts val="0"/>
              </a:spcAft>
              <a:buClr>
                <a:srgbClr val="000000"/>
              </a:buClr>
              <a:buSzPts val="3200"/>
              <a:buFont typeface="Arial"/>
              <a:buNone/>
            </a:pPr>
            <a:r>
              <a:rPr b="1" i="0" lang="en" sz="3200" u="none" cap="none" strike="noStrike">
                <a:solidFill>
                  <a:srgbClr val="0E2F5F"/>
                </a:solidFill>
                <a:latin typeface="Arial"/>
                <a:ea typeface="Arial"/>
                <a:cs typeface="Arial"/>
                <a:sym typeface="Arial"/>
              </a:rPr>
              <a:t>Challenges and Limitations</a:t>
            </a:r>
            <a:endParaRPr b="0" i="0" sz="700" u="none" cap="none" strike="noStrike">
              <a:solidFill>
                <a:srgbClr val="000000"/>
              </a:solidFill>
              <a:latin typeface="Arial"/>
              <a:ea typeface="Arial"/>
              <a:cs typeface="Arial"/>
              <a:sym typeface="Arial"/>
            </a:endParaRPr>
          </a:p>
          <a:p>
            <a:pPr indent="0" lvl="0" marL="0" marR="0" rtl="0" algn="l">
              <a:lnSpc>
                <a:spcPct val="127004"/>
              </a:lnSpc>
              <a:spcBef>
                <a:spcPts val="0"/>
              </a:spcBef>
              <a:spcAft>
                <a:spcPts val="0"/>
              </a:spcAft>
              <a:buClr>
                <a:srgbClr val="000000"/>
              </a:buClr>
              <a:buSzPts val="3200"/>
              <a:buFont typeface="Arial"/>
              <a:buNone/>
            </a:pPr>
            <a:r>
              <a:t/>
            </a:r>
            <a:endParaRPr b="1" i="0" sz="3200" u="none" cap="none" strike="noStrike">
              <a:solidFill>
                <a:srgbClr val="0E2F5F"/>
              </a:solidFill>
              <a:latin typeface="Arial"/>
              <a:ea typeface="Arial"/>
              <a:cs typeface="Arial"/>
              <a:sym typeface="Arial"/>
            </a:endParaRPr>
          </a:p>
        </p:txBody>
      </p:sp>
      <p:sp>
        <p:nvSpPr>
          <p:cNvPr id="407" name="Google Shape;407;p16"/>
          <p:cNvSpPr/>
          <p:nvPr/>
        </p:nvSpPr>
        <p:spPr>
          <a:xfrm>
            <a:off x="6048631" y="396948"/>
            <a:ext cx="759663" cy="234805"/>
          </a:xfrm>
          <a:custGeom>
            <a:rect b="b" l="l" r="r" t="t"/>
            <a:pathLst>
              <a:path extrusionOk="0" h="469610" w="1519327">
                <a:moveTo>
                  <a:pt x="0" y="0"/>
                </a:moveTo>
                <a:lnTo>
                  <a:pt x="1519327" y="0"/>
                </a:lnTo>
                <a:lnTo>
                  <a:pt x="1519327" y="469610"/>
                </a:lnTo>
                <a:lnTo>
                  <a:pt x="0" y="469610"/>
                </a:lnTo>
                <a:lnTo>
                  <a:pt x="0" y="0"/>
                </a:lnTo>
                <a:close/>
              </a:path>
            </a:pathLst>
          </a:custGeom>
          <a:blipFill rotWithShape="1">
            <a:blip r:embed="rId5">
              <a:alphaModFix/>
            </a:blip>
            <a:stretch>
              <a:fillRect b="0" l="0" r="0" t="0"/>
            </a:stretch>
          </a:blipFill>
          <a:ln>
            <a:noFill/>
          </a:ln>
        </p:spPr>
      </p:sp>
      <p:sp>
        <p:nvSpPr>
          <p:cNvPr id="408" name="Google Shape;408;p16"/>
          <p:cNvSpPr txBox="1"/>
          <p:nvPr/>
        </p:nvSpPr>
        <p:spPr>
          <a:xfrm>
            <a:off x="557621" y="1054464"/>
            <a:ext cx="6049500" cy="40359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100"/>
              <a:buFont typeface="Arial"/>
              <a:buNone/>
            </a:pPr>
            <a:r>
              <a:rPr b="1" i="0" lang="en" sz="1100" u="none" cap="none" strike="noStrike">
                <a:solidFill>
                  <a:srgbClr val="021828"/>
                </a:solidFill>
                <a:latin typeface="Arial"/>
                <a:ea typeface="Arial"/>
                <a:cs typeface="Arial"/>
                <a:sym typeface="Arial"/>
              </a:rPr>
              <a:t>Data imbalance : Highly skewed </a:t>
            </a:r>
            <a:endParaRPr b="0" i="0" sz="500" u="none" cap="none" strike="noStrike">
              <a:solidFill>
                <a:srgbClr val="000000"/>
              </a:solidFill>
              <a:latin typeface="Arial"/>
              <a:ea typeface="Arial"/>
              <a:cs typeface="Arial"/>
              <a:sym typeface="Arial"/>
            </a:endParaRPr>
          </a:p>
          <a:p>
            <a:pPr indent="-120650" lvl="1" marL="266700" marR="0" rtl="0" algn="just">
              <a:lnSpc>
                <a:spcPct val="140000"/>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With most patients experiencing events within the first two years, making long-term survival predictions challenging</a:t>
            </a:r>
            <a:endParaRPr b="0" i="0" sz="5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100"/>
              <a:buFont typeface="Arial"/>
              <a:buNone/>
            </a:pPr>
            <a:r>
              <a:t/>
            </a:r>
            <a:endParaRPr b="1" i="0" sz="1100" u="none" cap="none" strike="noStrike">
              <a:solidFill>
                <a:srgbClr val="021828"/>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100"/>
              <a:buFont typeface="Arial"/>
              <a:buNone/>
            </a:pPr>
            <a:r>
              <a:rPr b="1" i="0" lang="en" sz="1100" u="none" cap="none" strike="noStrike">
                <a:solidFill>
                  <a:srgbClr val="021828"/>
                </a:solidFill>
                <a:latin typeface="Arial"/>
                <a:ea typeface="Arial"/>
                <a:cs typeface="Arial"/>
                <a:sym typeface="Arial"/>
              </a:rPr>
              <a:t>Need for external validation</a:t>
            </a:r>
            <a:endParaRPr b="0" i="0" sz="500" u="none" cap="none" strike="noStrike">
              <a:solidFill>
                <a:srgbClr val="000000"/>
              </a:solidFill>
              <a:latin typeface="Arial"/>
              <a:ea typeface="Arial"/>
              <a:cs typeface="Arial"/>
              <a:sym typeface="Arial"/>
            </a:endParaRPr>
          </a:p>
          <a:p>
            <a:pPr indent="-120650" lvl="1" marL="266700" marR="0" rtl="0" algn="just">
              <a:lnSpc>
                <a:spcPct val="140000"/>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The models are trained on a specific dataset and may not generalize well to different patient populations without further validation on external datasets.</a:t>
            </a:r>
            <a:endParaRPr b="0" i="0" sz="5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100"/>
              <a:buFont typeface="Arial"/>
              <a:buNone/>
            </a:pPr>
            <a:r>
              <a:t/>
            </a:r>
            <a:endParaRPr b="1" i="0" sz="1100" u="none" cap="none" strike="noStrike">
              <a:solidFill>
                <a:srgbClr val="021828"/>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100"/>
              <a:buFont typeface="Arial"/>
              <a:buNone/>
            </a:pPr>
            <a:r>
              <a:rPr b="1" i="0" lang="en" sz="1100" u="none" cap="none" strike="noStrike">
                <a:solidFill>
                  <a:srgbClr val="021828"/>
                </a:solidFill>
                <a:latin typeface="Arial"/>
                <a:ea typeface="Arial"/>
                <a:cs typeface="Arial"/>
                <a:sym typeface="Arial"/>
              </a:rPr>
              <a:t>Moderate Predictive Performance</a:t>
            </a:r>
            <a:endParaRPr b="0" i="0" sz="500" u="none" cap="none" strike="noStrike">
              <a:solidFill>
                <a:srgbClr val="000000"/>
              </a:solidFill>
              <a:latin typeface="Arial"/>
              <a:ea typeface="Arial"/>
              <a:cs typeface="Arial"/>
              <a:sym typeface="Arial"/>
            </a:endParaRPr>
          </a:p>
          <a:p>
            <a:pPr indent="-120650" lvl="1" marL="266700" marR="0" rtl="0" algn="just">
              <a:lnSpc>
                <a:spcPct val="140000"/>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With the average prediction score being ~0.66 between our models, leaves room for improvement</a:t>
            </a:r>
            <a:endParaRPr b="0" i="0" sz="5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100"/>
              <a:buFont typeface="Arial"/>
              <a:buNone/>
            </a:pPr>
            <a:r>
              <a:t/>
            </a:r>
            <a:endParaRPr b="1" i="0" sz="1100" u="none" cap="none" strike="noStrike">
              <a:solidFill>
                <a:srgbClr val="021828"/>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100"/>
              <a:buFont typeface="Arial"/>
              <a:buNone/>
            </a:pPr>
            <a:r>
              <a:rPr b="1" i="0" lang="en" sz="1100" u="none" cap="none" strike="noStrike">
                <a:solidFill>
                  <a:srgbClr val="021828"/>
                </a:solidFill>
                <a:latin typeface="Arial"/>
                <a:ea typeface="Arial"/>
                <a:cs typeface="Arial"/>
                <a:sym typeface="Arial"/>
              </a:rPr>
              <a:t>Domain Knowledge Limitations</a:t>
            </a:r>
            <a:endParaRPr b="0" i="0" sz="500" u="none" cap="none" strike="noStrike">
              <a:solidFill>
                <a:srgbClr val="000000"/>
              </a:solidFill>
              <a:latin typeface="Arial"/>
              <a:ea typeface="Arial"/>
              <a:cs typeface="Arial"/>
              <a:sym typeface="Arial"/>
            </a:endParaRPr>
          </a:p>
          <a:p>
            <a:pPr indent="-120650" lvl="1" marL="266700" marR="0" rtl="0" algn="just">
              <a:lnSpc>
                <a:spcPct val="140000"/>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Challenging to determine the most critical features for survival prediction and interpret complex medical variables effectively</a:t>
            </a:r>
            <a:endParaRPr b="0" i="0" sz="5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300"/>
              <a:buFont typeface="Arial"/>
              <a:buNone/>
            </a:pPr>
            <a:r>
              <a:t/>
            </a:r>
            <a:endParaRPr b="1" i="0" sz="1300" u="none" cap="none" strike="noStrike">
              <a:solidFill>
                <a:srgbClr val="021828"/>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300"/>
              <a:buFont typeface="Arial"/>
              <a:buNone/>
            </a:pPr>
            <a:r>
              <a:t/>
            </a:r>
            <a:endParaRPr b="1" i="0" sz="1300" u="none" cap="none" strike="noStrike">
              <a:solidFill>
                <a:srgbClr val="021828"/>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17"/>
          <p:cNvSpPr txBox="1"/>
          <p:nvPr/>
        </p:nvSpPr>
        <p:spPr>
          <a:xfrm>
            <a:off x="2235345" y="1588364"/>
            <a:ext cx="4673311" cy="1948494"/>
          </a:xfrm>
          <a:prstGeom prst="rect">
            <a:avLst/>
          </a:prstGeom>
          <a:noFill/>
          <a:ln>
            <a:noFill/>
          </a:ln>
        </p:spPr>
        <p:txBody>
          <a:bodyPr anchorCtr="0" anchor="t" bIns="0" lIns="0" spcFirstLastPara="1" rIns="0" wrap="square" tIns="0">
            <a:spAutoFit/>
          </a:bodyPr>
          <a:lstStyle/>
          <a:p>
            <a:pPr indent="0" lvl="0" marL="0" marR="0" rtl="0" algn="ctr">
              <a:lnSpc>
                <a:spcPct val="87001"/>
              </a:lnSpc>
              <a:spcBef>
                <a:spcPts val="0"/>
              </a:spcBef>
              <a:spcAft>
                <a:spcPts val="0"/>
              </a:spcAft>
              <a:buClr>
                <a:srgbClr val="000000"/>
              </a:buClr>
              <a:buSzPts val="8400"/>
              <a:buFont typeface="Arial"/>
              <a:buNone/>
            </a:pPr>
            <a:r>
              <a:rPr b="1" i="0" lang="en" sz="8400" u="none" cap="none" strike="noStrike">
                <a:solidFill>
                  <a:srgbClr val="0E2F5F"/>
                </a:solidFill>
                <a:latin typeface="Barlow Condensed Black"/>
                <a:ea typeface="Barlow Condensed Black"/>
                <a:cs typeface="Barlow Condensed Black"/>
                <a:sym typeface="Barlow Condensed Black"/>
              </a:rPr>
              <a:t>THANK YOU!</a:t>
            </a:r>
            <a:endParaRPr b="0" i="0" sz="700" u="none" cap="none" strike="noStrike">
              <a:solidFill>
                <a:srgbClr val="000000"/>
              </a:solidFill>
              <a:latin typeface="Arial"/>
              <a:ea typeface="Arial"/>
              <a:cs typeface="Arial"/>
              <a:sym typeface="Arial"/>
            </a:endParaRPr>
          </a:p>
        </p:txBody>
      </p:sp>
      <p:grpSp>
        <p:nvGrpSpPr>
          <p:cNvPr id="414" name="Google Shape;414;p17"/>
          <p:cNvGrpSpPr/>
          <p:nvPr/>
        </p:nvGrpSpPr>
        <p:grpSpPr>
          <a:xfrm>
            <a:off x="3624524" y="3717907"/>
            <a:ext cx="1894952" cy="423263"/>
            <a:chOff x="0" y="-47625"/>
            <a:chExt cx="998164" cy="222954"/>
          </a:xfrm>
        </p:grpSpPr>
        <p:sp>
          <p:nvSpPr>
            <p:cNvPr id="415" name="Google Shape;415;p17"/>
            <p:cNvSpPr/>
            <p:nvPr/>
          </p:nvSpPr>
          <p:spPr>
            <a:xfrm>
              <a:off x="0" y="0"/>
              <a:ext cx="998164" cy="175329"/>
            </a:xfrm>
            <a:custGeom>
              <a:rect b="b" l="l" r="r" t="t"/>
              <a:pathLst>
                <a:path extrusionOk="0" h="175329" w="998164">
                  <a:moveTo>
                    <a:pt x="87664" y="0"/>
                  </a:moveTo>
                  <a:lnTo>
                    <a:pt x="910500" y="0"/>
                  </a:lnTo>
                  <a:cubicBezTo>
                    <a:pt x="958915" y="0"/>
                    <a:pt x="998164" y="39249"/>
                    <a:pt x="998164" y="87664"/>
                  </a:cubicBezTo>
                  <a:lnTo>
                    <a:pt x="998164" y="87664"/>
                  </a:lnTo>
                  <a:cubicBezTo>
                    <a:pt x="998164" y="110914"/>
                    <a:pt x="988928" y="133212"/>
                    <a:pt x="972488" y="149652"/>
                  </a:cubicBezTo>
                  <a:cubicBezTo>
                    <a:pt x="956048" y="166093"/>
                    <a:pt x="933750" y="175329"/>
                    <a:pt x="910500" y="175329"/>
                  </a:cubicBezTo>
                  <a:lnTo>
                    <a:pt x="87664" y="175329"/>
                  </a:lnTo>
                  <a:cubicBezTo>
                    <a:pt x="64414" y="175329"/>
                    <a:pt x="42117" y="166093"/>
                    <a:pt x="25676" y="149652"/>
                  </a:cubicBezTo>
                  <a:cubicBezTo>
                    <a:pt x="9236" y="133212"/>
                    <a:pt x="0" y="110914"/>
                    <a:pt x="0" y="87664"/>
                  </a:cubicBezTo>
                  <a:lnTo>
                    <a:pt x="0" y="87664"/>
                  </a:lnTo>
                  <a:cubicBezTo>
                    <a:pt x="0" y="64414"/>
                    <a:pt x="9236" y="42117"/>
                    <a:pt x="25676" y="25676"/>
                  </a:cubicBezTo>
                  <a:cubicBezTo>
                    <a:pt x="42117" y="9236"/>
                    <a:pt x="64414" y="0"/>
                    <a:pt x="87664" y="0"/>
                  </a:cubicBezTo>
                  <a:close/>
                </a:path>
              </a:pathLst>
            </a:custGeom>
            <a:solidFill>
              <a:srgbClr val="5188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17"/>
            <p:cNvSpPr txBox="1"/>
            <p:nvPr/>
          </p:nvSpPr>
          <p:spPr>
            <a:xfrm>
              <a:off x="0" y="-47625"/>
              <a:ext cx="998164" cy="222954"/>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417" name="Google Shape;417;p17"/>
          <p:cNvSpPr txBox="1"/>
          <p:nvPr/>
        </p:nvSpPr>
        <p:spPr>
          <a:xfrm>
            <a:off x="4086522" y="3849250"/>
            <a:ext cx="1091400" cy="246300"/>
          </a:xfrm>
          <a:prstGeom prst="rect">
            <a:avLst/>
          </a:prstGeom>
          <a:noFill/>
          <a:ln>
            <a:noFill/>
          </a:ln>
        </p:spPr>
        <p:txBody>
          <a:bodyPr anchorCtr="0" anchor="t" bIns="0" lIns="0" spcFirstLastPara="1" rIns="0" wrap="square" tIns="0">
            <a:spAutoFit/>
          </a:bodyPr>
          <a:lstStyle/>
          <a:p>
            <a:pPr indent="0" lvl="0" marL="0" marR="0" rtl="0" algn="l">
              <a:lnSpc>
                <a:spcPct val="127000"/>
              </a:lnSpc>
              <a:spcBef>
                <a:spcPts val="0"/>
              </a:spcBef>
              <a:spcAft>
                <a:spcPts val="0"/>
              </a:spcAft>
              <a:buClr>
                <a:srgbClr val="000000"/>
              </a:buClr>
              <a:buSzPts val="1600"/>
              <a:buFont typeface="Arial"/>
              <a:buNone/>
            </a:pPr>
            <a:r>
              <a:rPr b="0" i="0" lang="en" sz="1600" u="none" cap="none" strike="noStrike">
                <a:solidFill>
                  <a:srgbClr val="FFFFFF"/>
                </a:solidFill>
                <a:latin typeface="Arial"/>
                <a:ea typeface="Arial"/>
                <a:cs typeface="Arial"/>
                <a:sym typeface="Arial"/>
              </a:rPr>
              <a:t>Q &amp; A time </a:t>
            </a:r>
            <a:endParaRPr b="0" i="0" sz="700" u="none" cap="none" strike="noStrike">
              <a:solidFill>
                <a:srgbClr val="000000"/>
              </a:solidFill>
              <a:latin typeface="Arial"/>
              <a:ea typeface="Arial"/>
              <a:cs typeface="Arial"/>
              <a:sym typeface="Arial"/>
            </a:endParaRPr>
          </a:p>
        </p:txBody>
      </p:sp>
      <p:grpSp>
        <p:nvGrpSpPr>
          <p:cNvPr id="418" name="Google Shape;418;p17"/>
          <p:cNvGrpSpPr/>
          <p:nvPr/>
        </p:nvGrpSpPr>
        <p:grpSpPr>
          <a:xfrm>
            <a:off x="1712304" y="-626740"/>
            <a:ext cx="5719392" cy="1510158"/>
            <a:chOff x="0" y="-47625"/>
            <a:chExt cx="3012684" cy="795474"/>
          </a:xfrm>
        </p:grpSpPr>
        <p:sp>
          <p:nvSpPr>
            <p:cNvPr id="419" name="Google Shape;419;p17"/>
            <p:cNvSpPr/>
            <p:nvPr/>
          </p:nvSpPr>
          <p:spPr>
            <a:xfrm>
              <a:off x="0" y="0"/>
              <a:ext cx="3012684" cy="747849"/>
            </a:xfrm>
            <a:custGeom>
              <a:rect b="b" l="l" r="r" t="t"/>
              <a:pathLst>
                <a:path extrusionOk="0" h="747849" w="3012684">
                  <a:moveTo>
                    <a:pt x="39932" y="0"/>
                  </a:moveTo>
                  <a:lnTo>
                    <a:pt x="2972752" y="0"/>
                  </a:lnTo>
                  <a:cubicBezTo>
                    <a:pt x="2994806" y="0"/>
                    <a:pt x="3012684" y="17878"/>
                    <a:pt x="3012684" y="39932"/>
                  </a:cubicBezTo>
                  <a:lnTo>
                    <a:pt x="3012684" y="707917"/>
                  </a:lnTo>
                  <a:cubicBezTo>
                    <a:pt x="3012684" y="729971"/>
                    <a:pt x="2994806" y="747849"/>
                    <a:pt x="2972752" y="747849"/>
                  </a:cubicBezTo>
                  <a:lnTo>
                    <a:pt x="39932" y="747849"/>
                  </a:lnTo>
                  <a:cubicBezTo>
                    <a:pt x="17878" y="747849"/>
                    <a:pt x="0" y="729971"/>
                    <a:pt x="0" y="707917"/>
                  </a:cubicBezTo>
                  <a:lnTo>
                    <a:pt x="0" y="39932"/>
                  </a:lnTo>
                  <a:cubicBezTo>
                    <a:pt x="0" y="17878"/>
                    <a:pt x="17878" y="0"/>
                    <a:pt x="39932" y="0"/>
                  </a:cubicBezTo>
                  <a:close/>
                </a:path>
              </a:pathLst>
            </a:custGeom>
            <a:solidFill>
              <a:srgbClr val="E1EDF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17"/>
            <p:cNvSpPr txBox="1"/>
            <p:nvPr/>
          </p:nvSpPr>
          <p:spPr>
            <a:xfrm>
              <a:off x="0" y="-47625"/>
              <a:ext cx="3012684" cy="795474"/>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421" name="Google Shape;421;p17"/>
          <p:cNvGrpSpPr/>
          <p:nvPr/>
        </p:nvGrpSpPr>
        <p:grpSpPr>
          <a:xfrm>
            <a:off x="4197764" y="514350"/>
            <a:ext cx="748472" cy="748473"/>
            <a:chOff x="0" y="0"/>
            <a:chExt cx="812800" cy="812800"/>
          </a:xfrm>
        </p:grpSpPr>
        <p:sp>
          <p:nvSpPr>
            <p:cNvPr id="422" name="Google Shape;422;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17"/>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424" name="Google Shape;424;p17"/>
          <p:cNvSpPr/>
          <p:nvPr/>
        </p:nvSpPr>
        <p:spPr>
          <a:xfrm>
            <a:off x="4336791" y="723940"/>
            <a:ext cx="470419" cy="329293"/>
          </a:xfrm>
          <a:custGeom>
            <a:rect b="b" l="l" r="r" t="t"/>
            <a:pathLst>
              <a:path extrusionOk="0" h="658587" w="940838">
                <a:moveTo>
                  <a:pt x="0" y="0"/>
                </a:moveTo>
                <a:lnTo>
                  <a:pt x="940838" y="0"/>
                </a:lnTo>
                <a:lnTo>
                  <a:pt x="940838" y="658587"/>
                </a:lnTo>
                <a:lnTo>
                  <a:pt x="0" y="658587"/>
                </a:lnTo>
                <a:lnTo>
                  <a:pt x="0" y="0"/>
                </a:lnTo>
                <a:close/>
              </a:path>
            </a:pathLst>
          </a:custGeom>
          <a:blipFill rotWithShape="1">
            <a:blip r:embed="rId3">
              <a:alphaModFix/>
            </a:blip>
            <a:stretch>
              <a:fillRect b="0" l="0" r="0" t="0"/>
            </a:stretch>
          </a:blipFill>
          <a:ln>
            <a:noFill/>
          </a:ln>
        </p:spPr>
      </p:sp>
      <p:sp>
        <p:nvSpPr>
          <p:cNvPr id="425" name="Google Shape;425;p17"/>
          <p:cNvSpPr/>
          <p:nvPr/>
        </p:nvSpPr>
        <p:spPr>
          <a:xfrm>
            <a:off x="1712304" y="2375340"/>
            <a:ext cx="759664" cy="234805"/>
          </a:xfrm>
          <a:custGeom>
            <a:rect b="b" l="l" r="r" t="t"/>
            <a:pathLst>
              <a:path extrusionOk="0" h="469610" w="1519327">
                <a:moveTo>
                  <a:pt x="0" y="0"/>
                </a:moveTo>
                <a:lnTo>
                  <a:pt x="1519327" y="0"/>
                </a:lnTo>
                <a:lnTo>
                  <a:pt x="1519327" y="469610"/>
                </a:lnTo>
                <a:lnTo>
                  <a:pt x="0" y="469610"/>
                </a:lnTo>
                <a:lnTo>
                  <a:pt x="0" y="0"/>
                </a:lnTo>
                <a:close/>
              </a:path>
            </a:pathLst>
          </a:custGeom>
          <a:blipFill rotWithShape="1">
            <a:blip r:embed="rId4">
              <a:alphaModFix/>
            </a:blip>
            <a:stretch>
              <a:fillRect b="0" l="0" r="0" t="0"/>
            </a:stretch>
          </a:blipFill>
          <a:ln>
            <a:noFill/>
          </a:ln>
        </p:spPr>
      </p:sp>
      <p:sp>
        <p:nvSpPr>
          <p:cNvPr id="426" name="Google Shape;426;p17"/>
          <p:cNvSpPr/>
          <p:nvPr/>
        </p:nvSpPr>
        <p:spPr>
          <a:xfrm flipH="1">
            <a:off x="6672032" y="2375340"/>
            <a:ext cx="759663" cy="234805"/>
          </a:xfrm>
          <a:custGeom>
            <a:rect b="b" l="l" r="r" t="t"/>
            <a:pathLst>
              <a:path extrusionOk="0" h="469610" w="1519327">
                <a:moveTo>
                  <a:pt x="1519327" y="0"/>
                </a:moveTo>
                <a:lnTo>
                  <a:pt x="0" y="0"/>
                </a:lnTo>
                <a:lnTo>
                  <a:pt x="0" y="469610"/>
                </a:lnTo>
                <a:lnTo>
                  <a:pt x="1519327" y="469610"/>
                </a:lnTo>
                <a:lnTo>
                  <a:pt x="1519327" y="0"/>
                </a:lnTo>
                <a:close/>
              </a:path>
            </a:pathLst>
          </a:custGeom>
          <a:blipFill rotWithShape="1">
            <a:blip r:embed="rId4">
              <a:alphaModFix/>
            </a:blip>
            <a:stretch>
              <a:fillRect b="0" l="0" r="0" t="0"/>
            </a:stretch>
          </a:blipFill>
          <a:ln>
            <a:noFill/>
          </a:ln>
        </p:spPr>
      </p:sp>
      <p:grpSp>
        <p:nvGrpSpPr>
          <p:cNvPr id="427" name="Google Shape;427;p17"/>
          <p:cNvGrpSpPr/>
          <p:nvPr/>
        </p:nvGrpSpPr>
        <p:grpSpPr>
          <a:xfrm>
            <a:off x="0" y="4407944"/>
            <a:ext cx="9144000" cy="735556"/>
            <a:chOff x="0" y="-47625"/>
            <a:chExt cx="4816593" cy="387453"/>
          </a:xfrm>
        </p:grpSpPr>
        <p:sp>
          <p:nvSpPr>
            <p:cNvPr id="428" name="Google Shape;428;p17"/>
            <p:cNvSpPr/>
            <p:nvPr/>
          </p:nvSpPr>
          <p:spPr>
            <a:xfrm>
              <a:off x="0" y="0"/>
              <a:ext cx="4816592" cy="339828"/>
            </a:xfrm>
            <a:custGeom>
              <a:rect b="b" l="l" r="r" t="t"/>
              <a:pathLst>
                <a:path extrusionOk="0" h="339828" w="4816592">
                  <a:moveTo>
                    <a:pt x="0" y="0"/>
                  </a:moveTo>
                  <a:lnTo>
                    <a:pt x="4816592" y="0"/>
                  </a:lnTo>
                  <a:lnTo>
                    <a:pt x="4816592" y="339828"/>
                  </a:lnTo>
                  <a:lnTo>
                    <a:pt x="0" y="339828"/>
                  </a:lnTo>
                  <a:close/>
                </a:path>
              </a:pathLst>
            </a:custGeom>
            <a:solidFill>
              <a:srgbClr val="0E2F5F"/>
            </a:solidFill>
            <a:ln>
              <a:noFill/>
            </a:ln>
          </p:spPr>
        </p:sp>
        <p:sp>
          <p:nvSpPr>
            <p:cNvPr id="429" name="Google Shape;429;p17"/>
            <p:cNvSpPr txBox="1"/>
            <p:nvPr/>
          </p:nvSpPr>
          <p:spPr>
            <a:xfrm>
              <a:off x="0" y="-47625"/>
              <a:ext cx="4816593" cy="387453"/>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